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87bf90d1eae45a1" Type="http://schemas.openxmlformats.org/officeDocument/2006/relationships/extended-properties" Target="docProps/app.xml"/><Relationship Id="R519c89014d4d47c7" Type="http://schemas.openxmlformats.org/officeDocument/2006/relationships/officeDocument" Target="ppt/presentation.xml"/><Relationship Id="Ra235faa2fe5d4d21"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86732e72ad647d0"/>
  </p:sldMasterIdLst>
  <p:notesMasterIdLst>
    <p:notesMasterId xmlns:r="http://schemas.openxmlformats.org/officeDocument/2006/relationships" r:id="R8e02fed9e79d4161"/>
  </p:notesMasterIdLst>
  <p:sldIdLst>
    <p:sldId xmlns:r="http://schemas.openxmlformats.org/officeDocument/2006/relationships" id="256" r:id="R006ce05bd400471c"/>
    <p:sldId xmlns:r="http://schemas.openxmlformats.org/officeDocument/2006/relationships" id="257" r:id="R98031d9347804bcc"/>
    <p:sldId xmlns:r="http://schemas.openxmlformats.org/officeDocument/2006/relationships" id="258" r:id="Rdd3c6dabb1064707"/>
    <p:sldId xmlns:r="http://schemas.openxmlformats.org/officeDocument/2006/relationships" id="259" r:id="R1df62b7dc48b425a"/>
    <p:sldId xmlns:r="http://schemas.openxmlformats.org/officeDocument/2006/relationships" id="260" r:id="Rdeb01bb8f4804c22"/>
    <p:sldId xmlns:r="http://schemas.openxmlformats.org/officeDocument/2006/relationships" id="261" r:id="R0ef9495777ae4cde"/>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r="http://schemas.openxmlformats.org/officeDocument/2006/relationships" id="262" r:id="R8987e06f86b5460d"/>
    <p:sldId xmlns:r="http://schemas.openxmlformats.org/officeDocument/2006/relationships" id="263" r:id="Re791576135da4050"/>
    <p:sldId xmlns:r="http://schemas.openxmlformats.org/officeDocument/2006/relationships" id="264" r:id="R83e174c050b74919"/>
    <p:sldId xmlns:r="http://schemas.openxmlformats.org/officeDocument/2006/relationships" id="265" r:id="Rd0b6db24c64a4925"/>
    <p:sldId xmlns:r="http://schemas.openxmlformats.org/officeDocument/2006/relationships" id="266" r:id="Rcec63491d9e54e4d"/>
    <p:sldId xmlns:r="http://schemas.openxmlformats.org/officeDocument/2006/relationships" id="267" r:id="Rc8971e78ff9d4ac2"/>
    <p:sldId xmlns:r="http://schemas.openxmlformats.org/officeDocument/2006/relationships" id="268" r:id="R6dfe45f5e4f3447c"/>
    <p:sldId xmlns:r="http://schemas.openxmlformats.org/officeDocument/2006/relationships" id="269" r:id="Rbec0698647a54a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06ce05bd400471c" Type="http://schemas.openxmlformats.org/officeDocument/2006/relationships/slide" Target="slides/slide1.xml"/><Relationship Id="R086732e72ad647d0" Type="http://schemas.openxmlformats.org/officeDocument/2006/relationships/slideMaster" Target="slideMasters/slideMaster1.xml"/><Relationship Id="R0ef9495777ae4cde" Type="http://schemas.openxmlformats.org/officeDocument/2006/relationships/slide" Target="slides/slide6.xml"/><Relationship Id="R1df62b7dc48b425a" Type="http://schemas.openxmlformats.org/officeDocument/2006/relationships/slide" Target="slides/slide4.xml"/><Relationship Id="R59b9a0c87db540d6" Type="http://schemas.openxmlformats.org/officeDocument/2006/relationships/presProps" Target="presProps.xml"/><Relationship Id="R6dfe45f5e4f3447c" Type="http://schemas.openxmlformats.org/officeDocument/2006/relationships/slide" Target="slides/slide16.xml"/><Relationship Id="R83e174c050b74919" Type="http://schemas.openxmlformats.org/officeDocument/2006/relationships/slide" Target="slides/slide12.xml"/><Relationship Id="R8987e06f86b5460d" Type="http://schemas.openxmlformats.org/officeDocument/2006/relationships/slide" Target="slides/slide10.xml"/><Relationship Id="R8e02fed9e79d4161" Type="http://schemas.openxmlformats.org/officeDocument/2006/relationships/notesMaster" Target="notesMasters/notesMaster1.xml"/><Relationship Id="R98031d9347804bcc" Type="http://schemas.openxmlformats.org/officeDocument/2006/relationships/slide" Target="slides/slide2.xml"/><Relationship Id="Raf3419b37f12498d" Type="http://schemas.openxmlformats.org/officeDocument/2006/relationships/theme" Target="theme/theme1.xml"/><Relationship Id="Rbec0698647a54ac1" Type="http://schemas.openxmlformats.org/officeDocument/2006/relationships/slide" Target="slides/slide17.xml"/><Relationship Id="Rc01681515e9f4322" Type="http://schemas.openxmlformats.org/officeDocument/2006/relationships/tableStyles" Target="tableStyles.xml"/><Relationship Id="Rc8971e78ff9d4ac2" Type="http://schemas.openxmlformats.org/officeDocument/2006/relationships/slide" Target="slides/slide15.xml"/><Relationship Id="Rcec63491d9e54e4d" Type="http://schemas.openxmlformats.org/officeDocument/2006/relationships/slide" Target="slides/slide14.xml"/><Relationship Id="Rd0b6db24c64a4925" Type="http://schemas.openxmlformats.org/officeDocument/2006/relationships/slide" Target="slides/slide13.xml"/><Relationship Id="Rdd3c6dabb1064707" Type="http://schemas.openxmlformats.org/officeDocument/2006/relationships/slide" Target="slides/slide3.xml"/><Relationship Id="Rdeb01bb8f4804c22" Type="http://schemas.openxmlformats.org/officeDocument/2006/relationships/slide" Target="slides/slide5.xml"/><Relationship Id="Re791576135da4050" Type="http://schemas.openxmlformats.org/officeDocument/2006/relationships/slide" Target="slides/slide11.xml"/><Relationship Id="Rf9da0238799e49b3" Type="http://schemas.openxmlformats.org/officeDocument/2006/relationships/viewProps" Target="viewProps.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bdc541e8889d4c1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85725" dist="28575" dir="5400000">
              <a:srgbClr val="0A2434">
                <a:alpha val="15000"/>
              </a:srgbClr>
            </a:outerShdw>
          </a:effectLst>
        </a:effectStyle>
        <a:effectStyle>
          <a:effectLst>
            <a:outerShdw blurRad="95250" dist="28575" dir="5400000">
              <a:srgbClr val="0A2434">
                <a:alpha val="1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0967613a27c46c0" Type="http://schemas.openxmlformats.org/officeDocument/2006/relationships/notesMaster" Target="../notesMasters/notesMaster1.xml"/><Relationship Id="Rd202e92a1cda4ea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23670ee0ecf346e6" Type="http://schemas.openxmlformats.org/officeDocument/2006/relationships/notesMaster" Target="../notesMasters/notesMaster1.xml"/><Relationship Id="Ra370ef47f6814de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2873d50a9694c64" Type="http://schemas.openxmlformats.org/officeDocument/2006/relationships/slide" Target="../slides/slide3.xml"/><Relationship Id="R62e812f3d2e84d4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1a6c6aeb0b64cb4" Type="http://schemas.openxmlformats.org/officeDocument/2006/relationships/slide" Target="../slides/slide4.xml"/><Relationship Id="R3b5e7a8bbe234df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ac0598f24894bfb" Type="http://schemas.openxmlformats.org/officeDocument/2006/relationships/notesMaster" Target="../notesMasters/notesMaster1.xml"/><Relationship Id="Rf3b88db3505f414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c79392bc7c14af5" Type="http://schemas.openxmlformats.org/officeDocument/2006/relationships/slide" Target="../slides/slide6.xml"/><Relationship Id="Rfaec4f8016d74b9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8f7f84a047b4fc0" Type="http://schemas.openxmlformats.org/officeDocument/2006/relationships/slide" Target="../slides/slide10.xml"/><Relationship Id="Rdb61e3935e9745ae"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684baabc99d2438a" Type="http://schemas.openxmlformats.org/officeDocument/2006/relationships/notesMaster" Target="../notesMasters/notesMaster1.xml"/><Relationship Id="Re500df8d6dd84105"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028a36f5258a482b" Type="http://schemas.openxmlformats.org/officeDocument/2006/relationships/slide" Target="../slides/slide12.xml"/><Relationship Id="R462acc1a34964925"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cc44c4373244d7f" Type="http://schemas.openxmlformats.org/officeDocument/2006/relationships/notesMaster" Target="../notesMasters/notesMaster1.xml"/><Relationship Id="R7b5506df04744774"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3fb95e840aea4846" Type="http://schemas.openxmlformats.org/officeDocument/2006/relationships/notesMaster" Target="../notesMasters/notesMaster1.xml"/><Relationship Id="Ra3a40422588d4b1b"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6f837411caff411f" Type="http://schemas.openxmlformats.org/officeDocument/2006/relationships/slide" Target="../slides/slide15.xml"/><Relationship Id="Rf70a595e55134c9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b8ae07812574bcb" Type="http://schemas.openxmlformats.org/officeDocument/2006/relationships/notesMaster" Target="../notesMasters/notesMaster1.xml"/><Relationship Id="R754a8d818fcf4955"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247182b326eb4a6c" Type="http://schemas.openxmlformats.org/officeDocument/2006/relationships/slide" Target="../slides/slide17.xml"/><Relationship Id="R726cf7ed2a714b0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Open with the application opportunity, not with forecast governance. Three families have enough public persistent-state evidence to justify bounded qualification: DDR5 subsystem NVM, accelerator-power NVM, and platform trust state. Repair and service-state opportunities are real but require a named implementation boundary.</a:t>
            </a:r>
          </a:p>
          <a:p xmlns:a="http://schemas.openxmlformats.org/drawingml/2006/main">
            <a:r>
              <a:t/>
            </a:r>
          </a:p>
          <a:p xmlns:a="http://schemas.openxmlformats.org/drawingml/2006/main">
            <a:r>
              <a:t>[講者備忘 — ZH-TW]</a:t>
            </a:r>
          </a:p>
          <a:p xmlns:a="http://schemas.openxmlformats.org/drawingml/2006/main">
            <a:r>
              <a:t>開場先講應用機會，而不是先講不能 forecast。三個 family 已有足夠公開 persistent-state 證據，可啟動有邊界的 qualification：DDR5 subsystem、accelerator power、platform trust。Repair 與 service-state 機會存在，但必須先具名 implementation boundary。</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https://www.renesas.com/en/document/sds/rrg5322x-a20-short-form-datasheet</a:t>
            </a:r>
          </a:p>
          <a:p xmlns:a="http://schemas.openxmlformats.org/drawingml/2006/main">
            <a:r>
              <a:t>- https://www.ti.com/lit/ds/symlink/tps536c9t.pdf</a:t>
            </a:r>
          </a:p>
          <a:p xmlns:a="http://schemas.openxmlformats.org/drawingml/2006/main">
            <a:r>
              <a:t>- https://www.opencompute.org/documents/oai-oam-base-specification-r2-0-v1-0-20230919-pdf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Ask for three bounded briefs. DDR5 and accelerator power can start at product-fit level. Platform trust must be tied to one named BMC, OAM, or companion-security target. Repair and OCP service state remain discovery-led. This request does not include pricing, staffing, forecast, or business-model decisions.</a:t>
            </a:r>
          </a:p>
          <a:p xmlns:a="http://schemas.openxmlformats.org/drawingml/2006/main">
            <a:r>
              <a:t/>
            </a:r>
          </a:p>
          <a:p xmlns:a="http://schemas.openxmlformats.org/drawingml/2006/main">
            <a:r>
              <a:t>[講者備忘 — ZH-TW]</a:t>
            </a:r>
          </a:p>
          <a:p xmlns:a="http://schemas.openxmlformats.org/drawingml/2006/main">
            <a:r>
              <a:t>要求核准三份有邊界的 qualification brief。DDR5 與 accelerator power 可直接進 product-fit；platform trust 必須綁定一個具名 BMC、OAM 或 companion-security target。Repair 與 OCP service state 先做 discovery。本次不要求 pricing、staffing、forecast 或 business-model 決策。</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https://www.renesas.com/en/products/spd5118</a:t>
            </a:r>
          </a:p>
          <a:p xmlns:a="http://schemas.openxmlformats.org/drawingml/2006/main">
            <a:r>
              <a:t>- https://www.infineon.com/part/XDPE1C284A-0000</a:t>
            </a:r>
          </a:p>
          <a:p xmlns:a="http://schemas.openxmlformats.org/drawingml/2006/main">
            <a:r>
              <a:t>- https://axiado.com/wp-content/uploads/2025/03/Axiado_AI-Driven_Secure_Management_Card_Product_Brief.pdf</a:t>
            </a:r>
          </a:p>
          <a:p xmlns:a="http://schemas.openxmlformats.org/drawingml/2006/main">
            <a:r>
              <a:t>- https://www.synopsys.com/webinars/nvm-otp-tsmc-n5.html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Use the same selection grammar for every application. OTP fits only when one-way-bit semantics, update count, capacity and programming constraints are satisfied. MTP/EEPROM fits bounded rewrite. PUF is a root-reconstruction primitive, not a stored NVM replacement. Large or frequent-write payloads need a higher-capacity route.</a:t>
            </a:r>
          </a:p>
          <a:p xmlns:a="http://schemas.openxmlformats.org/drawingml/2006/main">
            <a:r>
              <a:t/>
            </a:r>
          </a:p>
          <a:p xmlns:a="http://schemas.openxmlformats.org/drawingml/2006/main">
            <a:r>
              <a:t>[講者備忘 — ZH-TW]</a:t>
            </a:r>
          </a:p>
          <a:p xmlns:a="http://schemas.openxmlformats.org/drawingml/2006/main">
            <a:r>
              <a:t>所有應用都用同一套 selection grammar。只有 one-way-bit semantics、update count、capacity 與 programming constraints 都成立時，OTP 才適合。MTP/EEPROM 對應 bounded rewrite。PUF 是 root-reconstruction primitive，不是儲存型 NVM 的替代品。大量或高頻寫入要走 higher-capacity route。</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https://chipsalliance.github.io/caliptra-web/docs/2.0/index.html</a:t>
            </a:r>
          </a:p>
          <a:p xmlns:a="http://schemas.openxmlformats.org/drawingml/2006/main">
            <a:r>
              <a:t>- https://www.opencompute.org/documents/ocp-gpu-fw-update-specification-v1-1-pdf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Treat PMIC and SPD Hub as one executive opportunity package with two technical targets. The Renesas PMIC explicitly uses MTP. SPD Hub sources disclose protected EEPROM/NVM blocks. The qualification asks for one target program and two state contracts—not two inflated market opportunities.</a:t>
            </a:r>
          </a:p>
          <a:p xmlns:a="http://schemas.openxmlformats.org/drawingml/2006/main">
            <a:r>
              <a:t/>
            </a:r>
          </a:p>
          <a:p xmlns:a="http://schemas.openxmlformats.org/drawingml/2006/main">
            <a:r>
              <a:t>[講者備忘 — ZH-TW]</a:t>
            </a:r>
          </a:p>
          <a:p xmlns:a="http://schemas.openxmlformats.org/drawingml/2006/main">
            <a:r>
              <a:t>Executive 層級把 PMIC 與 SPD Hub 視為一個 opportunity package，但技術上仍有兩個 target。Renesas PMIC 明確使用 MTP；SPD Hub 公開資料則揭露受保護的 EEPROM/NVM blocks。Qualification 要求一個 target program 與兩份 state contract，不要膨脹成兩個市場機會。</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https://www.renesas.com/en/document/sds/rrg5322x-a20-short-form-datasheet</a:t>
            </a:r>
          </a:p>
          <a:p xmlns:a="http://schemas.openxmlformats.org/drawingml/2006/main">
            <a:r>
              <a:t>- https://www.renesas.com/en/products/spd5118</a:t>
            </a:r>
          </a:p>
          <a:p xmlns:a="http://schemas.openxmlformats.org/drawingml/2006/main">
            <a:r>
              <a:t>- https://www.montage-tech.com/Memory_Interface/DDR5_Server/M88SPD5118</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opportunity is specific because named accelerator-power products publicly disclose internal NVM and persistent state functions. Partition the payload: immutable trim can be OTP-class, bounded configuration and calibration can be MTP-class, and frequent logging must pass an endurance gate.</a:t>
            </a:r>
          </a:p>
          <a:p xmlns:a="http://schemas.openxmlformats.org/drawingml/2006/main">
            <a:r>
              <a:t/>
            </a:r>
          </a:p>
          <a:p xmlns:a="http://schemas.openxmlformats.org/drawingml/2006/main">
            <a:r>
              <a:t>[講者備忘 — ZH-TW]</a:t>
            </a:r>
          </a:p>
          <a:p xmlns:a="http://schemas.openxmlformats.org/drawingml/2006/main">
            <a:r>
              <a:t>這個機會之所以具 AI specificity，是因具名 accelerator-power product 公開揭露 internal NVM 與 persistent-state function。Payload 要分區：immutable trim 可評估 OTP；bounded configuration 與 calibration 可評估 MTP；frequent logging 必須通過 endurance gate。</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https://www.infineon.com/part/XDPE1C284A-0000</a:t>
            </a:r>
          </a:p>
          <a:p xmlns:a="http://schemas.openxmlformats.org/drawingml/2006/main">
            <a:r>
              <a:t>- https://www.ti.com/lit/ds/symlink/tps536c9t.pdf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Keep the roles separate. OTP persists immutable or monotonic policy. PUF can reconstruct a device-specific root or obfuscation input. A secure controller coordinates provisioning, access and recovery. Public standards and products establish the state class; Synopsys should qualify the integrated package against one named target.</a:t>
            </a:r>
          </a:p>
          <a:p xmlns:a="http://schemas.openxmlformats.org/drawingml/2006/main">
            <a:r>
              <a:t/>
            </a:r>
          </a:p>
          <a:p xmlns:a="http://schemas.openxmlformats.org/drawingml/2006/main">
            <a:r>
              <a:t>[講者備忘 — ZH-TW]</a:t>
            </a:r>
          </a:p>
          <a:p xmlns:a="http://schemas.openxmlformats.org/drawingml/2006/main">
            <a:r>
              <a:t>角色必須分開。OTP 保存 immutable 或 monotonic policy；PUF 可重建 device-specific root 或 obfuscation input；secure controller 協調 provisioning、access 與 recovery。公開標準與產品只證明 state class，Synopsys 應對一個具名 target 做 integrated package qualification。</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https://www.opencompute.org/documents/oai-oam-base-specification-r2-0-v1-0-20230919-pdf</a:t>
            </a:r>
          </a:p>
          <a:p xmlns:a="http://schemas.openxmlformats.org/drawingml/2006/main">
            <a:r>
              <a:t>- https://www.opencompute.org/documents/secure-boot-2-pdf</a:t>
            </a:r>
          </a:p>
          <a:p xmlns:a="http://schemas.openxmlformats.org/drawingml/2006/main">
            <a:r>
              <a:t>- https://chipsalliance.github.io/caliptra-web/docs/2.0/index.html</a:t>
            </a:r>
          </a:p>
          <a:p xmlns:a="http://schemas.openxmlformats.org/drawingml/2006/main">
            <a:r>
              <a:t>- https://axiado.com/wp-content/uploads/2025/03/Axiado_AI-Driven_Secure_Management_Card_Product_Brief.pdf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Separate two opportunity routes. Synopsys already has public N5 material for AI/HPC/Edge SRAM repair information and STAR integration to OTP/eFuse, so the SoC repair brief can start now. HBM repair persistence is public, but Base Die versus Logic Die versus platform InfoROM is not universal; qualify the authoritative locus first.</a:t>
            </a:r>
          </a:p>
          <a:p xmlns:a="http://schemas.openxmlformats.org/drawingml/2006/main">
            <a:r>
              <a:t/>
            </a:r>
          </a:p>
          <a:p xmlns:a="http://schemas.openxmlformats.org/drawingml/2006/main">
            <a:r>
              <a:t>[講者備忘 — ZH-TW]</a:t>
            </a:r>
          </a:p>
          <a:p xmlns:a="http://schemas.openxmlformats.org/drawingml/2006/main">
            <a:r>
              <a:t>Repair 必須拆成兩條路。Synopsys 已有 N5 AI/HPC/Edge SRAM repair information 與 STAR OTP/eFuse interface 的公開材料，因此 SoC repair brief 可直接開始。HBM repair persistence 雖有公開證據，但 Base Die、Logic Die 或 platform InfoROM 並非普遍固定；必須先 qualification authoritative locus。</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https://www.synopsys.com/articles/addressing-functional-safety-in-socs-with-test-solutions.html</a:t>
            </a:r>
          </a:p>
          <a:p xmlns:a="http://schemas.openxmlformats.org/drawingml/2006/main">
            <a:r>
              <a:t>- https://www.synopsys.com/webinars/nvm-otp-tsmc-n5.html</a:t>
            </a:r>
          </a:p>
          <a:p xmlns:a="http://schemas.openxmlformats.org/drawingml/2006/main">
            <a:r>
              <a:t>- https://docs.nvidia.com/deploy/a100-gpu-mem-error-mgmt/595/user-visible-statistics.html</a:t>
            </a:r>
          </a:p>
          <a:p xmlns:a="http://schemas.openxmlformats.org/drawingml/2006/main">
            <a:r>
              <a:t>- https://docs.nvidia.com/attestation/secureai-advisory-hbm3-resiliency-impact-on-driver-versions-r550-0-r550-90-12/index.html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standards establish saved state, not the physical NVM technology or Synopsys fit. OAI UBB FRU is a directly named board EEPROM socket. ELSFP defines nonvolatile save/restore semantics but leaves implementation out of scope. The qualification question is whether integration creates sufficient system value against the published external baseline.</a:t>
            </a:r>
          </a:p>
          <a:p xmlns:a="http://schemas.openxmlformats.org/drawingml/2006/main">
            <a:r>
              <a:t/>
            </a:r>
          </a:p>
          <a:p xmlns:a="http://schemas.openxmlformats.org/drawingml/2006/main">
            <a:r>
              <a:t>[講者備忘 — ZH-TW]</a:t>
            </a:r>
          </a:p>
          <a:p xmlns:a="http://schemas.openxmlformats.org/drawingml/2006/main">
            <a:r>
              <a:t>標準只證明 saved state，不會自動指定 physical NVM technology 或 Synopsys fit。OAI UBB FRU 是明確的 board EEPROM socket；ELSFP 定義 nonvolatile save/restore semantics，但 implementation 不在規範範圍。真正的 qualification 問題是：相較公開的 external baseline，integration 是否創造足夠 system value。</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https://www.opencompute.org/documents/oai-ubb-base-specification-r2-0-v0-5-2-pdf</a:t>
            </a:r>
          </a:p>
          <a:p xmlns:a="http://schemas.openxmlformats.org/drawingml/2006/main">
            <a:r>
              <a:t>- https://www.oiforum.com/wp-content/uploads/OIF-ELSFP-CMIS-01.0.pdf</a:t>
            </a:r>
          </a:p>
          <a:p xmlns:a="http://schemas.openxmlformats.org/drawingml/2006/main">
            <a:r>
              <a:t>- https://www.opencompute.org/documents/secure-boot-2-pdf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Close by asking for only what this presentation can responsibly request: three target-bound briefs. Each brief must return with the named target, state contract, implementation constraints, candidate Synopsys product and fit conclusion. Design win, shipment and royalty remain downstream.</a:t>
            </a:r>
          </a:p>
          <a:p xmlns:a="http://schemas.openxmlformats.org/drawingml/2006/main">
            <a:r>
              <a:t/>
            </a:r>
          </a:p>
          <a:p xmlns:a="http://schemas.openxmlformats.org/drawingml/2006/main">
            <a:r>
              <a:t>[講者備忘 — ZH-TW]</a:t>
            </a:r>
          </a:p>
          <a:p xmlns:a="http://schemas.openxmlformats.org/drawingml/2006/main">
            <a:r>
              <a:t>結尾只要求這份簡報有權責提出的事項：三份 target-bound brief。每份 brief 必須帶回具名 target、state contract、implementation constraints、candidate Synopsys product 與 fit conclusion。Design win、shipment 與 royalty 都是後續階段。</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No external factual claim on this slide; narrative synthesis only.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Use this appendix once, then stop repeating the disclaimer. The deck can support requirement, disclosure and target-bound Synopsys fit. It does not establish customer selection, shipment or royalty.</a:t>
            </a:r>
          </a:p>
          <a:p xmlns:a="http://schemas.openxmlformats.org/drawingml/2006/main">
            <a:r>
              <a:t/>
            </a:r>
          </a:p>
          <a:p xmlns:a="http://schemas.openxmlformats.org/drawingml/2006/main">
            <a:r>
              <a:t>[講者備忘 — ZH-TW]</a:t>
            </a:r>
          </a:p>
          <a:p xmlns:a="http://schemas.openxmlformats.org/drawingml/2006/main">
            <a:r>
              <a:t>這個 appendix 說明一次即可，不要在主線反覆重複。此 deck 可支撐 requirement、disclosure 與 target-bound Synopsys fit；不能證明 customer selection、shipment 或 royalty。</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No external factual claim on this slide; narrative synthesis only.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This ledger keeps the public claim and the remaining target-specific work on the same line. Named products make the opportunity concrete, but they do not demonstrate Synopsys adoption or define the physical memory technology beyond what the source states.</a:t>
            </a:r>
          </a:p>
          <a:p xmlns:a="http://schemas.openxmlformats.org/drawingml/2006/main">
            <a:r>
              <a:t/>
            </a:r>
          </a:p>
          <a:p xmlns:a="http://schemas.openxmlformats.org/drawingml/2006/main">
            <a:r>
              <a:t>[講者備忘 — ZH-TW]</a:t>
            </a:r>
          </a:p>
          <a:p xmlns:a="http://schemas.openxmlformats.org/drawingml/2006/main">
            <a:r>
              <a:t>這張 ledger 把公開 claim 與尚未關閉的 target-specific work 放在同一行。具名產品讓機會具體，但不代表 Synopsys adoption，也不能超出 source 明示範圍去推定 physical memory technology。</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https://www.renesas.com/en/document/sds/rrg5322x-a20-short-form-datasheet</a:t>
            </a:r>
          </a:p>
          <a:p xmlns:a="http://schemas.openxmlformats.org/drawingml/2006/main">
            <a:r>
              <a:t>- https://www.renesas.com/en/products/spd5118</a:t>
            </a:r>
          </a:p>
          <a:p xmlns:a="http://schemas.openxmlformats.org/drawingml/2006/main">
            <a:r>
              <a:t>- https://www.montage-tech.com/Memory_Interface/DDR5_Server/M88SPD5118</a:t>
            </a:r>
          </a:p>
          <a:p xmlns:a="http://schemas.openxmlformats.org/drawingml/2006/main">
            <a:r>
              <a:t>- https://www.infineon.com/part/XDPE1C284A-0000</a:t>
            </a:r>
          </a:p>
          <a:p xmlns:a="http://schemas.openxmlformats.org/drawingml/2006/main">
            <a:r>
              <a:t>- https://www.ti.com/lit/ds/symlink/tps536c9t.pdf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evidence ceiling differs by source. OAI/OCP establishes persistent security requirements. Caliptra and Axiado show that persistent fuse fields and PUF roles can coexist. ELSFP defines saved nonvolatile behavior but not the storage technology. Keep every candidate mapping dashed until the named target is qualified.</a:t>
            </a:r>
          </a:p>
          <a:p xmlns:a="http://schemas.openxmlformats.org/drawingml/2006/main">
            <a:r>
              <a:t/>
            </a:r>
          </a:p>
          <a:p xmlns:a="http://schemas.openxmlformats.org/drawingml/2006/main">
            <a:r>
              <a:t>[講者備忘 — ZH-TW]</a:t>
            </a:r>
          </a:p>
          <a:p xmlns:a="http://schemas.openxmlformats.org/drawingml/2006/main">
            <a:r>
              <a:t>不同 source 的 evidence ceiling 不同。OAI/OCP 證明 persistent security requirements；Caliptra 與 Axiado 證明 persistent fuse fields 與 PUF roles 可共存；ELSFP 定義 nonvolatile save behavior，但不指定 storage technology。具名 target 未 qualification 前，candidate mapping 都維持 dashed。</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https://www.opencompute.org/documents/oai-oam-base-specification-r2-0-v1-0-20230919-pdf</a:t>
            </a:r>
          </a:p>
          <a:p xmlns:a="http://schemas.openxmlformats.org/drawingml/2006/main">
            <a:r>
              <a:t>- https://www.opencompute.org/documents/ocp-gpu-fw-update-specification-v1-1-pdf</a:t>
            </a:r>
          </a:p>
          <a:p xmlns:a="http://schemas.openxmlformats.org/drawingml/2006/main">
            <a:r>
              <a:t>- https://chipsalliance.github.io/caliptra-web/docs/2.0/index.html</a:t>
            </a:r>
          </a:p>
          <a:p xmlns:a="http://schemas.openxmlformats.org/drawingml/2006/main">
            <a:r>
              <a:t>- https://axiado.com/wp-content/uploads/2025/03/Axiado_AI-Driven_Secure_Management_Card_Product_Brief.pdf</a:t>
            </a:r>
          </a:p>
          <a:p xmlns:a="http://schemas.openxmlformats.org/drawingml/2006/main">
            <a:r>
              <a:t>- https://www.oiforum.com/wp-content/uploads/OIF-ELSFP-CMIS-01.0.pdf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physical-location question is the technical gate. Do not state that HBM repair can only use OTP on the Base Die or Logic Die. Public evidence supports multiple loci and technologies. Also validate eFuse programming-current and pad implications on the exact target; do not convert that general concern into a universal numeric claim without target data.</a:t>
            </a:r>
          </a:p>
          <a:p xmlns:a="http://schemas.openxmlformats.org/drawingml/2006/main">
            <a:r>
              <a:t/>
            </a:r>
          </a:p>
          <a:p xmlns:a="http://schemas.openxmlformats.org/drawingml/2006/main">
            <a:r>
              <a:t>[講者備忘 — ZH-TW]</a:t>
            </a:r>
          </a:p>
          <a:p xmlns:a="http://schemas.openxmlformats.org/drawingml/2006/main">
            <a:r>
              <a:t>Physical-location 才是技術 gate。不要宣稱 HBM repair 只能在 Base Die 或 Logic Die 用 OTP；公開資料顯示可能有多個 locus 與 technology。eFuse 的 programming current 與 pad impact 也必須對 exact target 驗證，沒有 target data 時不可升級成普遍數字結論。</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https://www.synopsys.com/articles/addressing-functional-safety-in-socs-with-test-solutions.html</a:t>
            </a:r>
          </a:p>
          <a:p xmlns:a="http://schemas.openxmlformats.org/drawingml/2006/main">
            <a:r>
              <a:t>- https://www.synopsys.com/webinars/nvm-otp-tsmc-n5.html</a:t>
            </a:r>
          </a:p>
          <a:p xmlns:a="http://schemas.openxmlformats.org/drawingml/2006/main">
            <a:r>
              <a:t>- https://docs.nvidia.com/deploy/a100-gpu-mem-error-mgmt/595/user-visible-statistics.html</a:t>
            </a:r>
          </a:p>
          <a:p xmlns:a="http://schemas.openxmlformats.org/drawingml/2006/main">
            <a:r>
              <a:t>- https://docs.nvidia.com/attestation/secureai-advisory-hbm3-resiliency-impact-on-driver-versions-r550-0-r550-90-12/index.html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These are peer gates. They do not occur as a serial maturity process. All five must close before a target-bound Synopsys product-fit conclusion. Even then, customer design win, shipment and royalty remain a separate commercial rail.</a:t>
            </a:r>
          </a:p>
          <a:p xmlns:a="http://schemas.openxmlformats.org/drawingml/2006/main">
            <a:r>
              <a:t/>
            </a:r>
          </a:p>
          <a:p xmlns:a="http://schemas.openxmlformats.org/drawingml/2006/main">
            <a:r>
              <a:t>[講者備忘 — ZH-TW]</a:t>
            </a:r>
          </a:p>
          <a:p xmlns:a="http://schemas.openxmlformats.org/drawingml/2006/main">
            <a:r>
              <a:t>這五個是 peer gates，不是 serial maturity process。五個都關閉後，才可形成 target-bound Synopsys product-fit conclusion；即使如此，customer design win、shipment 與 royalty 仍是獨立 commercial rail。</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No external factual claim on this slide; narrative synthesis only.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d146f96b0bd4f0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7b7d1b79824ae0" Type="http://schemas.openxmlformats.org/officeDocument/2006/relationships/theme" Target="theme/theme2.xml"/><Relationship Id="R322ec0ef30d6447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2ec0ef30d644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e35623f39544dff" Type="http://schemas.openxmlformats.org/officeDocument/2006/relationships/notesSlide" Target="../notesSlides/notesSlide1.xml"/><Relationship Id="Rca46117614094745" Type="http://schemas.openxmlformats.org/officeDocument/2006/relationships/image" Target="../media/image.png"/><Relationship Id="Re31b113b64144c0c"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31c2d1d95d4649fa" Type="http://schemas.openxmlformats.org/officeDocument/2006/relationships/slideLayout" Target="../slideLayouts/slideLayout1.xml"/><Relationship Id="R9140c9dfb69e4ffc"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865bf6ed5534529" Type="http://schemas.openxmlformats.org/officeDocument/2006/relationships/slideLayout" Target="../slideLayouts/slideLayout1.xml"/><Relationship Id="Re7c20bd3cba64fb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c18acc046394908" Type="http://schemas.openxmlformats.org/officeDocument/2006/relationships/slideLayout" Target="../slideLayouts/slideLayout1.xml"/><Relationship Id="R7f0aa56597224ba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b59d32589104f5b" Type="http://schemas.openxmlformats.org/officeDocument/2006/relationships/notesSlide" Target="../notesSlides/notesSlide5.xml"/><Relationship Id="Ra72870ea0da1456b"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c493a250f954dc5" Type="http://schemas.openxmlformats.org/officeDocument/2006/relationships/slideLayout" Target="../slideLayouts/slideLayout1.xml"/><Relationship Id="Rd5219ade6d96446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2ec91e849604f24" Type="http://schemas.openxmlformats.org/officeDocument/2006/relationships/notesSlide" Target="../notesSlides/notesSlide7.xml"/><Relationship Id="Rf091913374f04d0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8cc1a15f95a44f4" Type="http://schemas.openxmlformats.org/officeDocument/2006/relationships/notesSlide" Target="../notesSlides/notesSlide8.xml"/><Relationship Id="Rfafd4567908d49c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4a08f91d1c684931" Type="http://schemas.openxmlformats.org/officeDocument/2006/relationships/notesSlide" Target="../notesSlides/notesSlide9.xml"/><Relationship Id="R7b5f20d4d988444a"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bec808d33f34e97" Type="http://schemas.openxmlformats.org/officeDocument/2006/relationships/slideLayout" Target="../slideLayouts/slideLayout1.xml"/><Relationship Id="R5c7560d41f4b4c90"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cba3b17daa4b44c0" Type="http://schemas.openxmlformats.org/officeDocument/2006/relationships/notesSlide" Target="../notesSlides/notesSlide11.xml"/><Relationship Id="Re40fa5c41bde436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fab480a18ea4671" Type="http://schemas.openxmlformats.org/officeDocument/2006/relationships/slideLayout" Target="../slideLayouts/slideLayout1.xml"/><Relationship Id="R1533b925606d405b"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3cd37588ba7c4b6e" Type="http://schemas.openxmlformats.org/officeDocument/2006/relationships/slideLayout" Target="../slideLayouts/slideLayout1.xml"/><Relationship Id="Ra1e3d2a92b2446e6"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1d5bf36aeaf74922" Type="http://schemas.openxmlformats.org/officeDocument/2006/relationships/slideLayout" Target="../slideLayouts/slideLayout1.xml"/><Relationship Id="R5a05363727904942" Type="http://schemas.openxmlformats.org/officeDocument/2006/relationships/notesSlide" Target="../notesSlides/notesSlide14.xml"/></Relationships>
</file>

<file path=ppt/slides/slide1.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pic>
        <p:nvPicPr>
          <p:cNvPr id="30" name="圖片 30"/>
          <p:cNvPicPr>
            <a:picLocks xmlns:a="http://schemas.openxmlformats.org/drawingml/2006/main" noChangeAspect="1"/>
          </p:cNvPicPr>
          <p:nvPr/>
        </p:nvPicPr>
        <p:blipFill>
          <a:blip xmlns:r="http://schemas.openxmlformats.org/officeDocument/2006/relationships" xmlns:a="http://schemas.openxmlformats.org/drawingml/2006/main" r:embed="Rca46117614094745"/>
          <a:srcRect xmlns:a="http://schemas.openxmlformats.org/drawingml/2006/main" l="8000" t="0" r="2000" b="0"/>
          <a:stretch xmlns:a="http://schemas.openxmlformats.org/drawingml/2006/main">
            <a:fillRect l="0" t="0" r="0" b="0"/>
          </a:stretch>
        </p:blipFill>
        <p:spPr>
          <a:xfrm xmlns:a="http://schemas.openxmlformats.org/drawingml/2006/main">
            <a:off x="6191250" y="0"/>
            <a:ext cx="6000750" cy="6858000"/>
          </a:xfrm>
          <a:prstGeom xmlns:a="http://schemas.openxmlformats.org/drawingml/2006/main" prst="rect">
            <a:avLst/>
          </a:prstGeom>
        </p:spPr>
      </p:pic>
      <p:sp>
        <p:nvSpPr>
          <p:cNvPr id="22" name="v16-cover-field">
            <a:extLst xmlns:a="http://schemas.openxmlformats.org/drawingml/2006/main">
              <a:ext uri="{FF2B5EF4-FFF2-40B4-BE49-F238E27FC236}">
                <a16:creationId xmlns:a16="http://schemas.microsoft.com/office/drawing/2014/main" id="{C07AF073-8B48-47F5-BD8E-4511BE468D2A}"/>
              </a:ext>
            </a:extLst>
          </p:cNvPr>
          <p:cNvSpPr>
            <a:spLocks xmlns:a="http://schemas.openxmlformats.org/drawingml/2006/main" noGrp="1"/>
          </p:cNvSpPr>
          <p:nvPr/>
        </p:nvSpPr>
        <p:spPr>
          <a:xfrm xmlns:a="http://schemas.openxmlformats.org/drawingml/2006/main">
            <a:off x="0" y="0"/>
            <a:ext cx="7239000" cy="6858000"/>
          </a:xfrm>
          <a:prstGeom xmlns:a="http://schemas.openxmlformats.org/drawingml/2006/main" prst="rect">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23" name="v16-cover-accent">
            <a:extLst xmlns:a="http://schemas.openxmlformats.org/drawingml/2006/main">
              <a:ext uri="{FF2B5EF4-FFF2-40B4-BE49-F238E27FC236}">
                <a16:creationId xmlns:a16="http://schemas.microsoft.com/office/drawing/2014/main" id="{CBB6A352-4B44-4901-891B-5A50F31603E0}"/>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24" name="v16-cover-eyebrow">
            <a:extLst xmlns:a="http://schemas.openxmlformats.org/drawingml/2006/main">
              <a:ext uri="{FF2B5EF4-FFF2-40B4-BE49-F238E27FC236}">
                <a16:creationId xmlns:a16="http://schemas.microsoft.com/office/drawing/2014/main" id="{E3EA10B0-C1E2-431B-B459-A92FF00C84ED}"/>
              </a:ext>
            </a:extLst>
          </p:cNvPr>
          <p:cNvSpPr>
            <a:spLocks xmlns:a="http://schemas.openxmlformats.org/drawingml/2006/main" noGrp="1"/>
          </p:cNvSpPr>
          <p:nvPr/>
        </p:nvSpPr>
        <p:spPr>
          <a:xfrm xmlns:a="http://schemas.openxmlformats.org/drawingml/2006/main">
            <a:off x="514350" y="47625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000" b="1">
                <a:solidFill>
                  <a:srgbClr val="71ECE3"/>
                </a:solidFill>
                <a:latin typeface="Consolas"/>
                <a:ea typeface="Consolas"/>
                <a:cs typeface="Consolas"/>
              </a:defRPr>
            </a:pPr>
            <a:r>
              <a:rPr sz="3800" b="1">
                <a:solidFill>
                  <a:srgbClr val="FFFFFF"/>
                </a:solidFill>
                <a:latin typeface="Arial"/>
              </a:rPr>
              <a:t>SYNOPSYS NVM · AI, CHIPLET &amp; IOT OPPORTUNITY BRIEF</a:t>
            </a:r>
          </a:p>
        </p:txBody>
      </p:sp>
      <p:sp>
        <p:nvSpPr>
          <p:cNvPr id="25" name="v16-cover-title">
            <a:extLst xmlns:a="http://schemas.openxmlformats.org/drawingml/2006/main">
              <a:ext uri="{FF2B5EF4-FFF2-40B4-BE49-F238E27FC236}">
                <a16:creationId xmlns:a16="http://schemas.microsoft.com/office/drawing/2014/main" id="{6433DF81-499E-47D4-96DC-45A1363726D4}"/>
              </a:ext>
            </a:extLst>
          </p:cNvPr>
          <p:cNvSpPr>
            <a:spLocks xmlns:a="http://schemas.openxmlformats.org/drawingml/2006/main" noGrp="1"/>
          </p:cNvSpPr>
          <p:nvPr/>
        </p:nvSpPr>
        <p:spPr>
          <a:xfrm xmlns:a="http://schemas.openxmlformats.org/drawingml/2006/main">
            <a:off x="514350" y="1428750"/>
            <a:ext cx="5810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AI hardware opens</a:t>
            </a:r>
          </a:p>
          <a:p xmlns:a="http://schemas.openxmlformats.org/drawingml/2006/main">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three persistent-state</a:t>
            </a:r>
          </a:p>
          <a:p xmlns:a="http://schemas.openxmlformats.org/drawingml/2006/main">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qualification families</a:t>
            </a:r>
          </a:p>
        </p:txBody>
      </p:sp>
      <p:sp>
        <p:nvSpPr>
          <p:cNvPr id="26" name="v16-cover-subtitle">
            <a:extLst xmlns:a="http://schemas.openxmlformats.org/drawingml/2006/main">
              <a:ext uri="{FF2B5EF4-FFF2-40B4-BE49-F238E27FC236}">
                <a16:creationId xmlns:a16="http://schemas.microsoft.com/office/drawing/2014/main" id="{854162A8-5129-4B4D-ABD0-6A6313E27009}"/>
              </a:ext>
            </a:extLst>
          </p:cNvPr>
          <p:cNvSpPr>
            <a:spLocks xmlns:a="http://schemas.openxmlformats.org/drawingml/2006/main" noGrp="1"/>
          </p:cNvSpPr>
          <p:nvPr/>
        </p:nvSpPr>
        <p:spPr>
          <a:xfrm xmlns:a="http://schemas.openxmlformats.org/drawingml/2006/main">
            <a:off x="514350" y="3543300"/>
            <a:ext cx="552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C8D9E0"/>
                </a:solidFill>
                <a:latin typeface="Arial"/>
                <a:ea typeface="Arial"/>
                <a:cs typeface="Arial"/>
              </a:defRPr>
            </a:pPr>
            <a:r>
              <a:rPr sz="1700" b="1">
                <a:solidFill>
                  <a:srgbClr val="C8D9E0"/>
                </a:solidFill>
                <a:latin typeface="Arial"/>
                <a:ea typeface="Arial"/>
                <a:cs typeface="Arial"/>
              </a:rPr>
              <a:t>DDR5 subsystem · accelerator power · platform trust</a:t>
            </a:r>
          </a:p>
        </p:txBody>
      </p:sp>
      <p:sp>
        <p:nvSpPr>
          <p:cNvPr id="27" name="v16-cover-rule">
            <a:extLst xmlns:a="http://schemas.openxmlformats.org/drawingml/2006/main">
              <a:ext uri="{FF2B5EF4-FFF2-40B4-BE49-F238E27FC236}">
                <a16:creationId xmlns:a16="http://schemas.microsoft.com/office/drawing/2014/main" id="{7FD65AD1-A5F8-468F-B096-05CEBAC8A310}"/>
              </a:ext>
            </a:extLst>
          </p:cNvPr>
          <p:cNvSpPr>
            <a:spLocks xmlns:a="http://schemas.openxmlformats.org/drawingml/2006/main" noGrp="1"/>
          </p:cNvSpPr>
          <p:nvPr/>
        </p:nvSpPr>
        <p:spPr>
          <a:xfrm xmlns:a="http://schemas.openxmlformats.org/drawingml/2006/main">
            <a:off x="514350" y="4267200"/>
            <a:ext cx="838200" cy="38100"/>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28" name="v16-cover-deck-boundary">
            <a:extLst xmlns:a="http://schemas.openxmlformats.org/drawingml/2006/main">
              <a:ext uri="{FF2B5EF4-FFF2-40B4-BE49-F238E27FC236}">
                <a16:creationId xmlns:a16="http://schemas.microsoft.com/office/drawing/2014/main" id="{CFCEA6A9-FC57-4D2B-A701-F0153D5ACF06}"/>
              </a:ext>
            </a:extLst>
          </p:cNvPr>
          <p:cNvSpPr>
            <a:spLocks xmlns:a="http://schemas.openxmlformats.org/drawingml/2006/main" noGrp="1"/>
          </p:cNvSpPr>
          <p:nvPr/>
        </p:nvSpPr>
        <p:spPr>
          <a:xfrm xmlns:a="http://schemas.openxmlformats.org/drawingml/2006/main">
            <a:off x="514350" y="4552950"/>
            <a:ext cx="5524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520" b="0">
                <a:solidFill>
                  <a:srgbClr val="C8D9E0"/>
                </a:solidFill>
                <a:latin typeface="Arial"/>
                <a:ea typeface="Arial"/>
                <a:cs typeface="Arial"/>
              </a:defRPr>
            </a:pPr>
            <a:r>
              <a:rPr sz="1520" b="0">
                <a:solidFill>
                  <a:srgbClr val="C8D9E0"/>
                </a:solidFill>
                <a:latin typeface="Arial"/>
                <a:ea typeface="Arial"/>
                <a:cs typeface="Arial"/>
              </a:rPr>
              <a:t>Repair and OCP service state remain discovery-led until the authoritative owner, locus and state contract are named.</a:t>
            </a:r>
          </a:p>
        </p:txBody>
      </p:sp>
      <p:sp>
        <p:nvSpPr>
          <p:cNvPr id="29" name="v16-cover-footer">
            <a:extLst xmlns:a="http://schemas.openxmlformats.org/drawingml/2006/main">
              <a:ext uri="{FF2B5EF4-FFF2-40B4-BE49-F238E27FC236}">
                <a16:creationId xmlns:a16="http://schemas.microsoft.com/office/drawing/2014/main" id="{BCD8BDA3-D186-4040-8B1D-08F9FB0F1299}"/>
              </a:ext>
            </a:extLst>
          </p:cNvPr>
          <p:cNvSpPr>
            <a:spLocks xmlns:a="http://schemas.openxmlformats.org/drawingml/2006/main" noGrp="1"/>
          </p:cNvSpPr>
          <p:nvPr/>
        </p:nvSpPr>
        <p:spPr>
          <a:xfrm xmlns:a="http://schemas.openxmlformats.org/drawingml/2006/main">
            <a:off x="514350" y="611505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7D9AA8"/>
                </a:solidFill>
                <a:latin typeface="Consolas"/>
                <a:ea typeface="Consolas"/>
                <a:cs typeface="Consolas"/>
              </a:defRPr>
            </a:pPr>
            <a:r>
              <a:rPr sz="880" b="1">
                <a:solidFill>
                  <a:srgbClr val="7D9AA8"/>
                </a:solidFill>
                <a:latin typeface="Consolas"/>
                <a:ea typeface="Consolas"/>
                <a:cs typeface="Consolas"/>
              </a:rPr>
              <a:t>QUALIFICATION AUTHORIZATION ONLY · NOT A DESIGN WIN OR FORECAST</a:t>
            </a:r>
          </a:p>
        </p:txBody>
      </p:sp>
    </p:spTree>
    <p:extLst>
      <p:ext uri="{BB962C8B-B14F-4D97-AF65-F5344CB8AC3E}">
        <p14:creationId xmlns:p14="http://schemas.microsoft.com/office/powerpoint/2010/main" val="499207318"/>
      </p:ext>
    </p:extLst>
  </p:cSld>
</p:sld>
</file>

<file path=ppt/slides/slide2.xml><?xml version="1.0" encoding="utf-8"?>
<p:sld xmlns:p="http://schemas.openxmlformats.org/presentationml/2006/main">
  <p:cSld>
    <p:bg>
      <p:bgPr>
        <a:solidFill xmlns:a="http://schemas.openxmlformats.org/drawingml/2006/main">
          <a:srgbClr val="F3F7F8"/>
        </a:solidFill>
      </p:bgPr>
    </p:bg>
    <p:spTree>
      <p:nvGrpSpPr>
        <p:cNvPr id="1" name=""/>
        <p:cNvGrpSpPr/>
        <p:nvPr/>
      </p:nvGrpSpPr>
      <p:grpSpPr>
        <a:xfrm xmlns:a="http://schemas.openxmlformats.org/drawingml/2006/main"/>
      </p:grpSpPr>
      <p:sp>
        <p:nvSpPr>
          <p:cNvPr id="46" name="v16-bg-2">
            <a:extLst xmlns:a="http://schemas.openxmlformats.org/drawingml/2006/main">
              <a:ext uri="{FF2B5EF4-FFF2-40B4-BE49-F238E27FC236}">
                <a16:creationId xmlns:a16="http://schemas.microsoft.com/office/drawing/2014/main" id="{4030B886-4A8F-45FF-930F-7FB65A7F934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2">
            <a:extLst xmlns:a="http://schemas.openxmlformats.org/drawingml/2006/main">
              <a:ext uri="{FF2B5EF4-FFF2-40B4-BE49-F238E27FC236}">
                <a16:creationId xmlns:a16="http://schemas.microsoft.com/office/drawing/2014/main" id="{AE3D6D5D-DF13-458F-8011-18BC3B40ACC6}"/>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2">
            <a:extLst xmlns:a="http://schemas.openxmlformats.org/drawingml/2006/main">
              <a:ext uri="{FF2B5EF4-FFF2-40B4-BE49-F238E27FC236}">
                <a16:creationId xmlns:a16="http://schemas.microsoft.com/office/drawing/2014/main" id="{F301C0A2-AA5A-41D2-BB38-B603D3E7C4F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01 · EXECUTIVE ANSWER</a:t>
            </a:r>
          </a:p>
        </p:txBody>
      </p:sp>
      <p:sp>
        <p:nvSpPr>
          <p:cNvPr id="4" name="v16-title-2">
            <a:extLst xmlns:a="http://schemas.openxmlformats.org/drawingml/2006/main">
              <a:ext uri="{FF2B5EF4-FFF2-40B4-BE49-F238E27FC236}">
                <a16:creationId xmlns:a16="http://schemas.microsoft.com/office/drawing/2014/main" id="{E1C6BAD4-B2D1-4D36-A0EF-E4B97E0EA3AD}"/>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2700" b="1">
                <a:solidFill>
                  <a:srgbClr val="0A2434"/>
                </a:solidFill>
                <a:latin typeface="Arial"/>
                <a:ea typeface="Arial"/>
                <a:cs typeface="Arial"/>
              </a:defRPr>
            </a:pPr>
            <a:r>
              <a:rPr sz="3000" b="1">
                <a:solidFill>
                  <a:srgbClr val="0A2434"/>
                </a:solidFill>
                <a:latin typeface="Arial"/>
              </a:rPr>
              <a:t>Authorize Five Target-Bound Qualifications</a:t>
            </a:r>
          </a:p>
          <a:p xmlns:a="http://schemas.openxmlformats.org/drawingml/2006/main">
            <a:pPr>
              <a:spcBef>
                <a:spcPts val="0"/>
              </a:spcBef>
              <a:spcAft>
                <a:spcPts val="200"/>
              </a:spcAft>
            </a:pPr>
            <a:r>
              <a:rPr sz="3000" b="1">
                <a:solidFill>
                  <a:srgbClr val="0A2434"/>
                </a:solidFill>
                <a:latin typeface="Arial"/>
              </a:rPr>
              <a:t>Keep Two Families in Discovery</a:t>
            </a:r>
          </a:p>
        </p:txBody>
      </p:sp>
      <p:sp>
        <p:nvSpPr>
          <p:cNvPr id="5" name="v16-subtitle-2">
            <a:extLst xmlns:a="http://schemas.openxmlformats.org/drawingml/2006/main">
              <a:ext uri="{FF2B5EF4-FFF2-40B4-BE49-F238E27FC236}">
                <a16:creationId xmlns:a16="http://schemas.microsoft.com/office/drawing/2014/main" id="{44E032E0-11D9-4FE6-A844-94287B2F8ABA}"/>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rPr>
              <a:t>Five named state contracts · two discovery families · zero unverified claims</a:t>
            </a:r>
          </a:p>
        </p:txBody>
      </p:sp>
      <p:sp>
        <p:nvSpPr>
          <p:cNvPr id="6" name="motif-line-0">
            <a:extLst xmlns:a="http://schemas.openxmlformats.org/drawingml/2006/main">
              <a:ext uri="{FF2B5EF4-FFF2-40B4-BE49-F238E27FC236}">
                <a16:creationId xmlns:a16="http://schemas.microsoft.com/office/drawing/2014/main" id="{FBFF7F97-D954-440A-B1B4-EAB1E2C4E38D}"/>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A2934B1E-6103-4AA9-B4ED-C3FB5BBC4ED8}"/>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B58DF2FB-CB90-4549-A79A-5894EBF20BDC}"/>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57A1FCF9-AE0C-4F69-B4A2-A1DAD06198ED}"/>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8DBF8CF8-AEAA-4730-ABAC-D8D67F4C304A}"/>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8751308C-6AB3-44C6-B90C-FB2683A00789}"/>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DAA46D0C-EA24-40BF-B90A-176CED0D5AFB}"/>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980C6E90-3351-4964-84AE-B8433F13DAD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558F686A-F7BA-4D41-A383-575FB31853F1}"/>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20BA422B-7794-420B-8B89-1BCD5EC7C947}"/>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2">
            <a:extLst xmlns:a="http://schemas.openxmlformats.org/drawingml/2006/main">
              <a:ext uri="{FF2B5EF4-FFF2-40B4-BE49-F238E27FC236}">
                <a16:creationId xmlns:a16="http://schemas.microsoft.com/office/drawing/2014/main" id="{B92FFCCB-B2BE-48FC-8238-E93246D1CCC3}"/>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2">
            <a:extLst xmlns:a="http://schemas.openxmlformats.org/drawingml/2006/main">
              <a:ext uri="{FF2B5EF4-FFF2-40B4-BE49-F238E27FC236}">
                <a16:creationId xmlns:a16="http://schemas.microsoft.com/office/drawing/2014/main" id="{6387EB90-2115-49D7-A805-C7B82E4A7F1E}"/>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2">
            <a:extLst xmlns:a="http://schemas.openxmlformats.org/drawingml/2006/main">
              <a:ext uri="{FF2B5EF4-FFF2-40B4-BE49-F238E27FC236}">
                <a16:creationId xmlns:a16="http://schemas.microsoft.com/office/drawing/2014/main" id="{2F3D9F1A-D286-4DF3-BD79-8A56C85C6AB3}"/>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02</a:t>
            </a:r>
          </a:p>
        </p:txBody>
      </p:sp>
      <p:sp>
        <p:nvSpPr>
          <p:cNvPr id="19" name="v16-s2-ddr5-shadow">
            <a:extLst xmlns:a="http://schemas.openxmlformats.org/drawingml/2006/main">
              <a:ext uri="{FF2B5EF4-FFF2-40B4-BE49-F238E27FC236}">
                <a16:creationId xmlns:a16="http://schemas.microsoft.com/office/drawing/2014/main" id="{2B198A3D-CF65-4547-BFF2-E9C0596CA24E}"/>
              </a:ext>
            </a:extLst>
          </p:cNvPr>
          <p:cNvSpPr>
            <a:spLocks xmlns:a="http://schemas.openxmlformats.org/drawingml/2006/main" noGrp="1"/>
          </p:cNvSpPr>
          <p:nvPr/>
        </p:nvSpPr>
        <p:spPr>
          <a:xfrm xmlns:a="http://schemas.openxmlformats.org/drawingml/2006/main">
            <a:off x="542925" y="20097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2-ddr5">
            <a:extLst xmlns:a="http://schemas.openxmlformats.org/drawingml/2006/main">
              <a:ext uri="{FF2B5EF4-FFF2-40B4-BE49-F238E27FC236}">
                <a16:creationId xmlns:a16="http://schemas.microsoft.com/office/drawing/2014/main" id="{54C7789C-A53E-4435-B853-5922EB83AC96}"/>
              </a:ext>
            </a:extLst>
          </p:cNvPr>
          <p:cNvSpPr>
            <a:spLocks xmlns:a="http://schemas.openxmlformats.org/drawingml/2006/main" noGrp="1"/>
          </p:cNvSpPr>
          <p:nvPr/>
        </p:nvSpPr>
        <p:spPr>
          <a:xfrm xmlns:a="http://schemas.openxmlformats.org/drawingml/2006/main">
            <a:off x="514350" y="1962150"/>
            <a:ext cx="5295900" cy="1428750"/>
          </a:xfrm>
          <a:prstGeom xmlns:a="http://schemas.openxmlformats.org/drawingml/2006/main" prst="roundRect">
            <a:avLst>
              <a:gd name="adj" fmla="val 533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1" name="v16-s2-ddr5-top">
            <a:extLst xmlns:a="http://schemas.openxmlformats.org/drawingml/2006/main">
              <a:ext uri="{FF2B5EF4-FFF2-40B4-BE49-F238E27FC236}">
                <a16:creationId xmlns:a16="http://schemas.microsoft.com/office/drawing/2014/main" id="{00675293-9547-43B5-B27F-80D1AFB8B017}"/>
              </a:ext>
            </a:extLst>
          </p:cNvPr>
          <p:cNvSpPr>
            <a:spLocks xmlns:a="http://schemas.openxmlformats.org/drawingml/2006/main" noGrp="1"/>
          </p:cNvSpPr>
          <p:nvPr/>
        </p:nvSpPr>
        <p:spPr>
          <a:xfrm xmlns:a="http://schemas.openxmlformats.org/drawingml/2006/main">
            <a:off x="514350" y="1962150"/>
            <a:ext cx="52959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2" name="v16-s2-ddr5-eyebrow">
            <a:extLst xmlns:a="http://schemas.openxmlformats.org/drawingml/2006/main">
              <a:ext uri="{FF2B5EF4-FFF2-40B4-BE49-F238E27FC236}">
                <a16:creationId xmlns:a16="http://schemas.microsoft.com/office/drawing/2014/main" id="{554C8253-3A05-4200-893D-8C7210C81BA3}"/>
              </a:ext>
            </a:extLst>
          </p:cNvPr>
          <p:cNvSpPr>
            <a:spLocks xmlns:a="http://schemas.openxmlformats.org/drawingml/2006/main" noGrp="1"/>
          </p:cNvSpPr>
          <p:nvPr/>
        </p:nvSpPr>
        <p:spPr>
          <a:xfrm xmlns:a="http://schemas.openxmlformats.org/drawingml/2006/main">
            <a:off x="676275" y="21050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QUALIFY NOW · ONE SUBSYSTEM PACKAGE</a:t>
            </a:r>
          </a:p>
        </p:txBody>
      </p:sp>
      <p:sp>
        <p:nvSpPr>
          <p:cNvPr id="23" name="v16-s2-ddr5-title">
            <a:extLst xmlns:a="http://schemas.openxmlformats.org/drawingml/2006/main">
              <a:ext uri="{FF2B5EF4-FFF2-40B4-BE49-F238E27FC236}">
                <a16:creationId xmlns:a16="http://schemas.microsoft.com/office/drawing/2014/main" id="{113D5059-11EF-4FCD-AB61-3309148C1ECD}"/>
              </a:ext>
            </a:extLst>
          </p:cNvPr>
          <p:cNvSpPr>
            <a:spLocks xmlns:a="http://schemas.openxmlformats.org/drawingml/2006/main" noGrp="1"/>
          </p:cNvSpPr>
          <p:nvPr/>
        </p:nvSpPr>
        <p:spPr>
          <a:xfrm xmlns:a="http://schemas.openxmlformats.org/drawingml/2006/main">
            <a:off x="676275" y="2324100"/>
            <a:ext cx="4972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2000" b="1">
                <a:solidFill>
                  <a:srgbClr val="0A2434"/>
                </a:solidFill>
                <a:latin typeface="Arial"/>
              </a:rPr>
              <a:t>DDR5 &amp; AI Power Subsystems</a:t>
            </a:r>
          </a:p>
        </p:txBody>
      </p:sp>
      <p:sp>
        <p:nvSpPr>
          <p:cNvPr id="24" name="v16-s2-ddr5-body">
            <a:extLst xmlns:a="http://schemas.openxmlformats.org/drawingml/2006/main">
              <a:ext uri="{FF2B5EF4-FFF2-40B4-BE49-F238E27FC236}">
                <a16:creationId xmlns:a16="http://schemas.microsoft.com/office/drawing/2014/main" id="{67DD6321-C9F1-4226-8FF2-C949BCF15044}"/>
              </a:ext>
            </a:extLst>
          </p:cNvPr>
          <p:cNvSpPr>
            <a:spLocks xmlns:a="http://schemas.openxmlformats.org/drawingml/2006/main" noGrp="1"/>
          </p:cNvSpPr>
          <p:nvPr/>
        </p:nvSpPr>
        <p:spPr>
          <a:xfrm xmlns:a="http://schemas.openxmlformats.org/drawingml/2006/main">
            <a:off x="676275" y="2628900"/>
            <a:ext cx="4972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480" b="0">
                <a:solidFill>
                  <a:srgbClr val="385365"/>
                </a:solidFill>
                <a:latin typeface="Arial"/>
              </a:rPr>
              <a:t>PMIC 100k MTP + SPD Hub protected EEPROM + multi-phase VR calibration</a:t>
            </a:r>
          </a:p>
        </p:txBody>
      </p:sp>
      <p:sp>
        <p:nvSpPr>
          <p:cNvPr id="25" name="v16-s2-power-shadow">
            <a:extLst xmlns:a="http://schemas.openxmlformats.org/drawingml/2006/main">
              <a:ext uri="{FF2B5EF4-FFF2-40B4-BE49-F238E27FC236}">
                <a16:creationId xmlns:a16="http://schemas.microsoft.com/office/drawing/2014/main" id="{75A97A60-0D97-4CAD-B68E-BEE50F76F9A6}"/>
              </a:ext>
            </a:extLst>
          </p:cNvPr>
          <p:cNvSpPr>
            <a:spLocks xmlns:a="http://schemas.openxmlformats.org/drawingml/2006/main" noGrp="1"/>
          </p:cNvSpPr>
          <p:nvPr/>
        </p:nvSpPr>
        <p:spPr>
          <a:xfrm xmlns:a="http://schemas.openxmlformats.org/drawingml/2006/main">
            <a:off x="6067425" y="20097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2-power">
            <a:extLst xmlns:a="http://schemas.openxmlformats.org/drawingml/2006/main">
              <a:ext uri="{FF2B5EF4-FFF2-40B4-BE49-F238E27FC236}">
                <a16:creationId xmlns:a16="http://schemas.microsoft.com/office/drawing/2014/main" id="{67495A3D-2C71-4E2B-887A-8C7387E8D868}"/>
              </a:ext>
            </a:extLst>
          </p:cNvPr>
          <p:cNvSpPr>
            <a:spLocks xmlns:a="http://schemas.openxmlformats.org/drawingml/2006/main" noGrp="1"/>
          </p:cNvSpPr>
          <p:nvPr/>
        </p:nvSpPr>
        <p:spPr>
          <a:xfrm xmlns:a="http://schemas.openxmlformats.org/drawingml/2006/main">
            <a:off x="6038850" y="1962150"/>
            <a:ext cx="5295900" cy="1428750"/>
          </a:xfrm>
          <a:prstGeom xmlns:a="http://schemas.openxmlformats.org/drawingml/2006/main" prst="roundRect">
            <a:avLst>
              <a:gd name="adj" fmla="val 533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7" name="v16-s2-power-top">
            <a:extLst xmlns:a="http://schemas.openxmlformats.org/drawingml/2006/main">
              <a:ext uri="{FF2B5EF4-FFF2-40B4-BE49-F238E27FC236}">
                <a16:creationId xmlns:a16="http://schemas.microsoft.com/office/drawing/2014/main" id="{0CB67633-0EF5-4A3A-8204-9D6BDB600E1C}"/>
              </a:ext>
            </a:extLst>
          </p:cNvPr>
          <p:cNvSpPr>
            <a:spLocks xmlns:a="http://schemas.openxmlformats.org/drawingml/2006/main" noGrp="1"/>
          </p:cNvSpPr>
          <p:nvPr/>
        </p:nvSpPr>
        <p:spPr>
          <a:xfrm xmlns:a="http://schemas.openxmlformats.org/drawingml/2006/main">
            <a:off x="6038850" y="1962150"/>
            <a:ext cx="52959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8" name="v16-s2-power-eyebrow">
            <a:extLst xmlns:a="http://schemas.openxmlformats.org/drawingml/2006/main">
              <a:ext uri="{FF2B5EF4-FFF2-40B4-BE49-F238E27FC236}">
                <a16:creationId xmlns:a16="http://schemas.microsoft.com/office/drawing/2014/main" id="{401ED995-80FF-40EB-9DCC-EF742D080EFA}"/>
              </a:ext>
            </a:extLst>
          </p:cNvPr>
          <p:cNvSpPr>
            <a:spLocks xmlns:a="http://schemas.openxmlformats.org/drawingml/2006/main" noGrp="1"/>
          </p:cNvSpPr>
          <p:nvPr/>
        </p:nvSpPr>
        <p:spPr>
          <a:xfrm xmlns:a="http://schemas.openxmlformats.org/drawingml/2006/main">
            <a:off x="6200775" y="21050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QUALIFY NOW · AI-SPECIFIC POWER STATE</a:t>
            </a:r>
          </a:p>
        </p:txBody>
      </p:sp>
      <p:sp>
        <p:nvSpPr>
          <p:cNvPr id="29" name="v16-s2-power-title">
            <a:extLst xmlns:a="http://schemas.openxmlformats.org/drawingml/2006/main">
              <a:ext uri="{FF2B5EF4-FFF2-40B4-BE49-F238E27FC236}">
                <a16:creationId xmlns:a16="http://schemas.microsoft.com/office/drawing/2014/main" id="{B8F1042A-6C8B-4AB0-BC21-BCAF44674E3C}"/>
              </a:ext>
            </a:extLst>
          </p:cNvPr>
          <p:cNvSpPr>
            <a:spLocks xmlns:a="http://schemas.openxmlformats.org/drawingml/2006/main" noGrp="1"/>
          </p:cNvSpPr>
          <p:nvPr/>
        </p:nvSpPr>
        <p:spPr>
          <a:xfrm xmlns:a="http://schemas.openxmlformats.org/drawingml/2006/main">
            <a:off x="6200775" y="2324100"/>
            <a:ext cx="4972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2000" b="1">
                <a:solidFill>
                  <a:srgbClr val="0A2434"/>
                </a:solidFill>
                <a:latin typeface="Arial"/>
              </a:rPr>
              <a:t>TSMC IoT Continuum (22ULL to N4e)</a:t>
            </a:r>
          </a:p>
        </p:txBody>
      </p:sp>
      <p:sp>
        <p:nvSpPr>
          <p:cNvPr id="30" name="v16-s2-power-body">
            <a:extLst xmlns:a="http://schemas.openxmlformats.org/drawingml/2006/main">
              <a:ext uri="{FF2B5EF4-FFF2-40B4-BE49-F238E27FC236}">
                <a16:creationId xmlns:a16="http://schemas.microsoft.com/office/drawing/2014/main" id="{F9282B6C-C418-45AF-9E3A-7569D6E09FE0}"/>
              </a:ext>
            </a:extLst>
          </p:cNvPr>
          <p:cNvSpPr>
            <a:spLocks xmlns:a="http://schemas.openxmlformats.org/drawingml/2006/main" noGrp="1"/>
          </p:cNvSpPr>
          <p:nvPr/>
        </p:nvSpPr>
        <p:spPr>
          <a:xfrm xmlns:a="http://schemas.openxmlformats.org/drawingml/2006/main">
            <a:off x="6200775" y="2809875"/>
            <a:ext cx="49720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480" b="0">
                <a:solidFill>
                  <a:srgbClr val="385365"/>
                </a:solidFill>
                <a:latin typeface="Arial"/>
              </a:rPr>
              <a:t>0.5V near-threshold operation · pure-logic AntiFuse OTP as MCU code storage</a:t>
            </a:r>
          </a:p>
        </p:txBody>
      </p:sp>
      <p:sp>
        <p:nvSpPr>
          <p:cNvPr id="31" name="v16-s2-trust-shadow">
            <a:extLst xmlns:a="http://schemas.openxmlformats.org/drawingml/2006/main">
              <a:ext uri="{FF2B5EF4-FFF2-40B4-BE49-F238E27FC236}">
                <a16:creationId xmlns:a16="http://schemas.microsoft.com/office/drawing/2014/main" id="{96431EFB-A61D-4400-9C4E-F5954A48D592}"/>
              </a:ext>
            </a:extLst>
          </p:cNvPr>
          <p:cNvSpPr>
            <a:spLocks xmlns:a="http://schemas.openxmlformats.org/drawingml/2006/main" noGrp="1"/>
          </p:cNvSpPr>
          <p:nvPr/>
        </p:nvSpPr>
        <p:spPr>
          <a:xfrm xmlns:a="http://schemas.openxmlformats.org/drawingml/2006/main">
            <a:off x="542925" y="36861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2-trust">
            <a:extLst xmlns:a="http://schemas.openxmlformats.org/drawingml/2006/main">
              <a:ext uri="{FF2B5EF4-FFF2-40B4-BE49-F238E27FC236}">
                <a16:creationId xmlns:a16="http://schemas.microsoft.com/office/drawing/2014/main" id="{3CC9E722-3D43-4996-90C1-0D8BB47C248F}"/>
              </a:ext>
            </a:extLst>
          </p:cNvPr>
          <p:cNvSpPr>
            <a:spLocks xmlns:a="http://schemas.openxmlformats.org/drawingml/2006/main" noGrp="1"/>
          </p:cNvSpPr>
          <p:nvPr/>
        </p:nvSpPr>
        <p:spPr>
          <a:xfrm xmlns:a="http://schemas.openxmlformats.org/drawingml/2006/main">
            <a:off x="514350" y="3638550"/>
            <a:ext cx="5295900" cy="1428750"/>
          </a:xfrm>
          <a:prstGeom xmlns:a="http://schemas.openxmlformats.org/drawingml/2006/main" prst="roundRect">
            <a:avLst>
              <a:gd name="adj" fmla="val 5333"/>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33" name="v16-s2-trust-top">
            <a:extLst xmlns:a="http://schemas.openxmlformats.org/drawingml/2006/main">
              <a:ext uri="{FF2B5EF4-FFF2-40B4-BE49-F238E27FC236}">
                <a16:creationId xmlns:a16="http://schemas.microsoft.com/office/drawing/2014/main" id="{1E912CF6-55B1-43B3-8F36-6485E5DE5CD8}"/>
              </a:ext>
            </a:extLst>
          </p:cNvPr>
          <p:cNvSpPr>
            <a:spLocks xmlns:a="http://schemas.openxmlformats.org/drawingml/2006/main" noGrp="1"/>
          </p:cNvSpPr>
          <p:nvPr/>
        </p:nvSpPr>
        <p:spPr>
          <a:xfrm xmlns:a="http://schemas.openxmlformats.org/drawingml/2006/main">
            <a:off x="514350" y="3638550"/>
            <a:ext cx="52959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34" name="v16-s2-trust-eyebrow">
            <a:extLst xmlns:a="http://schemas.openxmlformats.org/drawingml/2006/main">
              <a:ext uri="{FF2B5EF4-FFF2-40B4-BE49-F238E27FC236}">
                <a16:creationId xmlns:a16="http://schemas.microsoft.com/office/drawing/2014/main" id="{0BBF7D90-1862-47E6-AF95-3DCCE60C71DD}"/>
              </a:ext>
            </a:extLst>
          </p:cNvPr>
          <p:cNvSpPr>
            <a:spLocks xmlns:a="http://schemas.openxmlformats.org/drawingml/2006/main" noGrp="1"/>
          </p:cNvSpPr>
          <p:nvPr/>
        </p:nvSpPr>
        <p:spPr>
          <a:xfrm xmlns:a="http://schemas.openxmlformats.org/drawingml/2006/main">
            <a:off x="676275" y="37814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QUALIFY WITH ONE NAMED TARGET</a:t>
            </a:r>
          </a:p>
        </p:txBody>
      </p:sp>
      <p:sp>
        <p:nvSpPr>
          <p:cNvPr id="35" name="v16-s2-trust-title">
            <a:extLst xmlns:a="http://schemas.openxmlformats.org/drawingml/2006/main">
              <a:ext uri="{FF2B5EF4-FFF2-40B4-BE49-F238E27FC236}">
                <a16:creationId xmlns:a16="http://schemas.microsoft.com/office/drawing/2014/main" id="{1C347D79-F279-4FB6-A06D-F07E6626E412}"/>
              </a:ext>
            </a:extLst>
          </p:cNvPr>
          <p:cNvSpPr>
            <a:spLocks xmlns:a="http://schemas.openxmlformats.org/drawingml/2006/main" noGrp="1"/>
          </p:cNvSpPr>
          <p:nvPr/>
        </p:nvSpPr>
        <p:spPr>
          <a:xfrm xmlns:a="http://schemas.openxmlformats.org/drawingml/2006/main">
            <a:off x="676275" y="4000500"/>
            <a:ext cx="4972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2000" b="1">
                <a:solidFill>
                  <a:srgbClr val="0A2434"/>
                </a:solidFill>
                <a:latin typeface="Arial"/>
              </a:rPr>
              <a:t>Platform Trust &amp; 3D Chiplet RoT</a:t>
            </a:r>
          </a:p>
        </p:txBody>
      </p:sp>
      <p:sp>
        <p:nvSpPr>
          <p:cNvPr id="36" name="v16-s2-trust-body">
            <a:extLst xmlns:a="http://schemas.openxmlformats.org/drawingml/2006/main">
              <a:ext uri="{FF2B5EF4-FFF2-40B4-BE49-F238E27FC236}">
                <a16:creationId xmlns:a16="http://schemas.microsoft.com/office/drawing/2014/main" id="{F3B1EFF0-F730-4064-9D8F-9B9820F7F889}"/>
              </a:ext>
            </a:extLst>
          </p:cNvPr>
          <p:cNvSpPr>
            <a:spLocks xmlns:a="http://schemas.openxmlformats.org/drawingml/2006/main" noGrp="1"/>
          </p:cNvSpPr>
          <p:nvPr/>
        </p:nvSpPr>
        <p:spPr>
          <a:xfrm xmlns:a="http://schemas.openxmlformats.org/drawingml/2006/main">
            <a:off x="676275" y="4305300"/>
            <a:ext cx="4972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480" b="0">
                <a:solidFill>
                  <a:srgbClr val="385365"/>
                </a:solidFill>
                <a:latin typeface="Arial"/>
              </a:rPr>
              <a:t>Caliptra RoT + dedicated UCIe 3D SoIC on-die identity &amp; pre-bond KGD testing</a:t>
            </a:r>
          </a:p>
        </p:txBody>
      </p:sp>
      <p:sp>
        <p:nvSpPr>
          <p:cNvPr id="37" name="v16-s2-discovery-shadow">
            <a:extLst xmlns:a="http://schemas.openxmlformats.org/drawingml/2006/main">
              <a:ext uri="{FF2B5EF4-FFF2-40B4-BE49-F238E27FC236}">
                <a16:creationId xmlns:a16="http://schemas.microsoft.com/office/drawing/2014/main" id="{C33D57C4-19ED-4CAF-B04D-DC067FD453DB}"/>
              </a:ext>
            </a:extLst>
          </p:cNvPr>
          <p:cNvSpPr>
            <a:spLocks xmlns:a="http://schemas.openxmlformats.org/drawingml/2006/main" noGrp="1"/>
          </p:cNvSpPr>
          <p:nvPr/>
        </p:nvSpPr>
        <p:spPr>
          <a:xfrm xmlns:a="http://schemas.openxmlformats.org/drawingml/2006/main">
            <a:off x="6067425" y="36861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8" name="v16-s2-discovery">
            <a:extLst xmlns:a="http://schemas.openxmlformats.org/drawingml/2006/main">
              <a:ext uri="{FF2B5EF4-FFF2-40B4-BE49-F238E27FC236}">
                <a16:creationId xmlns:a16="http://schemas.microsoft.com/office/drawing/2014/main" id="{850AB8BD-32B9-4795-913D-1AEF4D75CC15}"/>
              </a:ext>
            </a:extLst>
          </p:cNvPr>
          <p:cNvSpPr>
            <a:spLocks xmlns:a="http://schemas.openxmlformats.org/drawingml/2006/main" noGrp="1"/>
          </p:cNvSpPr>
          <p:nvPr/>
        </p:nvSpPr>
        <p:spPr>
          <a:xfrm xmlns:a="http://schemas.openxmlformats.org/drawingml/2006/main">
            <a:off x="6038850" y="3638550"/>
            <a:ext cx="5295900" cy="1428750"/>
          </a:xfrm>
          <a:prstGeom xmlns:a="http://schemas.openxmlformats.org/drawingml/2006/main" prst="roundRect">
            <a:avLst>
              <a:gd name="adj" fmla="val 5333"/>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9" name="v16-s2-discovery-top">
            <a:extLst xmlns:a="http://schemas.openxmlformats.org/drawingml/2006/main">
              <a:ext uri="{FF2B5EF4-FFF2-40B4-BE49-F238E27FC236}">
                <a16:creationId xmlns:a16="http://schemas.microsoft.com/office/drawing/2014/main" id="{32C4C508-D86A-44CE-A99E-F15D2F2017ED}"/>
              </a:ext>
            </a:extLst>
          </p:cNvPr>
          <p:cNvSpPr>
            <a:spLocks xmlns:a="http://schemas.openxmlformats.org/drawingml/2006/main" noGrp="1"/>
          </p:cNvSpPr>
          <p:nvPr/>
        </p:nvSpPr>
        <p:spPr>
          <a:xfrm xmlns:a="http://schemas.openxmlformats.org/drawingml/2006/main">
            <a:off x="6038850" y="3638550"/>
            <a:ext cx="52959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40" name="v16-s2-discovery-eyebrow">
            <a:extLst xmlns:a="http://schemas.openxmlformats.org/drawingml/2006/main">
              <a:ext uri="{FF2B5EF4-FFF2-40B4-BE49-F238E27FC236}">
                <a16:creationId xmlns:a16="http://schemas.microsoft.com/office/drawing/2014/main" id="{206C9870-B00F-4604-A03D-3632D0D82D8B}"/>
              </a:ext>
            </a:extLst>
          </p:cNvPr>
          <p:cNvSpPr>
            <a:spLocks xmlns:a="http://schemas.openxmlformats.org/drawingml/2006/main" noGrp="1"/>
          </p:cNvSpPr>
          <p:nvPr/>
        </p:nvSpPr>
        <p:spPr>
          <a:xfrm xmlns:a="http://schemas.openxmlformats.org/drawingml/2006/main">
            <a:off x="6200775" y="37814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DISCOVER FIRST · CLOSE THE LOCUS</a:t>
            </a:r>
          </a:p>
        </p:txBody>
      </p:sp>
      <p:sp>
        <p:nvSpPr>
          <p:cNvPr id="41" name="v16-s2-discovery-title">
            <a:extLst xmlns:a="http://schemas.openxmlformats.org/drawingml/2006/main">
              <a:ext uri="{FF2B5EF4-FFF2-40B4-BE49-F238E27FC236}">
                <a16:creationId xmlns:a16="http://schemas.microsoft.com/office/drawing/2014/main" id="{E861EA7E-4CAE-4959-8864-43A8DC2BEBF5}"/>
              </a:ext>
            </a:extLst>
          </p:cNvPr>
          <p:cNvSpPr>
            <a:spLocks xmlns:a="http://schemas.openxmlformats.org/drawingml/2006/main" noGrp="1"/>
          </p:cNvSpPr>
          <p:nvPr/>
        </p:nvSpPr>
        <p:spPr>
          <a:xfrm xmlns:a="http://schemas.openxmlformats.org/drawingml/2006/main">
            <a:off x="6200775" y="4000500"/>
            <a:ext cx="4972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Repair + OCP service state</a:t>
            </a:r>
          </a:p>
        </p:txBody>
      </p:sp>
      <p:sp>
        <p:nvSpPr>
          <p:cNvPr id="42" name="v16-s2-discovery-body">
            <a:extLst xmlns:a="http://schemas.openxmlformats.org/drawingml/2006/main">
              <a:ext uri="{FF2B5EF4-FFF2-40B4-BE49-F238E27FC236}">
                <a16:creationId xmlns:a16="http://schemas.microsoft.com/office/drawing/2014/main" id="{464852FD-C978-4A7F-BCCA-B6E2F5E594A5}"/>
              </a:ext>
            </a:extLst>
          </p:cNvPr>
          <p:cNvSpPr>
            <a:spLocks xmlns:a="http://schemas.openxmlformats.org/drawingml/2006/main" noGrp="1"/>
          </p:cNvSpPr>
          <p:nvPr/>
        </p:nvSpPr>
        <p:spPr>
          <a:xfrm xmlns:a="http://schemas.openxmlformats.org/drawingml/2006/main">
            <a:off x="6200775" y="4486275"/>
            <a:ext cx="49720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500" b="0">
                <a:solidFill>
                  <a:srgbClr val="385365"/>
                </a:solidFill>
                <a:latin typeface="Arial"/>
                <a:ea typeface="Arial"/>
                <a:cs typeface="Arial"/>
              </a:rPr>
              <a:t>AI SoC repair, HBM remap, UBB FRU and ELSFP saved configuration</a:t>
            </a:r>
          </a:p>
        </p:txBody>
      </p:sp>
      <p:sp>
        <p:nvSpPr>
          <p:cNvPr id="43" name="v16-s2-decision">
            <a:extLst xmlns:a="http://schemas.openxmlformats.org/drawingml/2006/main">
              <a:ext uri="{FF2B5EF4-FFF2-40B4-BE49-F238E27FC236}">
                <a16:creationId xmlns:a16="http://schemas.microsoft.com/office/drawing/2014/main" id="{68FFECD6-14C6-4B35-B955-D55C267D0701}"/>
              </a:ext>
            </a:extLst>
          </p:cNvPr>
          <p:cNvSpPr>
            <a:spLocks xmlns:a="http://schemas.openxmlformats.org/drawingml/2006/main" noGrp="1"/>
          </p:cNvSpPr>
          <p:nvPr/>
        </p:nvSpPr>
        <p:spPr>
          <a:xfrm xmlns:a="http://schemas.openxmlformats.org/drawingml/2006/main">
            <a:off x="514350" y="5353050"/>
            <a:ext cx="10820400" cy="781050"/>
          </a:xfrm>
          <a:prstGeom xmlns:a="http://schemas.openxmlformats.org/drawingml/2006/main" prst="roundRect">
            <a:avLst>
              <a:gd name="adj" fmla="val 9756"/>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4" name="v16-s2-decision-label">
            <a:extLst xmlns:a="http://schemas.openxmlformats.org/drawingml/2006/main">
              <a:ext uri="{FF2B5EF4-FFF2-40B4-BE49-F238E27FC236}">
                <a16:creationId xmlns:a16="http://schemas.microsoft.com/office/drawing/2014/main" id="{05EF2FD9-D935-4B9E-BA62-338A357E68C3}"/>
              </a:ext>
            </a:extLst>
          </p:cNvPr>
          <p:cNvSpPr>
            <a:spLocks xmlns:a="http://schemas.openxmlformats.org/drawingml/2006/main" noGrp="1"/>
          </p:cNvSpPr>
          <p:nvPr/>
        </p:nvSpPr>
        <p:spPr>
          <a:xfrm xmlns:a="http://schemas.openxmlformats.org/drawingml/2006/main">
            <a:off x="685800" y="5448300"/>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71ECE3"/>
                </a:solidFill>
                <a:latin typeface="Consolas"/>
                <a:ea typeface="Consolas"/>
                <a:cs typeface="Consolas"/>
              </a:defRPr>
            </a:pPr>
            <a:r>
              <a:rPr sz="920" b="1">
                <a:solidFill>
                  <a:srgbClr val="71ECE3"/>
                </a:solidFill>
                <a:latin typeface="Consolas"/>
                <a:ea typeface="Consolas"/>
                <a:cs typeface="Consolas"/>
              </a:rPr>
              <a:t>REQUESTED TODAY</a:t>
            </a:r>
          </a:p>
        </p:txBody>
      </p:sp>
      <p:sp>
        <p:nvSpPr>
          <p:cNvPr id="45" name="v16-s2-decision-text">
            <a:extLst xmlns:a="http://schemas.openxmlformats.org/drawingml/2006/main">
              <a:ext uri="{FF2B5EF4-FFF2-40B4-BE49-F238E27FC236}">
                <a16:creationId xmlns:a16="http://schemas.microsoft.com/office/drawing/2014/main" id="{D78B0D03-5C17-4225-93C5-137625979E21}"/>
              </a:ext>
            </a:extLst>
          </p:cNvPr>
          <p:cNvSpPr>
            <a:spLocks xmlns:a="http://schemas.openxmlformats.org/drawingml/2006/main" noGrp="1"/>
          </p:cNvSpPr>
          <p:nvPr/>
        </p:nvSpPr>
        <p:spPr>
          <a:xfrm xmlns:a="http://schemas.openxmlformats.org/drawingml/2006/main">
            <a:off x="685800" y="5629275"/>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620" b="1">
                <a:solidFill>
                  <a:srgbClr val="FFFFFF"/>
                </a:solidFill>
                <a:latin typeface="Arial"/>
                <a:ea typeface="Arial"/>
                <a:cs typeface="Arial"/>
              </a:defRPr>
            </a:pPr>
            <a:r>
              <a:rPr sz="1430" b="1">
                <a:solidFill>
                  <a:srgbClr val="FFFFFF"/>
                </a:solidFill>
                <a:latin typeface="Arial"/>
              </a:rPr>
              <a:t>Leadership decision: authorize five target-bound qualification briefs</a:t>
            </a:r>
          </a:p>
        </p:txBody>
      </p:sp>
    </p:spTree>
    <p:extLst>
      <p:ext uri="{BB962C8B-B14F-4D97-AF65-F5344CB8AC3E}">
        <p14:creationId xmlns:p14="http://schemas.microsoft.com/office/powerpoint/2010/main" val="1011945476"/>
      </p:ext>
    </p:extLst>
  </p:cSld>
</p:sld>
</file>

<file path=ppt/slides/slide3.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72" name="v16-bg-3">
            <a:extLst xmlns:a="http://schemas.openxmlformats.org/drawingml/2006/main">
              <a:ext uri="{FF2B5EF4-FFF2-40B4-BE49-F238E27FC236}">
                <a16:creationId xmlns:a16="http://schemas.microsoft.com/office/drawing/2014/main" id="{3D742B07-7A39-4B26-BAFF-231B91F0132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3">
            <a:extLst xmlns:a="http://schemas.openxmlformats.org/drawingml/2006/main">
              <a:ext uri="{FF2B5EF4-FFF2-40B4-BE49-F238E27FC236}">
                <a16:creationId xmlns:a16="http://schemas.microsoft.com/office/drawing/2014/main" id="{DE1E84EB-4F5C-4364-B582-5EA911BA0E91}"/>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3">
            <a:extLst xmlns:a="http://schemas.openxmlformats.org/drawingml/2006/main">
              <a:ext uri="{FF2B5EF4-FFF2-40B4-BE49-F238E27FC236}">
                <a16:creationId xmlns:a16="http://schemas.microsoft.com/office/drawing/2014/main" id="{21F0F5AD-86C7-4580-A889-B5DD30682E77}"/>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02 · STATE-SELECTION GRAMMAR</a:t>
            </a:r>
          </a:p>
        </p:txBody>
      </p:sp>
      <p:sp>
        <p:nvSpPr>
          <p:cNvPr id="4" name="v16-title-3">
            <a:extLst xmlns:a="http://schemas.openxmlformats.org/drawingml/2006/main">
              <a:ext uri="{FF2B5EF4-FFF2-40B4-BE49-F238E27FC236}">
                <a16:creationId xmlns:a16="http://schemas.microsoft.com/office/drawing/2014/main" id="{397D4108-0CB2-4F9C-A327-B1E800EBA04D}"/>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Memory Choice Follows State Lifetime—</a:t>
            </a:r>
          </a:p>
          <a:p xmlns:a="http://schemas.openxmlformats.org/drawingml/2006/main">
            <a:pPr>
              <a:spcBef>
                <a:spcPts val="0"/>
              </a:spcBef>
              <a:spcAft>
                <a:spcPts val="200"/>
              </a:spcAft>
            </a:pPr>
            <a:r>
              <a:rPr sz="3000" b="1">
                <a:solidFill>
                  <a:srgbClr val="0A2434"/>
                </a:solidFill>
                <a:latin typeface="Arial"/>
              </a:rPr>
              <a:t>Not the Application Label</a:t>
            </a:r>
          </a:p>
        </p:txBody>
      </p:sp>
      <p:sp>
        <p:nvSpPr>
          <p:cNvPr id="5" name="v16-subtitle-3">
            <a:extLst xmlns:a="http://schemas.openxmlformats.org/drawingml/2006/main">
              <a:ext uri="{FF2B5EF4-FFF2-40B4-BE49-F238E27FC236}">
                <a16:creationId xmlns:a16="http://schemas.microsoft.com/office/drawing/2014/main" id="{1DB2BE95-550E-4258-BC02-CE9011835543}"/>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Start with the state object, then write cadence, retention and recovery</a:t>
            </a:r>
          </a:p>
        </p:txBody>
      </p:sp>
      <p:sp>
        <p:nvSpPr>
          <p:cNvPr id="6" name="motif-line-0">
            <a:extLst xmlns:a="http://schemas.openxmlformats.org/drawingml/2006/main">
              <a:ext uri="{FF2B5EF4-FFF2-40B4-BE49-F238E27FC236}">
                <a16:creationId xmlns:a16="http://schemas.microsoft.com/office/drawing/2014/main" id="{3CB35A74-14AD-450B-A80E-C8FC38911821}"/>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5A852DAF-57BA-4767-82B3-0359359BB934}"/>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FF156F92-12E6-4CED-B7F3-654A9941007A}"/>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1514285D-9140-4C5F-A1C9-335EAE352BDA}"/>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3205141B-A3EF-40B1-867D-3B3AC359617A}"/>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4B4766FB-D45B-4DF6-B13E-4C35BF6989F0}"/>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EA5C3BA1-E1B8-4EA6-B0FD-7F1701B4A2CC}"/>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9662FC25-3B20-4964-A3B0-62F33AD8C215}"/>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BAFBCD14-E0A9-41AC-852C-7A9064F828FD}"/>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CFEABD99-3032-4E68-A645-7FC6568BF03B}"/>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3">
            <a:extLst xmlns:a="http://schemas.openxmlformats.org/drawingml/2006/main">
              <a:ext uri="{FF2B5EF4-FFF2-40B4-BE49-F238E27FC236}">
                <a16:creationId xmlns:a16="http://schemas.microsoft.com/office/drawing/2014/main" id="{84657602-98C0-463F-89FA-0D7B763CED5F}"/>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3">
            <a:extLst xmlns:a="http://schemas.openxmlformats.org/drawingml/2006/main">
              <a:ext uri="{FF2B5EF4-FFF2-40B4-BE49-F238E27FC236}">
                <a16:creationId xmlns:a16="http://schemas.microsoft.com/office/drawing/2014/main" id="{A25A7D44-E50E-438F-9A8A-1B9BB663C2F3}"/>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3">
            <a:extLst xmlns:a="http://schemas.openxmlformats.org/drawingml/2006/main">
              <a:ext uri="{FF2B5EF4-FFF2-40B4-BE49-F238E27FC236}">
                <a16:creationId xmlns:a16="http://schemas.microsoft.com/office/drawing/2014/main" id="{8DAEA86C-8BE2-41B6-ACFF-59630DE1CD04}"/>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03</a:t>
            </a:r>
          </a:p>
        </p:txBody>
      </p:sp>
      <p:sp>
        <p:nvSpPr>
          <p:cNvPr id="19" name="v16-s3-object-shadow">
            <a:extLst xmlns:a="http://schemas.openxmlformats.org/drawingml/2006/main">
              <a:ext uri="{FF2B5EF4-FFF2-40B4-BE49-F238E27FC236}">
                <a16:creationId xmlns:a16="http://schemas.microsoft.com/office/drawing/2014/main" id="{F7C6E64B-BB20-4741-B49C-012482FFD57D}"/>
              </a:ext>
            </a:extLst>
          </p:cNvPr>
          <p:cNvSpPr>
            <a:spLocks xmlns:a="http://schemas.openxmlformats.org/drawingml/2006/main" noGrp="1"/>
          </p:cNvSpPr>
          <p:nvPr/>
        </p:nvSpPr>
        <p:spPr>
          <a:xfrm xmlns:a="http://schemas.openxmlformats.org/drawingml/2006/main">
            <a:off x="542925" y="2085975"/>
            <a:ext cx="2190750" cy="1219200"/>
          </a:xfrm>
          <a:prstGeom xmlns:a="http://schemas.openxmlformats.org/drawingml/2006/main" prst="roundRect">
            <a:avLst>
              <a:gd name="adj" fmla="val 6250"/>
            </a:avLst>
          </a:prstGeom>
          <a:solidFill xmlns:a="http://schemas.openxmlformats.org/drawingml/2006/main">
            <a:srgbClr val="ECF2F4"/>
          </a:solidFill>
          <a:ln xmlns:a="http://schemas.openxmlformats.org/drawingml/2006/main" w="0">
            <a:noFill/>
            <a:prstDash val="solid"/>
          </a:ln>
        </p:spPr>
      </p:sp>
      <p:sp>
        <p:nvSpPr>
          <p:cNvPr id="20" name="v16-s3-object">
            <a:extLst xmlns:a="http://schemas.openxmlformats.org/drawingml/2006/main">
              <a:ext uri="{FF2B5EF4-FFF2-40B4-BE49-F238E27FC236}">
                <a16:creationId xmlns:a16="http://schemas.microsoft.com/office/drawing/2014/main" id="{8CD7463E-2C3C-4BE7-A3DC-469C1BD40421}"/>
              </a:ext>
            </a:extLst>
          </p:cNvPr>
          <p:cNvSpPr>
            <a:spLocks xmlns:a="http://schemas.openxmlformats.org/drawingml/2006/main" noGrp="1"/>
          </p:cNvSpPr>
          <p:nvPr/>
        </p:nvSpPr>
        <p:spPr>
          <a:xfrm xmlns:a="http://schemas.openxmlformats.org/drawingml/2006/main">
            <a:off x="514350" y="2038350"/>
            <a:ext cx="2190750" cy="1219200"/>
          </a:xfrm>
          <a:prstGeom xmlns:a="http://schemas.openxmlformats.org/drawingml/2006/main" prst="roundRect">
            <a:avLst>
              <a:gd name="adj" fmla="val 6250"/>
            </a:avLst>
          </a:prstGeom>
          <a:solidFill xmlns:a="http://schemas.openxmlformats.org/drawingml/2006/main">
            <a:srgbClr val="E4F4F4"/>
          </a:solidFill>
          <a:ln xmlns:a="http://schemas.openxmlformats.org/drawingml/2006/main" w="10478">
            <a:solidFill>
              <a:srgbClr val="C9D6DA"/>
            </a:solidFill>
            <a:prstDash val="solid"/>
          </a:ln>
        </p:spPr>
      </p:sp>
      <p:sp>
        <p:nvSpPr>
          <p:cNvPr id="21" name="v16-s3-object-top">
            <a:extLst xmlns:a="http://schemas.openxmlformats.org/drawingml/2006/main">
              <a:ext uri="{FF2B5EF4-FFF2-40B4-BE49-F238E27FC236}">
                <a16:creationId xmlns:a16="http://schemas.microsoft.com/office/drawing/2014/main" id="{E15CE77E-D34A-4D9D-AC30-1DFEB1CF4B88}"/>
              </a:ext>
            </a:extLst>
          </p:cNvPr>
          <p:cNvSpPr>
            <a:spLocks xmlns:a="http://schemas.openxmlformats.org/drawingml/2006/main" noGrp="1"/>
          </p:cNvSpPr>
          <p:nvPr/>
        </p:nvSpPr>
        <p:spPr>
          <a:xfrm xmlns:a="http://schemas.openxmlformats.org/drawingml/2006/main">
            <a:off x="514350" y="2038350"/>
            <a:ext cx="2190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2" name="v16-s3-cadence-shadow">
            <a:extLst xmlns:a="http://schemas.openxmlformats.org/drawingml/2006/main">
              <a:ext uri="{FF2B5EF4-FFF2-40B4-BE49-F238E27FC236}">
                <a16:creationId xmlns:a16="http://schemas.microsoft.com/office/drawing/2014/main" id="{F04D10EF-3562-47FB-951F-4DDC3A709078}"/>
              </a:ext>
            </a:extLst>
          </p:cNvPr>
          <p:cNvSpPr>
            <a:spLocks xmlns:a="http://schemas.openxmlformats.org/drawingml/2006/main" noGrp="1"/>
          </p:cNvSpPr>
          <p:nvPr/>
        </p:nvSpPr>
        <p:spPr>
          <a:xfrm xmlns:a="http://schemas.openxmlformats.org/drawingml/2006/main">
            <a:off x="3171825" y="2085975"/>
            <a:ext cx="2190750" cy="1219200"/>
          </a:xfrm>
          <a:prstGeom xmlns:a="http://schemas.openxmlformats.org/drawingml/2006/main" prst="roundRect">
            <a:avLst>
              <a:gd name="adj" fmla="val 6250"/>
            </a:avLst>
          </a:prstGeom>
          <a:solidFill xmlns:a="http://schemas.openxmlformats.org/drawingml/2006/main">
            <a:srgbClr val="ECF2F4"/>
          </a:solidFill>
          <a:ln xmlns:a="http://schemas.openxmlformats.org/drawingml/2006/main" w="0">
            <a:noFill/>
            <a:prstDash val="solid"/>
          </a:ln>
        </p:spPr>
      </p:sp>
      <p:sp>
        <p:nvSpPr>
          <p:cNvPr id="23" name="v16-s3-cadence">
            <a:extLst xmlns:a="http://schemas.openxmlformats.org/drawingml/2006/main">
              <a:ext uri="{FF2B5EF4-FFF2-40B4-BE49-F238E27FC236}">
                <a16:creationId xmlns:a16="http://schemas.microsoft.com/office/drawing/2014/main" id="{80EE2875-B224-48E2-93FD-53F6436FAFFD}"/>
              </a:ext>
            </a:extLst>
          </p:cNvPr>
          <p:cNvSpPr>
            <a:spLocks xmlns:a="http://schemas.openxmlformats.org/drawingml/2006/main" noGrp="1"/>
          </p:cNvSpPr>
          <p:nvPr/>
        </p:nvSpPr>
        <p:spPr>
          <a:xfrm xmlns:a="http://schemas.openxmlformats.org/drawingml/2006/main">
            <a:off x="3143250" y="2038350"/>
            <a:ext cx="2190750" cy="1219200"/>
          </a:xfrm>
          <a:prstGeom xmlns:a="http://schemas.openxmlformats.org/drawingml/2006/main" prst="roundRect">
            <a:avLst>
              <a:gd name="adj" fmla="val 6250"/>
            </a:avLst>
          </a:prstGeom>
          <a:solidFill xmlns:a="http://schemas.openxmlformats.org/drawingml/2006/main">
            <a:srgbClr val="E4F4F4"/>
          </a:solidFill>
          <a:ln xmlns:a="http://schemas.openxmlformats.org/drawingml/2006/main" w="10478">
            <a:solidFill>
              <a:srgbClr val="C9D6DA"/>
            </a:solidFill>
            <a:prstDash val="solid"/>
          </a:ln>
        </p:spPr>
      </p:sp>
      <p:sp>
        <p:nvSpPr>
          <p:cNvPr id="24" name="v16-s3-cadence-top">
            <a:extLst xmlns:a="http://schemas.openxmlformats.org/drawingml/2006/main">
              <a:ext uri="{FF2B5EF4-FFF2-40B4-BE49-F238E27FC236}">
                <a16:creationId xmlns:a16="http://schemas.microsoft.com/office/drawing/2014/main" id="{7925B29E-26AB-4CA6-809D-E582F93EAEF1}"/>
              </a:ext>
            </a:extLst>
          </p:cNvPr>
          <p:cNvSpPr>
            <a:spLocks xmlns:a="http://schemas.openxmlformats.org/drawingml/2006/main" noGrp="1"/>
          </p:cNvSpPr>
          <p:nvPr/>
        </p:nvSpPr>
        <p:spPr>
          <a:xfrm xmlns:a="http://schemas.openxmlformats.org/drawingml/2006/main">
            <a:off x="3143250" y="2038350"/>
            <a:ext cx="2190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5" name="v16-s3-retention-shadow">
            <a:extLst xmlns:a="http://schemas.openxmlformats.org/drawingml/2006/main">
              <a:ext uri="{FF2B5EF4-FFF2-40B4-BE49-F238E27FC236}">
                <a16:creationId xmlns:a16="http://schemas.microsoft.com/office/drawing/2014/main" id="{B158E3E7-6C98-4E66-BB46-04DFE1E1E931}"/>
              </a:ext>
            </a:extLst>
          </p:cNvPr>
          <p:cNvSpPr>
            <a:spLocks xmlns:a="http://schemas.openxmlformats.org/drawingml/2006/main" noGrp="1"/>
          </p:cNvSpPr>
          <p:nvPr/>
        </p:nvSpPr>
        <p:spPr>
          <a:xfrm xmlns:a="http://schemas.openxmlformats.org/drawingml/2006/main">
            <a:off x="5800725" y="2085975"/>
            <a:ext cx="2190750" cy="1219200"/>
          </a:xfrm>
          <a:prstGeom xmlns:a="http://schemas.openxmlformats.org/drawingml/2006/main" prst="roundRect">
            <a:avLst>
              <a:gd name="adj" fmla="val 6250"/>
            </a:avLst>
          </a:prstGeom>
          <a:solidFill xmlns:a="http://schemas.openxmlformats.org/drawingml/2006/main">
            <a:srgbClr val="ECF2F4"/>
          </a:solidFill>
          <a:ln xmlns:a="http://schemas.openxmlformats.org/drawingml/2006/main" w="0">
            <a:noFill/>
            <a:prstDash val="solid"/>
          </a:ln>
        </p:spPr>
      </p:sp>
      <p:sp>
        <p:nvSpPr>
          <p:cNvPr id="26" name="v16-s3-retention">
            <a:extLst xmlns:a="http://schemas.openxmlformats.org/drawingml/2006/main">
              <a:ext uri="{FF2B5EF4-FFF2-40B4-BE49-F238E27FC236}">
                <a16:creationId xmlns:a16="http://schemas.microsoft.com/office/drawing/2014/main" id="{1C3883B5-ED81-4D7E-8F8D-C056E17BC03E}"/>
              </a:ext>
            </a:extLst>
          </p:cNvPr>
          <p:cNvSpPr>
            <a:spLocks xmlns:a="http://schemas.openxmlformats.org/drawingml/2006/main" noGrp="1"/>
          </p:cNvSpPr>
          <p:nvPr/>
        </p:nvSpPr>
        <p:spPr>
          <a:xfrm xmlns:a="http://schemas.openxmlformats.org/drawingml/2006/main">
            <a:off x="5772150" y="2038350"/>
            <a:ext cx="2190750" cy="1219200"/>
          </a:xfrm>
          <a:prstGeom xmlns:a="http://schemas.openxmlformats.org/drawingml/2006/main" prst="roundRect">
            <a:avLst>
              <a:gd name="adj" fmla="val 6250"/>
            </a:avLst>
          </a:prstGeom>
          <a:solidFill xmlns:a="http://schemas.openxmlformats.org/drawingml/2006/main">
            <a:srgbClr val="F7EFE6"/>
          </a:solidFill>
          <a:ln xmlns:a="http://schemas.openxmlformats.org/drawingml/2006/main" w="10478">
            <a:solidFill>
              <a:srgbClr val="C9D6DA"/>
            </a:solidFill>
            <a:prstDash val="solid"/>
          </a:ln>
        </p:spPr>
      </p:sp>
      <p:sp>
        <p:nvSpPr>
          <p:cNvPr id="27" name="v16-s3-retention-top">
            <a:extLst xmlns:a="http://schemas.openxmlformats.org/drawingml/2006/main">
              <a:ext uri="{FF2B5EF4-FFF2-40B4-BE49-F238E27FC236}">
                <a16:creationId xmlns:a16="http://schemas.microsoft.com/office/drawing/2014/main" id="{5AE29FEE-6095-482E-8EBB-264E9D09E540}"/>
              </a:ext>
            </a:extLst>
          </p:cNvPr>
          <p:cNvSpPr>
            <a:spLocks xmlns:a="http://schemas.openxmlformats.org/drawingml/2006/main" noGrp="1"/>
          </p:cNvSpPr>
          <p:nvPr/>
        </p:nvSpPr>
        <p:spPr>
          <a:xfrm xmlns:a="http://schemas.openxmlformats.org/drawingml/2006/main">
            <a:off x="5772150" y="2038350"/>
            <a:ext cx="219075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sp>
      <p:sp>
        <p:nvSpPr>
          <p:cNvPr id="28" name="v16-s3-route-shadow">
            <a:extLst xmlns:a="http://schemas.openxmlformats.org/drawingml/2006/main">
              <a:ext uri="{FF2B5EF4-FFF2-40B4-BE49-F238E27FC236}">
                <a16:creationId xmlns:a16="http://schemas.microsoft.com/office/drawing/2014/main" id="{00530EE2-4B8C-4C04-B984-997A8889646F}"/>
              </a:ext>
            </a:extLst>
          </p:cNvPr>
          <p:cNvSpPr>
            <a:spLocks xmlns:a="http://schemas.openxmlformats.org/drawingml/2006/main" noGrp="1"/>
          </p:cNvSpPr>
          <p:nvPr/>
        </p:nvSpPr>
        <p:spPr>
          <a:xfrm xmlns:a="http://schemas.openxmlformats.org/drawingml/2006/main">
            <a:off x="8429625" y="2085975"/>
            <a:ext cx="2933700" cy="1219200"/>
          </a:xfrm>
          <a:prstGeom xmlns:a="http://schemas.openxmlformats.org/drawingml/2006/main" prst="roundRect">
            <a:avLst>
              <a:gd name="adj" fmla="val 6250"/>
            </a:avLst>
          </a:prstGeom>
          <a:solidFill xmlns:a="http://schemas.openxmlformats.org/drawingml/2006/main">
            <a:srgbClr val="04131E"/>
          </a:solidFill>
          <a:ln xmlns:a="http://schemas.openxmlformats.org/drawingml/2006/main" w="0">
            <a:noFill/>
            <a:prstDash val="solid"/>
          </a:ln>
        </p:spPr>
      </p:sp>
      <p:sp>
        <p:nvSpPr>
          <p:cNvPr id="29" name="v16-s3-route">
            <a:extLst xmlns:a="http://schemas.openxmlformats.org/drawingml/2006/main">
              <a:ext uri="{FF2B5EF4-FFF2-40B4-BE49-F238E27FC236}">
                <a16:creationId xmlns:a16="http://schemas.microsoft.com/office/drawing/2014/main" id="{F0B66FE4-0DB7-4570-847D-F957AC21570B}"/>
              </a:ext>
            </a:extLst>
          </p:cNvPr>
          <p:cNvSpPr>
            <a:spLocks xmlns:a="http://schemas.openxmlformats.org/drawingml/2006/main" noGrp="1"/>
          </p:cNvSpPr>
          <p:nvPr/>
        </p:nvSpPr>
        <p:spPr>
          <a:xfrm xmlns:a="http://schemas.openxmlformats.org/drawingml/2006/main">
            <a:off x="8401050" y="2038350"/>
            <a:ext cx="2933700" cy="1219200"/>
          </a:xfrm>
          <a:prstGeom xmlns:a="http://schemas.openxmlformats.org/drawingml/2006/main" prst="roundRect">
            <a:avLst>
              <a:gd name="adj" fmla="val 6250"/>
            </a:avLst>
          </a:prstGeom>
          <a:solidFill xmlns:a="http://schemas.openxmlformats.org/drawingml/2006/main">
            <a:srgbClr val="061B29"/>
          </a:solidFill>
          <a:ln xmlns:a="http://schemas.openxmlformats.org/drawingml/2006/main" w="0">
            <a:noFill/>
            <a:prstDash val="solid"/>
          </a:ln>
        </p:spPr>
      </p:sp>
      <p:sp>
        <p:nvSpPr>
          <p:cNvPr id="30" name="v16-s3-route-top">
            <a:extLst xmlns:a="http://schemas.openxmlformats.org/drawingml/2006/main">
              <a:ext uri="{FF2B5EF4-FFF2-40B4-BE49-F238E27FC236}">
                <a16:creationId xmlns:a16="http://schemas.microsoft.com/office/drawing/2014/main" id="{1646B4D0-64E0-4B59-B509-1BEABFF65400}"/>
              </a:ext>
            </a:extLst>
          </p:cNvPr>
          <p:cNvSpPr>
            <a:spLocks xmlns:a="http://schemas.openxmlformats.org/drawingml/2006/main" noGrp="1"/>
          </p:cNvSpPr>
          <p:nvPr/>
        </p:nvSpPr>
        <p:spPr>
          <a:xfrm xmlns:a="http://schemas.openxmlformats.org/drawingml/2006/main">
            <a:off x="8401050" y="2038350"/>
            <a:ext cx="29337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cxnSp>
        <p:nvCxnSpPr>
          <p:cNvPr id="102" name=""/>
          <p:cNvCxnSpPr>
            <a:stCxn xmlns:a="http://schemas.openxmlformats.org/drawingml/2006/main" id="20" idx="3"/>
            <a:endCxn xmlns:a="http://schemas.openxmlformats.org/drawingml/2006/main" id="23" idx="1"/>
          </p:cNvCxnSpPr>
          <p:nvPr/>
        </p:nvCxnSpPr>
        <p:spPr>
          <a:xfrm xmlns:a="http://schemas.openxmlformats.org/drawingml/2006/main">
            <a:off x="2705100" y="2647950"/>
            <a:ext cx="438150" cy="0"/>
          </a:xfrm>
          <a:prstGeom xmlns:a="http://schemas.openxmlformats.org/drawingml/2006/main" prst="straightConnector1">
            <a:avLst/>
          </a:prstGeom>
          <a:ln xmlns:a="http://schemas.openxmlformats.org/drawingml/2006/main" w="19050" cap="rnd">
            <a:solidFill>
              <a:srgbClr val="087A7A"/>
            </a:solidFill>
            <a:prstDash val="solid"/>
            <a:round/>
            <a:tailEnd type="arrow" w="sm" len="sm"/>
          </a:ln>
        </p:spPr>
      </p:cxnSp>
      <p:cxnSp>
        <p:nvCxnSpPr>
          <p:cNvPr id="103" name=""/>
          <p:cNvCxnSpPr>
            <a:stCxn xmlns:a="http://schemas.openxmlformats.org/drawingml/2006/main" id="23" idx="3"/>
            <a:endCxn xmlns:a="http://schemas.openxmlformats.org/drawingml/2006/main" id="26" idx="1"/>
          </p:cNvCxnSpPr>
          <p:nvPr/>
        </p:nvCxnSpPr>
        <p:spPr>
          <a:xfrm xmlns:a="http://schemas.openxmlformats.org/drawingml/2006/main">
            <a:off x="5334000" y="2647950"/>
            <a:ext cx="438150" cy="0"/>
          </a:xfrm>
          <a:prstGeom xmlns:a="http://schemas.openxmlformats.org/drawingml/2006/main" prst="straightConnector1">
            <a:avLst/>
          </a:prstGeom>
          <a:ln xmlns:a="http://schemas.openxmlformats.org/drawingml/2006/main" w="19050" cap="rnd">
            <a:solidFill>
              <a:srgbClr val="C78A4B"/>
            </a:solidFill>
            <a:prstDash val="solid"/>
            <a:round/>
            <a:tailEnd type="arrow" w="sm" len="sm"/>
          </a:ln>
        </p:spPr>
      </p:cxnSp>
      <p:cxnSp>
        <p:nvCxnSpPr>
          <p:cNvPr id="104" name=""/>
          <p:cNvCxnSpPr>
            <a:stCxn xmlns:a="http://schemas.openxmlformats.org/drawingml/2006/main" id="26" idx="3"/>
            <a:endCxn xmlns:a="http://schemas.openxmlformats.org/drawingml/2006/main" id="29" idx="1"/>
          </p:cNvCxnSpPr>
          <p:nvPr/>
        </p:nvCxnSpPr>
        <p:spPr>
          <a:xfrm xmlns:a="http://schemas.openxmlformats.org/drawingml/2006/main">
            <a:off x="7962900" y="2647950"/>
            <a:ext cx="438150" cy="0"/>
          </a:xfrm>
          <a:prstGeom xmlns:a="http://schemas.openxmlformats.org/drawingml/2006/main" prst="straightConnector1">
            <a:avLst/>
          </a:prstGeom>
          <a:ln xmlns:a="http://schemas.openxmlformats.org/drawingml/2006/main" w="19050" cap="rnd">
            <a:solidFill>
              <a:srgbClr val="2B9D7A"/>
            </a:solidFill>
            <a:prstDash val="solid"/>
            <a:round/>
            <a:tailEnd type="arrow" w="sm" len="sm"/>
          </a:ln>
        </p:spPr>
      </p:cxnSp>
      <p:sp>
        <p:nvSpPr>
          <p:cNvPr id="34" name="v16-s3-object-eyebrow">
            <a:extLst xmlns:a="http://schemas.openxmlformats.org/drawingml/2006/main">
              <a:ext uri="{FF2B5EF4-FFF2-40B4-BE49-F238E27FC236}">
                <a16:creationId xmlns:a16="http://schemas.microsoft.com/office/drawing/2014/main" id="{615EB255-7760-4499-B921-A1C6BB71E513}"/>
              </a:ext>
            </a:extLst>
          </p:cNvPr>
          <p:cNvSpPr>
            <a:spLocks xmlns:a="http://schemas.openxmlformats.org/drawingml/2006/main" noGrp="1"/>
          </p:cNvSpPr>
          <p:nvPr/>
        </p:nvSpPr>
        <p:spPr>
          <a:xfrm xmlns:a="http://schemas.openxmlformats.org/drawingml/2006/main">
            <a:off x="676275" y="2181225"/>
            <a:ext cx="186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01 · DEFINE</a:t>
            </a:r>
          </a:p>
        </p:txBody>
      </p:sp>
      <p:sp>
        <p:nvSpPr>
          <p:cNvPr id="35" name="v16-s3-object-title">
            <a:extLst xmlns:a="http://schemas.openxmlformats.org/drawingml/2006/main">
              <a:ext uri="{FF2B5EF4-FFF2-40B4-BE49-F238E27FC236}">
                <a16:creationId xmlns:a16="http://schemas.microsoft.com/office/drawing/2014/main" id="{602FC42A-4257-4018-B1BF-FE7A10619481}"/>
              </a:ext>
            </a:extLst>
          </p:cNvPr>
          <p:cNvSpPr>
            <a:spLocks xmlns:a="http://schemas.openxmlformats.org/drawingml/2006/main" noGrp="1"/>
          </p:cNvSpPr>
          <p:nvPr/>
        </p:nvSpPr>
        <p:spPr>
          <a:xfrm xmlns:a="http://schemas.openxmlformats.org/drawingml/2006/main">
            <a:off x="676275" y="2400300"/>
            <a:ext cx="1866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STATE OBJECT</a:t>
            </a:r>
          </a:p>
        </p:txBody>
      </p:sp>
      <p:sp>
        <p:nvSpPr>
          <p:cNvPr id="36" name="v16-s3-object-body">
            <a:extLst xmlns:a="http://schemas.openxmlformats.org/drawingml/2006/main">
              <a:ext uri="{FF2B5EF4-FFF2-40B4-BE49-F238E27FC236}">
                <a16:creationId xmlns:a16="http://schemas.microsoft.com/office/drawing/2014/main" id="{CD287BA7-9CEF-47D3-9675-03068F4CB55F}"/>
              </a:ext>
            </a:extLst>
          </p:cNvPr>
          <p:cNvSpPr>
            <a:spLocks xmlns:a="http://schemas.openxmlformats.org/drawingml/2006/main" noGrp="1"/>
          </p:cNvSpPr>
          <p:nvPr/>
        </p:nvSpPr>
        <p:spPr>
          <a:xfrm xmlns:a="http://schemas.openxmlformats.org/drawingml/2006/main">
            <a:off x="676275" y="270510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identity · trim · map · policy</a:t>
            </a:r>
          </a:p>
        </p:txBody>
      </p:sp>
      <p:sp>
        <p:nvSpPr>
          <p:cNvPr id="37" name="v16-s3-cadence-eyebrow">
            <a:extLst xmlns:a="http://schemas.openxmlformats.org/drawingml/2006/main">
              <a:ext uri="{FF2B5EF4-FFF2-40B4-BE49-F238E27FC236}">
                <a16:creationId xmlns:a16="http://schemas.microsoft.com/office/drawing/2014/main" id="{D642A85A-15C5-4D44-A423-EBB98E5CA3CD}"/>
              </a:ext>
            </a:extLst>
          </p:cNvPr>
          <p:cNvSpPr>
            <a:spLocks xmlns:a="http://schemas.openxmlformats.org/drawingml/2006/main" noGrp="1"/>
          </p:cNvSpPr>
          <p:nvPr/>
        </p:nvSpPr>
        <p:spPr>
          <a:xfrm xmlns:a="http://schemas.openxmlformats.org/drawingml/2006/main">
            <a:off x="3305175" y="2181225"/>
            <a:ext cx="186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02 · COUNT</a:t>
            </a:r>
          </a:p>
        </p:txBody>
      </p:sp>
      <p:sp>
        <p:nvSpPr>
          <p:cNvPr id="38" name="v16-s3-cadence-title">
            <a:extLst xmlns:a="http://schemas.openxmlformats.org/drawingml/2006/main">
              <a:ext uri="{FF2B5EF4-FFF2-40B4-BE49-F238E27FC236}">
                <a16:creationId xmlns:a16="http://schemas.microsoft.com/office/drawing/2014/main" id="{DA3E180B-CD59-48B0-91C4-8FF659C194F9}"/>
              </a:ext>
            </a:extLst>
          </p:cNvPr>
          <p:cNvSpPr>
            <a:spLocks xmlns:a="http://schemas.openxmlformats.org/drawingml/2006/main" noGrp="1"/>
          </p:cNvSpPr>
          <p:nvPr/>
        </p:nvSpPr>
        <p:spPr>
          <a:xfrm xmlns:a="http://schemas.openxmlformats.org/drawingml/2006/main">
            <a:off x="3305175" y="2400300"/>
            <a:ext cx="1866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WRITE CADENCE</a:t>
            </a:r>
          </a:p>
        </p:txBody>
      </p:sp>
      <p:sp>
        <p:nvSpPr>
          <p:cNvPr id="39" name="v16-s3-cadence-body">
            <a:extLst xmlns:a="http://schemas.openxmlformats.org/drawingml/2006/main">
              <a:ext uri="{FF2B5EF4-FFF2-40B4-BE49-F238E27FC236}">
                <a16:creationId xmlns:a16="http://schemas.microsoft.com/office/drawing/2014/main" id="{C02FF9A1-166B-40F1-9044-80AD8401BA25}"/>
              </a:ext>
            </a:extLst>
          </p:cNvPr>
          <p:cNvSpPr>
            <a:spLocks xmlns:a="http://schemas.openxmlformats.org/drawingml/2006/main" noGrp="1"/>
          </p:cNvSpPr>
          <p:nvPr/>
        </p:nvSpPr>
        <p:spPr>
          <a:xfrm xmlns:a="http://schemas.openxmlformats.org/drawingml/2006/main">
            <a:off x="3305175" y="270510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once · append-only · bounded · frequent</a:t>
            </a:r>
          </a:p>
        </p:txBody>
      </p:sp>
      <p:sp>
        <p:nvSpPr>
          <p:cNvPr id="40" name="v16-s3-retention-eyebrow">
            <a:extLst xmlns:a="http://schemas.openxmlformats.org/drawingml/2006/main">
              <a:ext uri="{FF2B5EF4-FFF2-40B4-BE49-F238E27FC236}">
                <a16:creationId xmlns:a16="http://schemas.microsoft.com/office/drawing/2014/main" id="{7F860D6F-CFEA-4BC9-ABB4-6DF1F6178C94}"/>
              </a:ext>
            </a:extLst>
          </p:cNvPr>
          <p:cNvSpPr>
            <a:spLocks xmlns:a="http://schemas.openxmlformats.org/drawingml/2006/main" noGrp="1"/>
          </p:cNvSpPr>
          <p:nvPr/>
        </p:nvSpPr>
        <p:spPr>
          <a:xfrm xmlns:a="http://schemas.openxmlformats.org/drawingml/2006/main">
            <a:off x="5934075" y="2181225"/>
            <a:ext cx="186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03 · BOUND</a:t>
            </a:r>
          </a:p>
        </p:txBody>
      </p:sp>
      <p:sp>
        <p:nvSpPr>
          <p:cNvPr id="41" name="v16-s3-retention-title">
            <a:extLst xmlns:a="http://schemas.openxmlformats.org/drawingml/2006/main">
              <a:ext uri="{FF2B5EF4-FFF2-40B4-BE49-F238E27FC236}">
                <a16:creationId xmlns:a16="http://schemas.microsoft.com/office/drawing/2014/main" id="{A794874F-78A6-451E-8FD8-B03A10B4587C}"/>
              </a:ext>
            </a:extLst>
          </p:cNvPr>
          <p:cNvSpPr>
            <a:spLocks xmlns:a="http://schemas.openxmlformats.org/drawingml/2006/main" noGrp="1"/>
          </p:cNvSpPr>
          <p:nvPr/>
        </p:nvSpPr>
        <p:spPr>
          <a:xfrm xmlns:a="http://schemas.openxmlformats.org/drawingml/2006/main">
            <a:off x="5934075" y="2400300"/>
            <a:ext cx="18669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RETENTION</a:t>
            </a:r>
          </a:p>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 RECOVERY</a:t>
            </a:r>
          </a:p>
        </p:txBody>
      </p:sp>
      <p:sp>
        <p:nvSpPr>
          <p:cNvPr id="42" name="v16-s3-retention-body">
            <a:extLst xmlns:a="http://schemas.openxmlformats.org/drawingml/2006/main">
              <a:ext uri="{FF2B5EF4-FFF2-40B4-BE49-F238E27FC236}">
                <a16:creationId xmlns:a16="http://schemas.microsoft.com/office/drawing/2014/main" id="{CD4D4874-DBC6-4FB5-8F26-A06548B82EA9}"/>
              </a:ext>
            </a:extLst>
          </p:cNvPr>
          <p:cNvSpPr>
            <a:spLocks xmlns:a="http://schemas.openxmlformats.org/drawingml/2006/main" noGrp="1"/>
          </p:cNvSpPr>
          <p:nvPr/>
        </p:nvSpPr>
        <p:spPr>
          <a:xfrm xmlns:a="http://schemas.openxmlformats.org/drawingml/2006/main">
            <a:off x="5934075" y="2886075"/>
            <a:ext cx="1866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PVT · loss · atomicity</a:t>
            </a:r>
          </a:p>
        </p:txBody>
      </p:sp>
      <p:sp>
        <p:nvSpPr>
          <p:cNvPr id="43" name="v16-s3-route-eyebrow">
            <a:extLst xmlns:a="http://schemas.openxmlformats.org/drawingml/2006/main">
              <a:ext uri="{FF2B5EF4-FFF2-40B4-BE49-F238E27FC236}">
                <a16:creationId xmlns:a16="http://schemas.microsoft.com/office/drawing/2014/main" id="{B48D3B55-3F3D-433B-A674-302A14DD1866}"/>
              </a:ext>
            </a:extLst>
          </p:cNvPr>
          <p:cNvSpPr>
            <a:spLocks xmlns:a="http://schemas.openxmlformats.org/drawingml/2006/main" noGrp="1"/>
          </p:cNvSpPr>
          <p:nvPr/>
        </p:nvSpPr>
        <p:spPr>
          <a:xfrm xmlns:a="http://schemas.openxmlformats.org/drawingml/2006/main">
            <a:off x="8562975" y="2181225"/>
            <a:ext cx="2609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04 · QUALIFY</a:t>
            </a:r>
          </a:p>
        </p:txBody>
      </p:sp>
      <p:sp>
        <p:nvSpPr>
          <p:cNvPr id="44" name="v16-s3-route-title">
            <a:extLst xmlns:a="http://schemas.openxmlformats.org/drawingml/2006/main">
              <a:ext uri="{FF2B5EF4-FFF2-40B4-BE49-F238E27FC236}">
                <a16:creationId xmlns:a16="http://schemas.microsoft.com/office/drawing/2014/main" id="{2B2D376F-63A5-4EDD-BECE-CFDCE3B50BAC}"/>
              </a:ext>
            </a:extLst>
          </p:cNvPr>
          <p:cNvSpPr>
            <a:spLocks xmlns:a="http://schemas.openxmlformats.org/drawingml/2006/main" noGrp="1"/>
          </p:cNvSpPr>
          <p:nvPr/>
        </p:nvSpPr>
        <p:spPr>
          <a:xfrm xmlns:a="http://schemas.openxmlformats.org/drawingml/2006/main">
            <a:off x="8562975" y="2400300"/>
            <a:ext cx="26098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FFFFFF"/>
                </a:solidFill>
                <a:latin typeface="Arial"/>
                <a:ea typeface="Arial"/>
                <a:cs typeface="Arial"/>
              </a:defRPr>
            </a:pPr>
            <a:r>
              <a:rPr sz="1650" b="1">
                <a:solidFill>
                  <a:srgbClr val="FFFFFF"/>
                </a:solidFill>
                <a:latin typeface="Arial"/>
                <a:ea typeface="Arial"/>
                <a:cs typeface="Arial"/>
              </a:rPr>
              <a:t>CANDIDATE ROUTE</a:t>
            </a:r>
          </a:p>
        </p:txBody>
      </p:sp>
      <p:sp>
        <p:nvSpPr>
          <p:cNvPr id="45" name="v16-s3-route-body">
            <a:extLst xmlns:a="http://schemas.openxmlformats.org/drawingml/2006/main">
              <a:ext uri="{FF2B5EF4-FFF2-40B4-BE49-F238E27FC236}">
                <a16:creationId xmlns:a16="http://schemas.microsoft.com/office/drawing/2014/main" id="{C40E9196-6A54-4153-8A76-24410B315936}"/>
              </a:ext>
            </a:extLst>
          </p:cNvPr>
          <p:cNvSpPr>
            <a:spLocks xmlns:a="http://schemas.openxmlformats.org/drawingml/2006/main" noGrp="1"/>
          </p:cNvSpPr>
          <p:nvPr/>
        </p:nvSpPr>
        <p:spPr>
          <a:xfrm xmlns:a="http://schemas.openxmlformats.org/drawingml/2006/main">
            <a:off x="8562975" y="2705100"/>
            <a:ext cx="2609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fit is target-specific</a:t>
            </a:r>
          </a:p>
        </p:txBody>
      </p:sp>
      <p:sp>
        <p:nvSpPr>
          <p:cNvPr id="46" name="v16-s3-otp-shadow">
            <a:extLst xmlns:a="http://schemas.openxmlformats.org/drawingml/2006/main">
              <a:ext uri="{FF2B5EF4-FFF2-40B4-BE49-F238E27FC236}">
                <a16:creationId xmlns:a16="http://schemas.microsoft.com/office/drawing/2014/main" id="{B5405A5A-B4A9-4844-A6F4-7DB29CB23710}"/>
              </a:ext>
            </a:extLst>
          </p:cNvPr>
          <p:cNvSpPr>
            <a:spLocks xmlns:a="http://schemas.openxmlformats.org/drawingml/2006/main" noGrp="1"/>
          </p:cNvSpPr>
          <p:nvPr/>
        </p:nvSpPr>
        <p:spPr>
          <a:xfrm xmlns:a="http://schemas.openxmlformats.org/drawingml/2006/main">
            <a:off x="5429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47" name="v16-s3-otp">
            <a:extLst xmlns:a="http://schemas.openxmlformats.org/drawingml/2006/main">
              <a:ext uri="{FF2B5EF4-FFF2-40B4-BE49-F238E27FC236}">
                <a16:creationId xmlns:a16="http://schemas.microsoft.com/office/drawing/2014/main" id="{8C7515EB-F246-472B-A577-9474EC0F786B}"/>
              </a:ext>
            </a:extLst>
          </p:cNvPr>
          <p:cNvSpPr>
            <a:spLocks xmlns:a="http://schemas.openxmlformats.org/drawingml/2006/main" noGrp="1"/>
          </p:cNvSpPr>
          <p:nvPr/>
        </p:nvSpPr>
        <p:spPr>
          <a:xfrm xmlns:a="http://schemas.openxmlformats.org/drawingml/2006/main">
            <a:off x="514350" y="3524250"/>
            <a:ext cx="2476500" cy="1695450"/>
          </a:xfrm>
          <a:prstGeom xmlns:a="http://schemas.openxmlformats.org/drawingml/2006/main" prst="roundRect">
            <a:avLst>
              <a:gd name="adj" fmla="val 4494"/>
            </a:avLst>
          </a:prstGeom>
          <a:solidFill xmlns:a="http://schemas.openxmlformats.org/drawingml/2006/main">
            <a:srgbClr val="F7EFE6"/>
          </a:solidFill>
          <a:ln xmlns:a="http://schemas.openxmlformats.org/drawingml/2006/main" w="10478">
            <a:solidFill>
              <a:srgbClr val="C9D6DA"/>
            </a:solidFill>
            <a:prstDash val="solid"/>
          </a:ln>
        </p:spPr>
      </p:sp>
      <p:sp>
        <p:nvSpPr>
          <p:cNvPr id="48" name="v16-s3-otp-top">
            <a:extLst xmlns:a="http://schemas.openxmlformats.org/drawingml/2006/main">
              <a:ext uri="{FF2B5EF4-FFF2-40B4-BE49-F238E27FC236}">
                <a16:creationId xmlns:a16="http://schemas.microsoft.com/office/drawing/2014/main" id="{43FF4DF4-A93E-46D6-B129-89C44BE6931E}"/>
              </a:ext>
            </a:extLst>
          </p:cNvPr>
          <p:cNvSpPr>
            <a:spLocks xmlns:a="http://schemas.openxmlformats.org/drawingml/2006/main" noGrp="1"/>
          </p:cNvSpPr>
          <p:nvPr/>
        </p:nvSpPr>
        <p:spPr>
          <a:xfrm xmlns:a="http://schemas.openxmlformats.org/drawingml/2006/main">
            <a:off x="514350" y="3524250"/>
            <a:ext cx="24765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sp>
      <p:sp>
        <p:nvSpPr>
          <p:cNvPr id="49" name="v16-s3-otp-eyebrow">
            <a:extLst xmlns:a="http://schemas.openxmlformats.org/drawingml/2006/main">
              <a:ext uri="{FF2B5EF4-FFF2-40B4-BE49-F238E27FC236}">
                <a16:creationId xmlns:a16="http://schemas.microsoft.com/office/drawing/2014/main" id="{6B6851FB-A132-4987-B7E4-221C37495560}"/>
              </a:ext>
            </a:extLst>
          </p:cNvPr>
          <p:cNvSpPr>
            <a:spLocks xmlns:a="http://schemas.openxmlformats.org/drawingml/2006/main" noGrp="1"/>
          </p:cNvSpPr>
          <p:nvPr/>
        </p:nvSpPr>
        <p:spPr>
          <a:xfrm xmlns:a="http://schemas.openxmlformats.org/drawingml/2006/main">
            <a:off x="6762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IMMUTABLE / MONOTONIC</a:t>
            </a:r>
          </a:p>
        </p:txBody>
      </p:sp>
      <p:sp>
        <p:nvSpPr>
          <p:cNvPr id="50" name="v16-s3-otp-title">
            <a:extLst xmlns:a="http://schemas.openxmlformats.org/drawingml/2006/main">
              <a:ext uri="{FF2B5EF4-FFF2-40B4-BE49-F238E27FC236}">
                <a16:creationId xmlns:a16="http://schemas.microsoft.com/office/drawing/2014/main" id="{68DEFB75-AA33-4CCE-B4E5-5D1E8D29C033}"/>
              </a:ext>
            </a:extLst>
          </p:cNvPr>
          <p:cNvSpPr>
            <a:spLocks xmlns:a="http://schemas.openxmlformats.org/drawingml/2006/main" noGrp="1"/>
          </p:cNvSpPr>
          <p:nvPr/>
        </p:nvSpPr>
        <p:spPr>
          <a:xfrm xmlns:a="http://schemas.openxmlformats.org/drawingml/2006/main">
            <a:off x="676275" y="3886200"/>
            <a:ext cx="21526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OTP</a:t>
            </a:r>
          </a:p>
        </p:txBody>
      </p:sp>
      <p:sp>
        <p:nvSpPr>
          <p:cNvPr id="51" name="v16-s3-otp-body">
            <a:extLst xmlns:a="http://schemas.openxmlformats.org/drawingml/2006/main">
              <a:ext uri="{FF2B5EF4-FFF2-40B4-BE49-F238E27FC236}">
                <a16:creationId xmlns:a16="http://schemas.microsoft.com/office/drawing/2014/main" id="{0D0D9E87-FE0A-4801-8FC8-B583ADDF7A85}"/>
              </a:ext>
            </a:extLst>
          </p:cNvPr>
          <p:cNvSpPr>
            <a:spLocks xmlns:a="http://schemas.openxmlformats.org/drawingml/2006/main" noGrp="1"/>
          </p:cNvSpPr>
          <p:nvPr/>
        </p:nvSpPr>
        <p:spPr>
          <a:xfrm xmlns:a="http://schemas.openxmlformats.org/drawingml/2006/main">
            <a:off x="676275" y="4191000"/>
            <a:ext cx="21526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Identity · lifecycle · revocation</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Static repair state</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One-way semantics</a:t>
            </a:r>
          </a:p>
        </p:txBody>
      </p:sp>
      <p:sp>
        <p:nvSpPr>
          <p:cNvPr id="52" name="v16-s3-mtp-shadow">
            <a:extLst xmlns:a="http://schemas.openxmlformats.org/drawingml/2006/main">
              <a:ext uri="{FF2B5EF4-FFF2-40B4-BE49-F238E27FC236}">
                <a16:creationId xmlns:a16="http://schemas.microsoft.com/office/drawing/2014/main" id="{910233FC-BC99-42CC-B765-4FDEAE34D71A}"/>
              </a:ext>
            </a:extLst>
          </p:cNvPr>
          <p:cNvSpPr>
            <a:spLocks xmlns:a="http://schemas.openxmlformats.org/drawingml/2006/main" noGrp="1"/>
          </p:cNvSpPr>
          <p:nvPr/>
        </p:nvSpPr>
        <p:spPr>
          <a:xfrm xmlns:a="http://schemas.openxmlformats.org/drawingml/2006/main">
            <a:off x="33242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53" name="v16-s3-mtp">
            <a:extLst xmlns:a="http://schemas.openxmlformats.org/drawingml/2006/main">
              <a:ext uri="{FF2B5EF4-FFF2-40B4-BE49-F238E27FC236}">
                <a16:creationId xmlns:a16="http://schemas.microsoft.com/office/drawing/2014/main" id="{8C7165DE-010A-4616-9FAA-CF59353D69DE}"/>
              </a:ext>
            </a:extLst>
          </p:cNvPr>
          <p:cNvSpPr>
            <a:spLocks xmlns:a="http://schemas.openxmlformats.org/drawingml/2006/main" noGrp="1"/>
          </p:cNvSpPr>
          <p:nvPr/>
        </p:nvSpPr>
        <p:spPr>
          <a:xfrm xmlns:a="http://schemas.openxmlformats.org/drawingml/2006/main">
            <a:off x="3295650" y="3524250"/>
            <a:ext cx="2476500" cy="1695450"/>
          </a:xfrm>
          <a:prstGeom xmlns:a="http://schemas.openxmlformats.org/drawingml/2006/main" prst="roundRect">
            <a:avLst>
              <a:gd name="adj" fmla="val 4494"/>
            </a:avLst>
          </a:prstGeom>
          <a:solidFill xmlns:a="http://schemas.openxmlformats.org/drawingml/2006/main">
            <a:srgbClr val="E9F4EF"/>
          </a:solidFill>
          <a:ln xmlns:a="http://schemas.openxmlformats.org/drawingml/2006/main" w="10478">
            <a:solidFill>
              <a:srgbClr val="C9D6DA"/>
            </a:solidFill>
            <a:prstDash val="solid"/>
          </a:ln>
        </p:spPr>
      </p:sp>
      <p:sp>
        <p:nvSpPr>
          <p:cNvPr id="54" name="v16-s3-mtp-top">
            <a:extLst xmlns:a="http://schemas.openxmlformats.org/drawingml/2006/main">
              <a:ext uri="{FF2B5EF4-FFF2-40B4-BE49-F238E27FC236}">
                <a16:creationId xmlns:a16="http://schemas.microsoft.com/office/drawing/2014/main" id="{8F8A08EA-17BD-49A9-AE3C-6BECDE3F84E0}"/>
              </a:ext>
            </a:extLst>
          </p:cNvPr>
          <p:cNvSpPr>
            <a:spLocks xmlns:a="http://schemas.openxmlformats.org/drawingml/2006/main" noGrp="1"/>
          </p:cNvSpPr>
          <p:nvPr/>
        </p:nvSpPr>
        <p:spPr>
          <a:xfrm xmlns:a="http://schemas.openxmlformats.org/drawingml/2006/main">
            <a:off x="3295650" y="3524250"/>
            <a:ext cx="24765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sp>
      <p:sp>
        <p:nvSpPr>
          <p:cNvPr id="55" name="v16-s3-mtp-eyebrow">
            <a:extLst xmlns:a="http://schemas.openxmlformats.org/drawingml/2006/main">
              <a:ext uri="{FF2B5EF4-FFF2-40B4-BE49-F238E27FC236}">
                <a16:creationId xmlns:a16="http://schemas.microsoft.com/office/drawing/2014/main" id="{1FF16790-6EBA-4AC0-8AD4-143CBA45A728}"/>
              </a:ext>
            </a:extLst>
          </p:cNvPr>
          <p:cNvSpPr>
            <a:spLocks xmlns:a="http://schemas.openxmlformats.org/drawingml/2006/main" noGrp="1"/>
          </p:cNvSpPr>
          <p:nvPr/>
        </p:nvSpPr>
        <p:spPr>
          <a:xfrm xmlns:a="http://schemas.openxmlformats.org/drawingml/2006/main">
            <a:off x="34575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BOUNDED REWRITE</a:t>
            </a:r>
          </a:p>
        </p:txBody>
      </p:sp>
      <p:sp>
        <p:nvSpPr>
          <p:cNvPr id="56" name="v16-s3-mtp-title">
            <a:extLst xmlns:a="http://schemas.openxmlformats.org/drawingml/2006/main">
              <a:ext uri="{FF2B5EF4-FFF2-40B4-BE49-F238E27FC236}">
                <a16:creationId xmlns:a16="http://schemas.microsoft.com/office/drawing/2014/main" id="{0723499B-299F-4A48-9C0B-B46735A046DC}"/>
              </a:ext>
            </a:extLst>
          </p:cNvPr>
          <p:cNvSpPr>
            <a:spLocks xmlns:a="http://schemas.openxmlformats.org/drawingml/2006/main" noGrp="1"/>
          </p:cNvSpPr>
          <p:nvPr/>
        </p:nvSpPr>
        <p:spPr>
          <a:xfrm xmlns:a="http://schemas.openxmlformats.org/drawingml/2006/main">
            <a:off x="3457575" y="3886200"/>
            <a:ext cx="21526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MTP / EEPROM</a:t>
            </a:r>
          </a:p>
        </p:txBody>
      </p:sp>
      <p:sp>
        <p:nvSpPr>
          <p:cNvPr id="57" name="v16-s3-mtp-body">
            <a:extLst xmlns:a="http://schemas.openxmlformats.org/drawingml/2006/main">
              <a:ext uri="{FF2B5EF4-FFF2-40B4-BE49-F238E27FC236}">
                <a16:creationId xmlns:a16="http://schemas.microsoft.com/office/drawing/2014/main" id="{EB6D4C07-3562-4AF8-873C-50DF45171595}"/>
              </a:ext>
            </a:extLst>
          </p:cNvPr>
          <p:cNvSpPr>
            <a:spLocks xmlns:a="http://schemas.openxmlformats.org/drawingml/2006/main" noGrp="1"/>
          </p:cNvSpPr>
          <p:nvPr/>
        </p:nvSpPr>
        <p:spPr>
          <a:xfrm xmlns:a="http://schemas.openxmlformats.org/drawingml/2006/main">
            <a:off x="3457575" y="4191000"/>
            <a:ext cx="21526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Configuration · calibration · selected logs</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Endurance + recovery matter</a:t>
            </a:r>
          </a:p>
        </p:txBody>
      </p:sp>
      <p:sp>
        <p:nvSpPr>
          <p:cNvPr id="58" name="v16-s3-puf-shadow">
            <a:extLst xmlns:a="http://schemas.openxmlformats.org/drawingml/2006/main">
              <a:ext uri="{FF2B5EF4-FFF2-40B4-BE49-F238E27FC236}">
                <a16:creationId xmlns:a16="http://schemas.microsoft.com/office/drawing/2014/main" id="{02FB54FE-1E78-4EAB-BC69-070C7D5A001D}"/>
              </a:ext>
            </a:extLst>
          </p:cNvPr>
          <p:cNvSpPr>
            <a:spLocks xmlns:a="http://schemas.openxmlformats.org/drawingml/2006/main" noGrp="1"/>
          </p:cNvSpPr>
          <p:nvPr/>
        </p:nvSpPr>
        <p:spPr>
          <a:xfrm xmlns:a="http://schemas.openxmlformats.org/drawingml/2006/main">
            <a:off x="61055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59" name="v16-s3-puf">
            <a:extLst xmlns:a="http://schemas.openxmlformats.org/drawingml/2006/main">
              <a:ext uri="{FF2B5EF4-FFF2-40B4-BE49-F238E27FC236}">
                <a16:creationId xmlns:a16="http://schemas.microsoft.com/office/drawing/2014/main" id="{84FA5023-3EB1-4C06-9A73-809A4FB050C5}"/>
              </a:ext>
            </a:extLst>
          </p:cNvPr>
          <p:cNvSpPr>
            <a:spLocks xmlns:a="http://schemas.openxmlformats.org/drawingml/2006/main" noGrp="1"/>
          </p:cNvSpPr>
          <p:nvPr/>
        </p:nvSpPr>
        <p:spPr>
          <a:xfrm xmlns:a="http://schemas.openxmlformats.org/drawingml/2006/main">
            <a:off x="6076950" y="3524250"/>
            <a:ext cx="2476500" cy="1695450"/>
          </a:xfrm>
          <a:prstGeom xmlns:a="http://schemas.openxmlformats.org/drawingml/2006/main" prst="roundRect">
            <a:avLst>
              <a:gd name="adj" fmla="val 4494"/>
            </a:avLst>
          </a:prstGeom>
          <a:solidFill xmlns:a="http://schemas.openxmlformats.org/drawingml/2006/main">
            <a:srgbClr val="E4F4F4"/>
          </a:solidFill>
          <a:ln xmlns:a="http://schemas.openxmlformats.org/drawingml/2006/main" w="10478">
            <a:solidFill>
              <a:srgbClr val="C9D6DA"/>
            </a:solidFill>
            <a:prstDash val="solid"/>
          </a:ln>
        </p:spPr>
      </p:sp>
      <p:sp>
        <p:nvSpPr>
          <p:cNvPr id="60" name="v16-s3-puf-top">
            <a:extLst xmlns:a="http://schemas.openxmlformats.org/drawingml/2006/main">
              <a:ext uri="{FF2B5EF4-FFF2-40B4-BE49-F238E27FC236}">
                <a16:creationId xmlns:a16="http://schemas.microsoft.com/office/drawing/2014/main" id="{16200C1A-7859-40FD-AD89-1B6B2AE4E896}"/>
              </a:ext>
            </a:extLst>
          </p:cNvPr>
          <p:cNvSpPr>
            <a:spLocks xmlns:a="http://schemas.openxmlformats.org/drawingml/2006/main" noGrp="1"/>
          </p:cNvSpPr>
          <p:nvPr/>
        </p:nvSpPr>
        <p:spPr>
          <a:xfrm xmlns:a="http://schemas.openxmlformats.org/drawingml/2006/main">
            <a:off x="6076950" y="3524250"/>
            <a:ext cx="24765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61" name="v16-s3-puf-eyebrow">
            <a:extLst xmlns:a="http://schemas.openxmlformats.org/drawingml/2006/main">
              <a:ext uri="{FF2B5EF4-FFF2-40B4-BE49-F238E27FC236}">
                <a16:creationId xmlns:a16="http://schemas.microsoft.com/office/drawing/2014/main" id="{1A6AFBC9-F16D-438E-8754-4E46B6EECCD4}"/>
              </a:ext>
            </a:extLst>
          </p:cNvPr>
          <p:cNvSpPr>
            <a:spLocks xmlns:a="http://schemas.openxmlformats.org/drawingml/2006/main" noGrp="1"/>
          </p:cNvSpPr>
          <p:nvPr/>
        </p:nvSpPr>
        <p:spPr>
          <a:xfrm xmlns:a="http://schemas.openxmlformats.org/drawingml/2006/main">
            <a:off x="62388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RECONSTRUCTED ROOT</a:t>
            </a:r>
          </a:p>
        </p:txBody>
      </p:sp>
      <p:sp>
        <p:nvSpPr>
          <p:cNvPr id="62" name="v16-s3-puf-title">
            <a:extLst xmlns:a="http://schemas.openxmlformats.org/drawingml/2006/main">
              <a:ext uri="{FF2B5EF4-FFF2-40B4-BE49-F238E27FC236}">
                <a16:creationId xmlns:a16="http://schemas.microsoft.com/office/drawing/2014/main" id="{3F4DB284-9F54-4667-A73E-79BBE172C32C}"/>
              </a:ext>
            </a:extLst>
          </p:cNvPr>
          <p:cNvSpPr>
            <a:spLocks xmlns:a="http://schemas.openxmlformats.org/drawingml/2006/main" noGrp="1"/>
          </p:cNvSpPr>
          <p:nvPr/>
        </p:nvSpPr>
        <p:spPr>
          <a:xfrm xmlns:a="http://schemas.openxmlformats.org/drawingml/2006/main">
            <a:off x="6238875" y="3886200"/>
            <a:ext cx="21526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SRAM PUF</a:t>
            </a:r>
          </a:p>
        </p:txBody>
      </p:sp>
      <p:sp>
        <p:nvSpPr>
          <p:cNvPr id="63" name="v16-s3-puf-body">
            <a:extLst xmlns:a="http://schemas.openxmlformats.org/drawingml/2006/main">
              <a:ext uri="{FF2B5EF4-FFF2-40B4-BE49-F238E27FC236}">
                <a16:creationId xmlns:a16="http://schemas.microsoft.com/office/drawing/2014/main" id="{6A4E56C1-5C3D-40F9-8DD3-F8B184C12E34}"/>
              </a:ext>
            </a:extLst>
          </p:cNvPr>
          <p:cNvSpPr>
            <a:spLocks xmlns:a="http://schemas.openxmlformats.org/drawingml/2006/main" noGrp="1"/>
          </p:cNvSpPr>
          <p:nvPr/>
        </p:nvSpPr>
        <p:spPr>
          <a:xfrm xmlns:a="http://schemas.openxmlformats.org/drawingml/2006/main">
            <a:off x="6238875" y="4191000"/>
            <a:ext cx="21526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Reconstructed device root</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Persistent policy state remains</a:t>
            </a:r>
          </a:p>
        </p:txBody>
      </p:sp>
      <p:sp>
        <p:nvSpPr>
          <p:cNvPr id="64" name="v16-s3-large-shadow">
            <a:extLst xmlns:a="http://schemas.openxmlformats.org/drawingml/2006/main">
              <a:ext uri="{FF2B5EF4-FFF2-40B4-BE49-F238E27FC236}">
                <a16:creationId xmlns:a16="http://schemas.microsoft.com/office/drawing/2014/main" id="{33B70EA7-1B48-4C1B-85E7-FF8D4BCE1A8E}"/>
              </a:ext>
            </a:extLst>
          </p:cNvPr>
          <p:cNvSpPr>
            <a:spLocks xmlns:a="http://schemas.openxmlformats.org/drawingml/2006/main" noGrp="1"/>
          </p:cNvSpPr>
          <p:nvPr/>
        </p:nvSpPr>
        <p:spPr>
          <a:xfrm xmlns:a="http://schemas.openxmlformats.org/drawingml/2006/main">
            <a:off x="88868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65" name="v16-s3-large">
            <a:extLst xmlns:a="http://schemas.openxmlformats.org/drawingml/2006/main">
              <a:ext uri="{FF2B5EF4-FFF2-40B4-BE49-F238E27FC236}">
                <a16:creationId xmlns:a16="http://schemas.microsoft.com/office/drawing/2014/main" id="{BE516830-6D39-4BE8-9478-B457FCF4FDF2}"/>
              </a:ext>
            </a:extLst>
          </p:cNvPr>
          <p:cNvSpPr>
            <a:spLocks xmlns:a="http://schemas.openxmlformats.org/drawingml/2006/main" noGrp="1"/>
          </p:cNvSpPr>
          <p:nvPr/>
        </p:nvSpPr>
        <p:spPr>
          <a:xfrm xmlns:a="http://schemas.openxmlformats.org/drawingml/2006/main">
            <a:off x="8858250" y="3524250"/>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10478">
            <a:solidFill>
              <a:srgbClr val="C9D6DA"/>
            </a:solidFill>
            <a:prstDash val="solid"/>
          </a:ln>
        </p:spPr>
      </p:sp>
      <p:sp>
        <p:nvSpPr>
          <p:cNvPr id="66" name="v16-s3-large-top">
            <a:extLst xmlns:a="http://schemas.openxmlformats.org/drawingml/2006/main">
              <a:ext uri="{FF2B5EF4-FFF2-40B4-BE49-F238E27FC236}">
                <a16:creationId xmlns:a16="http://schemas.microsoft.com/office/drawing/2014/main" id="{E495B11D-BE0E-4EC7-9D67-EDA285A39397}"/>
              </a:ext>
            </a:extLst>
          </p:cNvPr>
          <p:cNvSpPr>
            <a:spLocks xmlns:a="http://schemas.openxmlformats.org/drawingml/2006/main" noGrp="1"/>
          </p:cNvSpPr>
          <p:nvPr/>
        </p:nvSpPr>
        <p:spPr>
          <a:xfrm xmlns:a="http://schemas.openxmlformats.org/drawingml/2006/main">
            <a:off x="8858250" y="3524250"/>
            <a:ext cx="2476500" cy="57150"/>
          </a:xfrm>
          <a:prstGeom xmlns:a="http://schemas.openxmlformats.org/drawingml/2006/main" prst="roundRect">
            <a:avLst>
              <a:gd name="adj" fmla="val 50000"/>
            </a:avLst>
          </a:prstGeom>
          <a:solidFill xmlns:a="http://schemas.openxmlformats.org/drawingml/2006/main">
            <a:srgbClr val="708894"/>
          </a:solidFill>
          <a:ln xmlns:a="http://schemas.openxmlformats.org/drawingml/2006/main" w="0">
            <a:noFill/>
            <a:prstDash val="solid"/>
          </a:ln>
        </p:spPr>
      </p:sp>
      <p:sp>
        <p:nvSpPr>
          <p:cNvPr id="67" name="v16-s3-large-eyebrow">
            <a:extLst xmlns:a="http://schemas.openxmlformats.org/drawingml/2006/main">
              <a:ext uri="{FF2B5EF4-FFF2-40B4-BE49-F238E27FC236}">
                <a16:creationId xmlns:a16="http://schemas.microsoft.com/office/drawing/2014/main" id="{C5A131E6-48DD-4600-B676-17921C53AC1A}"/>
              </a:ext>
            </a:extLst>
          </p:cNvPr>
          <p:cNvSpPr>
            <a:spLocks xmlns:a="http://schemas.openxmlformats.org/drawingml/2006/main" noGrp="1"/>
          </p:cNvSpPr>
          <p:nvPr/>
        </p:nvSpPr>
        <p:spPr>
          <a:xfrm xmlns:a="http://schemas.openxmlformats.org/drawingml/2006/main">
            <a:off x="90201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08894"/>
                </a:solidFill>
                <a:latin typeface="Consolas"/>
                <a:ea typeface="Consolas"/>
                <a:cs typeface="Consolas"/>
              </a:defRPr>
            </a:pPr>
            <a:r>
              <a:rPr sz="940" b="1">
                <a:solidFill>
                  <a:srgbClr val="708894"/>
                </a:solidFill>
                <a:latin typeface="Consolas"/>
                <a:ea typeface="Consolas"/>
                <a:cs typeface="Consolas"/>
              </a:rPr>
              <a:t>CODE-RICH / FREQUENT WRITE</a:t>
            </a:r>
          </a:p>
        </p:txBody>
      </p:sp>
      <p:sp>
        <p:nvSpPr>
          <p:cNvPr id="68" name="v16-s3-large-title">
            <a:extLst xmlns:a="http://schemas.openxmlformats.org/drawingml/2006/main">
              <a:ext uri="{FF2B5EF4-FFF2-40B4-BE49-F238E27FC236}">
                <a16:creationId xmlns:a16="http://schemas.microsoft.com/office/drawing/2014/main" id="{61E00EE7-3855-475D-A7B5-413D8615D6B2}"/>
              </a:ext>
            </a:extLst>
          </p:cNvPr>
          <p:cNvSpPr>
            <a:spLocks xmlns:a="http://schemas.openxmlformats.org/drawingml/2006/main" noGrp="1"/>
          </p:cNvSpPr>
          <p:nvPr/>
        </p:nvSpPr>
        <p:spPr>
          <a:xfrm xmlns:a="http://schemas.openxmlformats.org/drawingml/2006/main">
            <a:off x="9020175" y="3886200"/>
            <a:ext cx="2152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HIGH-CAPACITY</a:t>
            </a:r>
          </a:p>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NVM</a:t>
            </a:r>
          </a:p>
        </p:txBody>
      </p:sp>
      <p:sp>
        <p:nvSpPr>
          <p:cNvPr id="69" name="v16-s3-large-body">
            <a:extLst xmlns:a="http://schemas.openxmlformats.org/drawingml/2006/main">
              <a:ext uri="{FF2B5EF4-FFF2-40B4-BE49-F238E27FC236}">
                <a16:creationId xmlns:a16="http://schemas.microsoft.com/office/drawing/2014/main" id="{C91C51CB-F583-4BDE-AC91-C47019F9B1FD}"/>
              </a:ext>
            </a:extLst>
          </p:cNvPr>
          <p:cNvSpPr>
            <a:spLocks xmlns:a="http://schemas.openxmlformats.org/drawingml/2006/main" noGrp="1"/>
          </p:cNvSpPr>
          <p:nvPr/>
        </p:nvSpPr>
        <p:spPr>
          <a:xfrm xmlns:a="http://schemas.openxmlformats.org/drawingml/2006/main">
            <a:off x="9020175" y="4457700"/>
            <a:ext cx="2152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eFlash · MRAM · ReRAM</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Code / frequent-write state</a:t>
            </a:r>
          </a:p>
        </p:txBody>
      </p:sp>
      <p:sp>
        <p:nvSpPr>
          <p:cNvPr id="70" name="v16-s3-rule">
            <a:extLst xmlns:a="http://schemas.openxmlformats.org/drawingml/2006/main">
              <a:ext uri="{FF2B5EF4-FFF2-40B4-BE49-F238E27FC236}">
                <a16:creationId xmlns:a16="http://schemas.microsoft.com/office/drawing/2014/main" id="{07A2B8A4-101D-49DA-8AF7-0E64F4922969}"/>
              </a:ext>
            </a:extLst>
          </p:cNvPr>
          <p:cNvSpPr>
            <a:spLocks xmlns:a="http://schemas.openxmlformats.org/drawingml/2006/main" noGrp="1"/>
          </p:cNvSpPr>
          <p:nvPr/>
        </p:nvSpPr>
        <p:spPr>
          <a:xfrm xmlns:a="http://schemas.openxmlformats.org/drawingml/2006/main">
            <a:off x="514350" y="5448300"/>
            <a:ext cx="10820400" cy="685800"/>
          </a:xfrm>
          <a:prstGeom xmlns:a="http://schemas.openxmlformats.org/drawingml/2006/main" prst="roundRect">
            <a:avLst>
              <a:gd name="adj" fmla="val 11111"/>
            </a:avLst>
          </a:prstGeom>
          <a:solidFill xmlns:a="http://schemas.openxmlformats.org/drawingml/2006/main">
            <a:srgbClr val="061B29"/>
          </a:solidFill>
          <a:ln xmlns:a="http://schemas.openxmlformats.org/drawingml/2006/main" w="0">
            <a:noFill/>
            <a:prstDash val="solid"/>
          </a:ln>
        </p:spPr>
      </p:sp>
      <p:sp>
        <p:nvSpPr>
          <p:cNvPr id="71" name="v16-s3-rule-text">
            <a:extLst xmlns:a="http://schemas.openxmlformats.org/drawingml/2006/main">
              <a:ext uri="{FF2B5EF4-FFF2-40B4-BE49-F238E27FC236}">
                <a16:creationId xmlns:a16="http://schemas.microsoft.com/office/drawing/2014/main" id="{5525BC29-C42C-4605-A7E5-86213C198FB1}"/>
              </a:ext>
            </a:extLst>
          </p:cNvPr>
          <p:cNvSpPr>
            <a:spLocks xmlns:a="http://schemas.openxmlformats.org/drawingml/2006/main" noGrp="1"/>
          </p:cNvSpPr>
          <p:nvPr/>
        </p:nvSpPr>
        <p:spPr>
          <a:xfrm xmlns:a="http://schemas.openxmlformats.org/drawingml/2006/main">
            <a:off x="685800" y="55435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Architecture rule: PUF reconstructs a root; it does not replace persistent lifecycle, hash, revocation or anti-rollback state</a:t>
            </a:r>
          </a:p>
        </p:txBody>
      </p:sp>
    </p:spTree>
    <p:extLst>
      <p:ext uri="{BB962C8B-B14F-4D97-AF65-F5344CB8AC3E}">
        <p14:creationId xmlns:p14="http://schemas.microsoft.com/office/powerpoint/2010/main" val="2032027312"/>
      </p:ext>
    </p:extLst>
  </p:cSld>
</p:sld>
</file>

<file path=ppt/slides/slide4.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43" name="v16-bg-4">
            <a:extLst xmlns:a="http://schemas.openxmlformats.org/drawingml/2006/main">
              <a:ext uri="{FF2B5EF4-FFF2-40B4-BE49-F238E27FC236}">
                <a16:creationId xmlns:a16="http://schemas.microsoft.com/office/drawing/2014/main" id="{76504AFD-1F55-4CE9-946E-321D5D85DAE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4">
            <a:extLst xmlns:a="http://schemas.openxmlformats.org/drawingml/2006/main">
              <a:ext uri="{FF2B5EF4-FFF2-40B4-BE49-F238E27FC236}">
                <a16:creationId xmlns:a16="http://schemas.microsoft.com/office/drawing/2014/main" id="{0CE03D55-51F0-401D-A7CC-BCA9C5F74889}"/>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4">
            <a:extLst xmlns:a="http://schemas.openxmlformats.org/drawingml/2006/main">
              <a:ext uri="{FF2B5EF4-FFF2-40B4-BE49-F238E27FC236}">
                <a16:creationId xmlns:a16="http://schemas.microsoft.com/office/drawing/2014/main" id="{26EA04C7-F20F-46E4-8A13-5DF5A2E316DF}"/>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03 · QUALIFY NOW · DDR5</a:t>
            </a:r>
          </a:p>
        </p:txBody>
      </p:sp>
      <p:sp>
        <p:nvSpPr>
          <p:cNvPr id="4" name="v16-title-4">
            <a:extLst xmlns:a="http://schemas.openxmlformats.org/drawingml/2006/main">
              <a:ext uri="{FF2B5EF4-FFF2-40B4-BE49-F238E27FC236}">
                <a16:creationId xmlns:a16="http://schemas.microsoft.com/office/drawing/2014/main" id="{43DF79D5-91B2-4D08-BF97-67EFEBFB451F}"/>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DDR5 PMIC + SPD Hub</a:t>
            </a:r>
          </a:p>
          <a:p xmlns:a="http://schemas.openxmlformats.org/drawingml/2006/main">
            <a:pPr>
              <a:spcBef>
                <a:spcPts val="0"/>
              </a:spcBef>
              <a:spcAft>
                <a:spcPts val="200"/>
              </a:spcAft>
            </a:pPr>
            <a:r>
              <a:rPr sz="3000" b="1">
                <a:solidFill>
                  <a:srgbClr val="0A2434"/>
                </a:solidFill>
                <a:latin typeface="Arial"/>
              </a:rPr>
              <a:t>One Immediate Qualification Package</a:t>
            </a:r>
          </a:p>
        </p:txBody>
      </p:sp>
      <p:sp>
        <p:nvSpPr>
          <p:cNvPr id="5" name="v16-subtitle-4">
            <a:extLst xmlns:a="http://schemas.openxmlformats.org/drawingml/2006/main">
              <a:ext uri="{FF2B5EF4-FFF2-40B4-BE49-F238E27FC236}">
                <a16:creationId xmlns:a16="http://schemas.microsoft.com/office/drawing/2014/main" id="{58D9E135-F3FD-4471-B4DE-B15353A24F8A}"/>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Two state contracts · one memory-module opportunity</a:t>
            </a:r>
          </a:p>
        </p:txBody>
      </p:sp>
      <p:sp>
        <p:nvSpPr>
          <p:cNvPr id="6" name="motif-line-0">
            <a:extLst xmlns:a="http://schemas.openxmlformats.org/drawingml/2006/main">
              <a:ext uri="{FF2B5EF4-FFF2-40B4-BE49-F238E27FC236}">
                <a16:creationId xmlns:a16="http://schemas.microsoft.com/office/drawing/2014/main" id="{174AFB49-547C-463B-A63A-8FF23C61F3D7}"/>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356BFE93-8B28-49C5-86A7-7E2B3A324886}"/>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2F3B8D4E-125F-4528-B678-A309156EDA4F}"/>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85ADB0F1-74C5-4D1D-AFBA-DAE5425A9682}"/>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5CDB7829-37F6-4A16-B853-3A7F598D30C9}"/>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14AB18F3-ED0C-46ED-8B90-C214A99C29D2}"/>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88650DCD-302C-435C-B2F1-AD039AAEBD8C}"/>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41DDF931-5AB7-4568-9E26-6218D01AA902}"/>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33B07520-B5E7-44AE-A0A5-40FF799E9901}"/>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5A0CE108-C768-4EB0-9361-572F0F7D4EC0}"/>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4">
            <a:extLst xmlns:a="http://schemas.openxmlformats.org/drawingml/2006/main">
              <a:ext uri="{FF2B5EF4-FFF2-40B4-BE49-F238E27FC236}">
                <a16:creationId xmlns:a16="http://schemas.microsoft.com/office/drawing/2014/main" id="{68AAF4C4-2B2A-44CE-A590-365D9087F730}"/>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4">
            <a:extLst xmlns:a="http://schemas.openxmlformats.org/drawingml/2006/main">
              <a:ext uri="{FF2B5EF4-FFF2-40B4-BE49-F238E27FC236}">
                <a16:creationId xmlns:a16="http://schemas.microsoft.com/office/drawing/2014/main" id="{88AA0C11-4DFF-4CC1-89AC-194C643DE4CB}"/>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xmlns:a="http://schemas.openxmlformats.org/drawingml/2006/main">
              <a:ext uri="{FF2B5EF4-FFF2-40B4-BE49-F238E27FC236}">
                <a16:creationId xmlns:a16="http://schemas.microsoft.com/office/drawing/2014/main" id="{802FB76D-9131-4CFE-ABCB-6DE9663DEC2F}"/>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04</a:t>
            </a:r>
          </a:p>
        </p:txBody>
      </p:sp>
      <p:sp>
        <p:nvSpPr>
          <p:cNvPr id="19" name="v16-s4-package">
            <a:extLst xmlns:a="http://schemas.openxmlformats.org/drawingml/2006/main">
              <a:ext uri="{FF2B5EF4-FFF2-40B4-BE49-F238E27FC236}">
                <a16:creationId xmlns:a16="http://schemas.microsoft.com/office/drawing/2014/main" id="{AD792CF9-4EFC-471F-B096-E4856737483D}"/>
              </a:ext>
            </a:extLst>
          </p:cNvPr>
          <p:cNvSpPr>
            <a:spLocks xmlns:a="http://schemas.openxmlformats.org/drawingml/2006/main" noGrp="1"/>
          </p:cNvSpPr>
          <p:nvPr/>
        </p:nvSpPr>
        <p:spPr>
          <a:xfrm xmlns:a="http://schemas.openxmlformats.org/drawingml/2006/main">
            <a:off x="514350" y="1885950"/>
            <a:ext cx="2190750" cy="285750"/>
          </a:xfrm>
          <a:prstGeom xmlns:a="http://schemas.openxmlformats.org/drawingml/2006/main" prst="roundRect">
            <a:avLst>
              <a:gd name="adj" fmla="val 50000"/>
            </a:avLst>
          </a:prstGeom>
          <a:solidFill xmlns:a="http://schemas.openxmlformats.org/drawingml/2006/main">
            <a:srgbClr val="E9F4EF"/>
          </a:solidFill>
          <a:ln xmlns:a="http://schemas.openxmlformats.org/drawingml/2006/main" w="0">
            <a:noFill/>
            <a:prstDash val="solid"/>
          </a:ln>
        </p:spPr>
      </p:sp>
      <p:sp>
        <p:nvSpPr>
          <p:cNvPr id="20" name="v16-s4-package-text">
            <a:extLst xmlns:a="http://schemas.openxmlformats.org/drawingml/2006/main">
              <a:ext uri="{FF2B5EF4-FFF2-40B4-BE49-F238E27FC236}">
                <a16:creationId xmlns:a16="http://schemas.microsoft.com/office/drawing/2014/main" id="{BA03DB04-DFAA-4BFE-8E51-BB5F76E3D4ED}"/>
              </a:ext>
            </a:extLst>
          </p:cNvPr>
          <p:cNvSpPr>
            <a:spLocks xmlns:a="http://schemas.openxmlformats.org/drawingml/2006/main" noGrp="1"/>
          </p:cNvSpPr>
          <p:nvPr/>
        </p:nvSpPr>
        <p:spPr>
          <a:xfrm xmlns:a="http://schemas.openxmlformats.org/drawingml/2006/main">
            <a:off x="609600" y="1952625"/>
            <a:ext cx="2000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176B5C"/>
                </a:solidFill>
                <a:latin typeface="Consolas"/>
                <a:ea typeface="Consolas"/>
                <a:cs typeface="Consolas"/>
              </a:defRPr>
            </a:pPr>
            <a:r>
              <a:rPr sz="930" b="1">
                <a:solidFill>
                  <a:srgbClr val="176B5C"/>
                </a:solidFill>
                <a:latin typeface="Consolas"/>
                <a:ea typeface="Consolas"/>
                <a:cs typeface="Consolas"/>
              </a:rPr>
              <a:t>ONE SUBSYSTEM PACKAGE</a:t>
            </a:r>
          </a:p>
        </p:txBody>
      </p:sp>
      <p:sp>
        <p:nvSpPr>
          <p:cNvPr id="21" name="v16-s4-pmic-shadow">
            <a:extLst xmlns:a="http://schemas.openxmlformats.org/drawingml/2006/main">
              <a:ext uri="{FF2B5EF4-FFF2-40B4-BE49-F238E27FC236}">
                <a16:creationId xmlns:a16="http://schemas.microsoft.com/office/drawing/2014/main" id="{33036AAB-BABF-4E71-A37E-8A73A767D749}"/>
              </a:ext>
            </a:extLst>
          </p:cNvPr>
          <p:cNvSpPr>
            <a:spLocks xmlns:a="http://schemas.openxmlformats.org/drawingml/2006/main" noGrp="1"/>
          </p:cNvSpPr>
          <p:nvPr/>
        </p:nvSpPr>
        <p:spPr>
          <a:xfrm xmlns:a="http://schemas.openxmlformats.org/drawingml/2006/main">
            <a:off x="542925" y="2390775"/>
            <a:ext cx="4857750" cy="1352550"/>
          </a:xfrm>
          <a:prstGeom xmlns:a="http://schemas.openxmlformats.org/drawingml/2006/main" prst="roundRect">
            <a:avLst>
              <a:gd name="adj" fmla="val 5634"/>
            </a:avLst>
          </a:prstGeom>
          <a:solidFill xmlns:a="http://schemas.openxmlformats.org/drawingml/2006/main">
            <a:srgbClr val="ECF2F4"/>
          </a:solidFill>
          <a:ln xmlns:a="http://schemas.openxmlformats.org/drawingml/2006/main" w="0">
            <a:noFill/>
            <a:prstDash val="solid"/>
          </a:ln>
        </p:spPr>
      </p:sp>
      <p:sp>
        <p:nvSpPr>
          <p:cNvPr id="22" name="v16-s4-pmic">
            <a:extLst xmlns:a="http://schemas.openxmlformats.org/drawingml/2006/main">
              <a:ext uri="{FF2B5EF4-FFF2-40B4-BE49-F238E27FC236}">
                <a16:creationId xmlns:a16="http://schemas.microsoft.com/office/drawing/2014/main" id="{AE514F6B-AA27-46F8-BDCB-781F1B7C8972}"/>
              </a:ext>
            </a:extLst>
          </p:cNvPr>
          <p:cNvSpPr>
            <a:spLocks xmlns:a="http://schemas.openxmlformats.org/drawingml/2006/main" noGrp="1"/>
          </p:cNvSpPr>
          <p:nvPr/>
        </p:nvSpPr>
        <p:spPr>
          <a:xfrm xmlns:a="http://schemas.openxmlformats.org/drawingml/2006/main">
            <a:off x="514350" y="2343150"/>
            <a:ext cx="4857750" cy="1352550"/>
          </a:xfrm>
          <a:prstGeom xmlns:a="http://schemas.openxmlformats.org/drawingml/2006/main" prst="roundRect">
            <a:avLst>
              <a:gd name="adj" fmla="val 5634"/>
            </a:avLst>
          </a:prstGeom>
          <a:solidFill xmlns:a="http://schemas.openxmlformats.org/drawingml/2006/main">
            <a:srgbClr val="E9F4EF"/>
          </a:solidFill>
          <a:ln xmlns:a="http://schemas.openxmlformats.org/drawingml/2006/main" w="10478">
            <a:solidFill>
              <a:srgbClr val="C9D6DA"/>
            </a:solidFill>
            <a:prstDash val="solid"/>
          </a:ln>
        </p:spPr>
      </p:sp>
      <p:sp>
        <p:nvSpPr>
          <p:cNvPr id="23" name="v16-s4-pmic-top">
            <a:extLst xmlns:a="http://schemas.openxmlformats.org/drawingml/2006/main">
              <a:ext uri="{FF2B5EF4-FFF2-40B4-BE49-F238E27FC236}">
                <a16:creationId xmlns:a16="http://schemas.microsoft.com/office/drawing/2014/main" id="{80504B77-4FDE-4E0E-9797-5BC07BB7665B}"/>
              </a:ext>
            </a:extLst>
          </p:cNvPr>
          <p:cNvSpPr>
            <a:spLocks xmlns:a="http://schemas.openxmlformats.org/drawingml/2006/main" noGrp="1"/>
          </p:cNvSpPr>
          <p:nvPr/>
        </p:nvSpPr>
        <p:spPr>
          <a:xfrm xmlns:a="http://schemas.openxmlformats.org/drawingml/2006/main">
            <a:off x="514350" y="2343150"/>
            <a:ext cx="485775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sp>
      <p:sp>
        <p:nvSpPr>
          <p:cNvPr id="24" name="v16-s4-pmic-eyebrow">
            <a:extLst xmlns:a="http://schemas.openxmlformats.org/drawingml/2006/main">
              <a:ext uri="{FF2B5EF4-FFF2-40B4-BE49-F238E27FC236}">
                <a16:creationId xmlns:a16="http://schemas.microsoft.com/office/drawing/2014/main" id="{F5473E45-0A45-405C-9F3D-6CF2A6BDDC69}"/>
              </a:ext>
            </a:extLst>
          </p:cNvPr>
          <p:cNvSpPr>
            <a:spLocks xmlns:a="http://schemas.openxmlformats.org/drawingml/2006/main" noGrp="1"/>
          </p:cNvSpPr>
          <p:nvPr/>
        </p:nvSpPr>
        <p:spPr>
          <a:xfrm xmlns:a="http://schemas.openxmlformats.org/drawingml/2006/main">
            <a:off x="676275" y="2486025"/>
            <a:ext cx="4533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TARGET 1 · DDR5 SERVER PMIC</a:t>
            </a:r>
          </a:p>
        </p:txBody>
      </p:sp>
      <p:sp>
        <p:nvSpPr>
          <p:cNvPr id="25" name="v16-s4-pmic-title">
            <a:extLst xmlns:a="http://schemas.openxmlformats.org/drawingml/2006/main">
              <a:ext uri="{FF2B5EF4-FFF2-40B4-BE49-F238E27FC236}">
                <a16:creationId xmlns:a16="http://schemas.microsoft.com/office/drawing/2014/main" id="{E7183B13-849A-458F-BD80-C923F887A269}"/>
              </a:ext>
            </a:extLst>
          </p:cNvPr>
          <p:cNvSpPr>
            <a:spLocks xmlns:a="http://schemas.openxmlformats.org/drawingml/2006/main" noGrp="1"/>
          </p:cNvSpPr>
          <p:nvPr/>
        </p:nvSpPr>
        <p:spPr>
          <a:xfrm xmlns:a="http://schemas.openxmlformats.org/drawingml/2006/main">
            <a:off x="676275" y="270510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MTP configuration + persistent logs</a:t>
            </a:r>
          </a:p>
        </p:txBody>
      </p:sp>
      <p:sp>
        <p:nvSpPr>
          <p:cNvPr id="26" name="v16-s4-pmic-body">
            <a:extLst xmlns:a="http://schemas.openxmlformats.org/drawingml/2006/main">
              <a:ext uri="{FF2B5EF4-FFF2-40B4-BE49-F238E27FC236}">
                <a16:creationId xmlns:a16="http://schemas.microsoft.com/office/drawing/2014/main" id="{FBE24F82-5625-43B1-A5FE-84B97F97BB14}"/>
              </a:ext>
            </a:extLst>
          </p:cNvPr>
          <p:cNvSpPr>
            <a:spLocks xmlns:a="http://schemas.openxmlformats.org/drawingml/2006/main" noGrp="1"/>
          </p:cNvSpPr>
          <p:nvPr/>
        </p:nvSpPr>
        <p:spPr>
          <a:xfrm xmlns:a="http://schemas.openxmlformats.org/drawingml/2006/main">
            <a:off x="676275" y="3067050"/>
            <a:ext cx="453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Public proof: programmable sequencing, bounded state and error-log persistence</a:t>
            </a:r>
          </a:p>
        </p:txBody>
      </p:sp>
      <p:sp>
        <p:nvSpPr>
          <p:cNvPr id="27" name="v16-s4-spd-shadow">
            <a:extLst xmlns:a="http://schemas.openxmlformats.org/drawingml/2006/main">
              <a:ext uri="{FF2B5EF4-FFF2-40B4-BE49-F238E27FC236}">
                <a16:creationId xmlns:a16="http://schemas.microsoft.com/office/drawing/2014/main" id="{DAFFA866-86C4-4D2B-BF01-507E0BD67868}"/>
              </a:ext>
            </a:extLst>
          </p:cNvPr>
          <p:cNvSpPr>
            <a:spLocks xmlns:a="http://schemas.openxmlformats.org/drawingml/2006/main" noGrp="1"/>
          </p:cNvSpPr>
          <p:nvPr/>
        </p:nvSpPr>
        <p:spPr>
          <a:xfrm xmlns:a="http://schemas.openxmlformats.org/drawingml/2006/main">
            <a:off x="542925" y="4010025"/>
            <a:ext cx="4857750" cy="1352550"/>
          </a:xfrm>
          <a:prstGeom xmlns:a="http://schemas.openxmlformats.org/drawingml/2006/main" prst="roundRect">
            <a:avLst>
              <a:gd name="adj" fmla="val 5634"/>
            </a:avLst>
          </a:prstGeom>
          <a:solidFill xmlns:a="http://schemas.openxmlformats.org/drawingml/2006/main">
            <a:srgbClr val="ECF2F4"/>
          </a:solidFill>
          <a:ln xmlns:a="http://schemas.openxmlformats.org/drawingml/2006/main" w="0">
            <a:noFill/>
            <a:prstDash val="solid"/>
          </a:ln>
        </p:spPr>
      </p:sp>
      <p:sp>
        <p:nvSpPr>
          <p:cNvPr id="28" name="v16-s4-spd">
            <a:extLst xmlns:a="http://schemas.openxmlformats.org/drawingml/2006/main">
              <a:ext uri="{FF2B5EF4-FFF2-40B4-BE49-F238E27FC236}">
                <a16:creationId xmlns:a16="http://schemas.microsoft.com/office/drawing/2014/main" id="{16412639-CA6E-4364-946F-AD6B831CA902}"/>
              </a:ext>
            </a:extLst>
          </p:cNvPr>
          <p:cNvSpPr>
            <a:spLocks xmlns:a="http://schemas.openxmlformats.org/drawingml/2006/main" noGrp="1"/>
          </p:cNvSpPr>
          <p:nvPr/>
        </p:nvSpPr>
        <p:spPr>
          <a:xfrm xmlns:a="http://schemas.openxmlformats.org/drawingml/2006/main">
            <a:off x="514350" y="3962400"/>
            <a:ext cx="4857750" cy="1352550"/>
          </a:xfrm>
          <a:prstGeom xmlns:a="http://schemas.openxmlformats.org/drawingml/2006/main" prst="roundRect">
            <a:avLst>
              <a:gd name="adj" fmla="val 5634"/>
            </a:avLst>
          </a:prstGeom>
          <a:solidFill xmlns:a="http://schemas.openxmlformats.org/drawingml/2006/main">
            <a:srgbClr val="E4F4F4"/>
          </a:solidFill>
          <a:ln xmlns:a="http://schemas.openxmlformats.org/drawingml/2006/main" w="10478">
            <a:solidFill>
              <a:srgbClr val="C9D6DA"/>
            </a:solidFill>
            <a:prstDash val="solid"/>
          </a:ln>
        </p:spPr>
      </p:sp>
      <p:sp>
        <p:nvSpPr>
          <p:cNvPr id="29" name="v16-s4-spd-top">
            <a:extLst xmlns:a="http://schemas.openxmlformats.org/drawingml/2006/main">
              <a:ext uri="{FF2B5EF4-FFF2-40B4-BE49-F238E27FC236}">
                <a16:creationId xmlns:a16="http://schemas.microsoft.com/office/drawing/2014/main" id="{A0C601DF-C318-4A74-9E40-0E6A7BBF031C}"/>
              </a:ext>
            </a:extLst>
          </p:cNvPr>
          <p:cNvSpPr>
            <a:spLocks xmlns:a="http://schemas.openxmlformats.org/drawingml/2006/main" noGrp="1"/>
          </p:cNvSpPr>
          <p:nvPr/>
        </p:nvSpPr>
        <p:spPr>
          <a:xfrm xmlns:a="http://schemas.openxmlformats.org/drawingml/2006/main">
            <a:off x="514350" y="3962400"/>
            <a:ext cx="4857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30" name="v16-s4-spd-eyebrow">
            <a:extLst xmlns:a="http://schemas.openxmlformats.org/drawingml/2006/main">
              <a:ext uri="{FF2B5EF4-FFF2-40B4-BE49-F238E27FC236}">
                <a16:creationId xmlns:a16="http://schemas.microsoft.com/office/drawing/2014/main" id="{1D9A862D-1BC1-4CF2-A515-17ED73101A50}"/>
              </a:ext>
            </a:extLst>
          </p:cNvPr>
          <p:cNvSpPr>
            <a:spLocks xmlns:a="http://schemas.openxmlformats.org/drawingml/2006/main" noGrp="1"/>
          </p:cNvSpPr>
          <p:nvPr/>
        </p:nvSpPr>
        <p:spPr>
          <a:xfrm xmlns:a="http://schemas.openxmlformats.org/drawingml/2006/main">
            <a:off x="676275" y="4105275"/>
            <a:ext cx="4533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TARGET 2 · DDR5 SPD HUB</a:t>
            </a:r>
          </a:p>
        </p:txBody>
      </p:sp>
      <p:sp>
        <p:nvSpPr>
          <p:cNvPr id="31" name="v16-s4-spd-title">
            <a:extLst xmlns:a="http://schemas.openxmlformats.org/drawingml/2006/main">
              <a:ext uri="{FF2B5EF4-FFF2-40B4-BE49-F238E27FC236}">
                <a16:creationId xmlns:a16="http://schemas.microsoft.com/office/drawing/2014/main" id="{9680F9DA-F8EE-43B7-9E19-522E012B8CBA}"/>
              </a:ext>
            </a:extLst>
          </p:cNvPr>
          <p:cNvSpPr>
            <a:spLocks xmlns:a="http://schemas.openxmlformats.org/drawingml/2006/main" noGrp="1"/>
          </p:cNvSpPr>
          <p:nvPr/>
        </p:nvSpPr>
        <p:spPr>
          <a:xfrm xmlns:a="http://schemas.openxmlformats.org/drawingml/2006/main">
            <a:off x="676275" y="432435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Protected NVM / EEPROM blocks</a:t>
            </a:r>
          </a:p>
        </p:txBody>
      </p:sp>
      <p:sp>
        <p:nvSpPr>
          <p:cNvPr id="32" name="v16-s4-spd-body">
            <a:extLst xmlns:a="http://schemas.openxmlformats.org/drawingml/2006/main">
              <a:ext uri="{FF2B5EF4-FFF2-40B4-BE49-F238E27FC236}">
                <a16:creationId xmlns:a16="http://schemas.microsoft.com/office/drawing/2014/main" id="{FFF6A9E7-6ABF-4C78-B61B-6100A216C1A2}"/>
              </a:ext>
            </a:extLst>
          </p:cNvPr>
          <p:cNvSpPr>
            <a:spLocks xmlns:a="http://schemas.openxmlformats.org/drawingml/2006/main" noGrp="1"/>
          </p:cNvSpPr>
          <p:nvPr/>
        </p:nvSpPr>
        <p:spPr>
          <a:xfrm xmlns:a="http://schemas.openxmlformats.org/drawingml/2006/main">
            <a:off x="676275" y="4686300"/>
            <a:ext cx="453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Public proof: 8-Kbit / 1024-byte module descriptors with block protection</a:t>
            </a:r>
          </a:p>
        </p:txBody>
      </p:sp>
      <p:sp>
        <p:nvSpPr>
          <p:cNvPr id="33" name="v16-s4-qual-shadow">
            <a:extLst xmlns:a="http://schemas.openxmlformats.org/drawingml/2006/main">
              <a:ext uri="{FF2B5EF4-FFF2-40B4-BE49-F238E27FC236}">
                <a16:creationId xmlns:a16="http://schemas.microsoft.com/office/drawing/2014/main" id="{7D458017-8170-428F-8A0E-000E6B8C937C}"/>
              </a:ext>
            </a:extLst>
          </p:cNvPr>
          <p:cNvSpPr>
            <a:spLocks xmlns:a="http://schemas.openxmlformats.org/drawingml/2006/main" noGrp="1"/>
          </p:cNvSpPr>
          <p:nvPr/>
        </p:nvSpPr>
        <p:spPr>
          <a:xfrm xmlns:a="http://schemas.openxmlformats.org/drawingml/2006/main">
            <a:off x="6219825" y="2390775"/>
            <a:ext cx="5143500" cy="2971800"/>
          </a:xfrm>
          <a:prstGeom xmlns:a="http://schemas.openxmlformats.org/drawingml/2006/main" prst="roundRect">
            <a:avLst>
              <a:gd name="adj" fmla="val 2564"/>
            </a:avLst>
          </a:prstGeom>
          <a:solidFill xmlns:a="http://schemas.openxmlformats.org/drawingml/2006/main">
            <a:srgbClr val="04131E"/>
          </a:solidFill>
          <a:ln xmlns:a="http://schemas.openxmlformats.org/drawingml/2006/main" w="0">
            <a:noFill/>
            <a:prstDash val="solid"/>
          </a:ln>
        </p:spPr>
      </p:sp>
      <p:sp>
        <p:nvSpPr>
          <p:cNvPr id="34" name="v16-s4-qual">
            <a:extLst xmlns:a="http://schemas.openxmlformats.org/drawingml/2006/main">
              <a:ext uri="{FF2B5EF4-FFF2-40B4-BE49-F238E27FC236}">
                <a16:creationId xmlns:a16="http://schemas.microsoft.com/office/drawing/2014/main" id="{6772D2F4-ABF2-4158-B4BD-3E14055DC42D}"/>
              </a:ext>
            </a:extLst>
          </p:cNvPr>
          <p:cNvSpPr>
            <a:spLocks xmlns:a="http://schemas.openxmlformats.org/drawingml/2006/main" noGrp="1"/>
          </p:cNvSpPr>
          <p:nvPr/>
        </p:nvSpPr>
        <p:spPr>
          <a:xfrm xmlns:a="http://schemas.openxmlformats.org/drawingml/2006/main">
            <a:off x="6191250" y="2343150"/>
            <a:ext cx="5143500" cy="2971800"/>
          </a:xfrm>
          <a:prstGeom xmlns:a="http://schemas.openxmlformats.org/drawingml/2006/main" prst="roundRect">
            <a:avLst>
              <a:gd name="adj" fmla="val 2564"/>
            </a:avLst>
          </a:prstGeom>
          <a:solidFill xmlns:a="http://schemas.openxmlformats.org/drawingml/2006/main">
            <a:srgbClr val="061B29"/>
          </a:solidFill>
          <a:ln xmlns:a="http://schemas.openxmlformats.org/drawingml/2006/main" w="0">
            <a:noFill/>
            <a:prstDash val="solid"/>
          </a:ln>
        </p:spPr>
      </p:sp>
      <p:sp>
        <p:nvSpPr>
          <p:cNvPr id="35" name="v16-s4-qual-top">
            <a:extLst xmlns:a="http://schemas.openxmlformats.org/drawingml/2006/main">
              <a:ext uri="{FF2B5EF4-FFF2-40B4-BE49-F238E27FC236}">
                <a16:creationId xmlns:a16="http://schemas.microsoft.com/office/drawing/2014/main" id="{BB4188D0-F515-4240-8C97-2275C9894145}"/>
              </a:ext>
            </a:extLst>
          </p:cNvPr>
          <p:cNvSpPr>
            <a:spLocks xmlns:a="http://schemas.openxmlformats.org/drawingml/2006/main" noGrp="1"/>
          </p:cNvSpPr>
          <p:nvPr/>
        </p:nvSpPr>
        <p:spPr>
          <a:xfrm xmlns:a="http://schemas.openxmlformats.org/drawingml/2006/main">
            <a:off x="6191250" y="2343150"/>
            <a:ext cx="51435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cxnSp>
        <p:nvCxnSpPr>
          <p:cNvPr id="78" name=""/>
          <p:cNvCxnSpPr>
            <a:stCxn xmlns:a="http://schemas.openxmlformats.org/drawingml/2006/main" id="22" idx="3"/>
            <a:endCxn xmlns:a="http://schemas.openxmlformats.org/drawingml/2006/main" id="34" idx="1"/>
          </p:cNvCxnSpPr>
          <p:nvPr/>
        </p:nvCxnSpPr>
        <p:spPr>
          <a:xfrm xmlns:a="http://schemas.openxmlformats.org/drawingml/2006/main">
            <a:off x="5372100" y="3019425"/>
            <a:ext cx="819150" cy="809625"/>
          </a:xfrm>
          <a:prstGeom xmlns:a="http://schemas.openxmlformats.org/drawingml/2006/main" prst="bentConnector3">
            <a:avLst>
              <a:gd name="adj1" fmla="val 50000"/>
            </a:avLst>
          </a:prstGeom>
          <a:ln xmlns:a="http://schemas.openxmlformats.org/drawingml/2006/main" w="19050" cap="rnd">
            <a:solidFill>
              <a:srgbClr val="2B9D7A"/>
            </a:solidFill>
            <a:prstDash val="solid"/>
            <a:round/>
            <a:tailEnd type="arrow" w="sm" len="sm"/>
          </a:ln>
        </p:spPr>
      </p:cxnSp>
      <p:cxnSp>
        <p:nvCxnSpPr>
          <p:cNvPr id="79" name=""/>
          <p:cNvCxnSpPr>
            <a:stCxn xmlns:a="http://schemas.openxmlformats.org/drawingml/2006/main" id="28" idx="3"/>
            <a:endCxn xmlns:a="http://schemas.openxmlformats.org/drawingml/2006/main" id="34" idx="1"/>
          </p:cNvCxnSpPr>
          <p:nvPr/>
        </p:nvCxnSpPr>
        <p:spPr>
          <a:xfrm xmlns:a="http://schemas.openxmlformats.org/drawingml/2006/main" flipV="1">
            <a:off x="5372100" y="3829050"/>
            <a:ext cx="819150" cy="809625"/>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sp>
        <p:nvSpPr>
          <p:cNvPr id="38" name="v16-s4-qual-eyebrow">
            <a:extLst xmlns:a="http://schemas.openxmlformats.org/drawingml/2006/main">
              <a:ext uri="{FF2B5EF4-FFF2-40B4-BE49-F238E27FC236}">
                <a16:creationId xmlns:a16="http://schemas.microsoft.com/office/drawing/2014/main" id="{B6AB9B07-779A-415E-8FDA-5D501A7D1E75}"/>
              </a:ext>
            </a:extLst>
          </p:cNvPr>
          <p:cNvSpPr>
            <a:spLocks xmlns:a="http://schemas.openxmlformats.org/drawingml/2006/main" noGrp="1"/>
          </p:cNvSpPr>
          <p:nvPr/>
        </p:nvSpPr>
        <p:spPr>
          <a:xfrm xmlns:a="http://schemas.openxmlformats.org/drawingml/2006/main">
            <a:off x="6353175" y="2486025"/>
            <a:ext cx="4819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QUALIFICATION CONTRACT</a:t>
            </a:r>
          </a:p>
        </p:txBody>
      </p:sp>
      <p:sp>
        <p:nvSpPr>
          <p:cNvPr id="39" name="v16-s4-qual-title">
            <a:extLst xmlns:a="http://schemas.openxmlformats.org/drawingml/2006/main">
              <a:ext uri="{FF2B5EF4-FFF2-40B4-BE49-F238E27FC236}">
                <a16:creationId xmlns:a16="http://schemas.microsoft.com/office/drawing/2014/main" id="{AEC24726-902F-4828-9238-C4C86C836EF1}"/>
              </a:ext>
            </a:extLst>
          </p:cNvPr>
          <p:cNvSpPr>
            <a:spLocks xmlns:a="http://schemas.openxmlformats.org/drawingml/2006/main" noGrp="1"/>
          </p:cNvSpPr>
          <p:nvPr/>
        </p:nvSpPr>
        <p:spPr>
          <a:xfrm xmlns:a="http://schemas.openxmlformats.org/drawingml/2006/main">
            <a:off x="6353175" y="2705100"/>
            <a:ext cx="4819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Close one named DDR5 program</a:t>
            </a:r>
          </a:p>
        </p:txBody>
      </p:sp>
      <p:sp>
        <p:nvSpPr>
          <p:cNvPr id="40" name="v16-s4-qual-body">
            <a:extLst xmlns:a="http://schemas.openxmlformats.org/drawingml/2006/main">
              <a:ext uri="{FF2B5EF4-FFF2-40B4-BE49-F238E27FC236}">
                <a16:creationId xmlns:a16="http://schemas.microsoft.com/office/drawing/2014/main" id="{0D65952E-09FD-484E-A491-1C60DBE941E5}"/>
              </a:ext>
            </a:extLst>
          </p:cNvPr>
          <p:cNvSpPr>
            <a:spLocks xmlns:a="http://schemas.openxmlformats.org/drawingml/2006/main" noGrp="1"/>
          </p:cNvSpPr>
          <p:nvPr/>
        </p:nvSpPr>
        <p:spPr>
          <a:xfrm xmlns:a="http://schemas.openxmlformats.org/drawingml/2006/main">
            <a:off x="6353175" y="3190875"/>
            <a:ext cx="4819650" cy="1990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exact persistent payload and owner</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write count, endurance and retention</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atomicity, recovery and lock behavior</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process node, I/O option and program path</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interface + candidate Synopsys product</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potential unit definition</a:t>
            </a:r>
          </a:p>
        </p:txBody>
      </p:sp>
      <p:sp>
        <p:nvSpPr>
          <p:cNvPr id="41" name="v16-s4-boundary">
            <a:extLst xmlns:a="http://schemas.openxmlformats.org/drawingml/2006/main">
              <a:ext uri="{FF2B5EF4-FFF2-40B4-BE49-F238E27FC236}">
                <a16:creationId xmlns:a16="http://schemas.microsoft.com/office/drawing/2014/main" id="{0616F39E-C089-41CA-A764-29C2587AC67D}"/>
              </a:ext>
            </a:extLst>
          </p:cNvPr>
          <p:cNvSpPr>
            <a:spLocks xmlns:a="http://schemas.openxmlformats.org/drawingml/2006/main" noGrp="1"/>
          </p:cNvSpPr>
          <p:nvPr/>
        </p:nvSpPr>
        <p:spPr>
          <a:xfrm xmlns:a="http://schemas.openxmlformats.org/drawingml/2006/main">
            <a:off x="514350" y="5581650"/>
            <a:ext cx="10820400" cy="552450"/>
          </a:xfrm>
          <a:prstGeom xmlns:a="http://schemas.openxmlformats.org/drawingml/2006/main" prst="roundRect">
            <a:avLst>
              <a:gd name="adj" fmla="val 13793"/>
            </a:avLst>
          </a:prstGeom>
          <a:solidFill xmlns:a="http://schemas.openxmlformats.org/drawingml/2006/main">
            <a:srgbClr val="061B29"/>
          </a:solidFill>
          <a:ln xmlns:a="http://schemas.openxmlformats.org/drawingml/2006/main" w="0">
            <a:noFill/>
            <a:prstDash val="solid"/>
          </a:ln>
        </p:spPr>
      </p:sp>
      <p:sp>
        <p:nvSpPr>
          <p:cNvPr id="42" name="v16-s4-boundary-text">
            <a:extLst xmlns:a="http://schemas.openxmlformats.org/drawingml/2006/main">
              <a:ext uri="{FF2B5EF4-FFF2-40B4-BE49-F238E27FC236}">
                <a16:creationId xmlns:a16="http://schemas.microsoft.com/office/drawing/2014/main" id="{A492ECEF-DD51-43FE-B4E8-545B6ABF9E46}"/>
              </a:ext>
            </a:extLst>
          </p:cNvPr>
          <p:cNvSpPr>
            <a:spLocks xmlns:a="http://schemas.openxmlformats.org/drawingml/2006/main" noGrp="1"/>
          </p:cNvSpPr>
          <p:nvPr/>
        </p:nvSpPr>
        <p:spPr>
          <a:xfrm xmlns:a="http://schemas.openxmlformats.org/drawingml/2006/main">
            <a:off x="685800" y="56769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30" b="1">
                <a:solidFill>
                  <a:srgbClr val="FFFFFF"/>
                </a:solidFill>
                <a:latin typeface="Arial"/>
                <a:ea typeface="Arial"/>
                <a:cs typeface="Arial"/>
              </a:defRPr>
            </a:pPr>
            <a:r>
              <a:rPr sz="1430" b="1">
                <a:solidFill>
                  <a:srgbClr val="FFFFFF"/>
                </a:solidFill>
                <a:latin typeface="Arial"/>
                <a:ea typeface="Arial"/>
                <a:cs typeface="Arial"/>
              </a:rPr>
              <a:t>Public evidence establishes the socket classes · Synopsys product fit remains a named-target qualification</a:t>
            </a:r>
          </a:p>
        </p:txBody>
      </p:sp>
    </p:spTree>
    <p:extLst>
      <p:ext uri="{BB962C8B-B14F-4D97-AF65-F5344CB8AC3E}">
        <p14:creationId xmlns:p14="http://schemas.microsoft.com/office/powerpoint/2010/main" val="1056388856"/>
      </p:ext>
    </p:extLst>
  </p:cSld>
</p:sld>
</file>

<file path=ppt/slides/slide5.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48" name="v16-bg-5">
            <a:extLst xmlns:a="http://schemas.openxmlformats.org/drawingml/2006/main">
              <a:ext uri="{FF2B5EF4-FFF2-40B4-BE49-F238E27FC236}">
                <a16:creationId xmlns:a16="http://schemas.microsoft.com/office/drawing/2014/main" id="{7CD2128A-8FC3-4918-A3E4-08D00930054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5">
            <a:extLst xmlns:a="http://schemas.openxmlformats.org/drawingml/2006/main">
              <a:ext uri="{FF2B5EF4-FFF2-40B4-BE49-F238E27FC236}">
                <a16:creationId xmlns:a16="http://schemas.microsoft.com/office/drawing/2014/main" id="{B1A4D2C5-6433-4505-BAF6-734B97C5465B}"/>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5">
            <a:extLst xmlns:a="http://schemas.openxmlformats.org/drawingml/2006/main">
              <a:ext uri="{FF2B5EF4-FFF2-40B4-BE49-F238E27FC236}">
                <a16:creationId xmlns:a16="http://schemas.microsoft.com/office/drawing/2014/main" id="{70A39924-7C48-4346-9F2A-C3346B8E268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04 · QUALIFY NOW · AI POWER</a:t>
            </a:r>
          </a:p>
        </p:txBody>
      </p:sp>
      <p:sp>
        <p:nvSpPr>
          <p:cNvPr id="4" name="v16-title-5">
            <a:extLst xmlns:a="http://schemas.openxmlformats.org/drawingml/2006/main">
              <a:ext uri="{FF2B5EF4-FFF2-40B4-BE49-F238E27FC236}">
                <a16:creationId xmlns:a16="http://schemas.microsoft.com/office/drawing/2014/main" id="{4401A630-F8B0-484C-A25B-06B0D5747277}"/>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AI Power Controllers Expose</a:t>
            </a:r>
          </a:p>
          <a:p xmlns:a="http://schemas.openxmlformats.org/drawingml/2006/main">
            <a:pPr>
              <a:spcBef>
                <a:spcPts val="0"/>
              </a:spcBef>
              <a:spcAft>
                <a:spcPts val="200"/>
              </a:spcAft>
            </a:pPr>
            <a:r>
              <a:rPr sz="3000" b="1">
                <a:solidFill>
                  <a:srgbClr val="0A2434"/>
                </a:solidFill>
                <a:latin typeface="Arial"/>
              </a:rPr>
              <a:t>a Bounded-Update NVM Socket</a:t>
            </a:r>
          </a:p>
        </p:txBody>
      </p:sp>
      <p:sp>
        <p:nvSpPr>
          <p:cNvPr id="5" name="v16-subtitle-5">
            <a:extLst xmlns:a="http://schemas.openxmlformats.org/drawingml/2006/main">
              <a:ext uri="{FF2B5EF4-FFF2-40B4-BE49-F238E27FC236}">
                <a16:creationId xmlns:a16="http://schemas.microsoft.com/office/drawing/2014/main" id="{62C5FF15-953B-4F25-B217-D969B82D00F9}"/>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Persistent rail policy, calibration and fault state sit directly beside the AI compute load</a:t>
            </a:r>
          </a:p>
        </p:txBody>
      </p:sp>
      <p:sp>
        <p:nvSpPr>
          <p:cNvPr id="6" name="motif-line-0">
            <a:extLst xmlns:a="http://schemas.openxmlformats.org/drawingml/2006/main">
              <a:ext uri="{FF2B5EF4-FFF2-40B4-BE49-F238E27FC236}">
                <a16:creationId xmlns:a16="http://schemas.microsoft.com/office/drawing/2014/main" id="{4F24AC3B-0DCD-4AE9-AE57-1D193BA6202F}"/>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197F733C-F07B-4549-BE68-B13892735EC4}"/>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24A309C2-6B29-4FEF-99F6-7F21614248A3}"/>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8F48CEF9-432B-4612-B76B-2C5973794A34}"/>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7CBEC5C8-5222-415F-8353-6CB1FC29533E}"/>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67A0DD8F-ACC1-40FE-8C57-45BEC95993AA}"/>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80417434-AAD9-4084-890A-21E522933366}"/>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68E1EF93-707B-4E45-ADE9-9B1B03CAE0BB}"/>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96B19CB4-493E-4C93-9786-2F671C61276A}"/>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6977908C-ADD7-41F8-BE64-92B1D4696576}"/>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5">
            <a:extLst xmlns:a="http://schemas.openxmlformats.org/drawingml/2006/main">
              <a:ext uri="{FF2B5EF4-FFF2-40B4-BE49-F238E27FC236}">
                <a16:creationId xmlns:a16="http://schemas.microsoft.com/office/drawing/2014/main" id="{AD2EFB02-6CFF-47D5-8ADD-208690DAEFC2}"/>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5">
            <a:extLst xmlns:a="http://schemas.openxmlformats.org/drawingml/2006/main">
              <a:ext uri="{FF2B5EF4-FFF2-40B4-BE49-F238E27FC236}">
                <a16:creationId xmlns:a16="http://schemas.microsoft.com/office/drawing/2014/main" id="{CF4717BE-453E-4AF7-8BB3-8ABAE50AC9ED}"/>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5">
            <a:extLst xmlns:a="http://schemas.openxmlformats.org/drawingml/2006/main">
              <a:ext uri="{FF2B5EF4-FFF2-40B4-BE49-F238E27FC236}">
                <a16:creationId xmlns:a16="http://schemas.microsoft.com/office/drawing/2014/main" id="{F2891668-0AD3-4604-A93C-877B48A4D555}"/>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05</a:t>
            </a:r>
          </a:p>
        </p:txBody>
      </p:sp>
      <p:sp>
        <p:nvSpPr>
          <p:cNvPr id="19" name="v16-s5-infineon-shadow">
            <a:extLst xmlns:a="http://schemas.openxmlformats.org/drawingml/2006/main">
              <a:ext uri="{FF2B5EF4-FFF2-40B4-BE49-F238E27FC236}">
                <a16:creationId xmlns:a16="http://schemas.microsoft.com/office/drawing/2014/main" id="{06CD62B7-658E-48F3-A893-52A96ED03ACE}"/>
              </a:ext>
            </a:extLst>
          </p:cNvPr>
          <p:cNvSpPr>
            <a:spLocks xmlns:a="http://schemas.openxmlformats.org/drawingml/2006/main" noGrp="1"/>
          </p:cNvSpPr>
          <p:nvPr/>
        </p:nvSpPr>
        <p:spPr>
          <a:xfrm xmlns:a="http://schemas.openxmlformats.org/drawingml/2006/main">
            <a:off x="542925" y="2257425"/>
            <a:ext cx="2667000" cy="1485900"/>
          </a:xfrm>
          <a:prstGeom xmlns:a="http://schemas.openxmlformats.org/drawingml/2006/main" prst="roundRect">
            <a:avLst>
              <a:gd name="adj" fmla="val 5128"/>
            </a:avLst>
          </a:prstGeom>
          <a:solidFill xmlns:a="http://schemas.openxmlformats.org/drawingml/2006/main">
            <a:srgbClr val="ECF2F4"/>
          </a:solidFill>
          <a:ln xmlns:a="http://schemas.openxmlformats.org/drawingml/2006/main" w="0">
            <a:noFill/>
            <a:prstDash val="solid"/>
          </a:ln>
        </p:spPr>
      </p:sp>
      <p:sp>
        <p:nvSpPr>
          <p:cNvPr id="20" name="v16-s5-infineon">
            <a:extLst xmlns:a="http://schemas.openxmlformats.org/drawingml/2006/main">
              <a:ext uri="{FF2B5EF4-FFF2-40B4-BE49-F238E27FC236}">
                <a16:creationId xmlns:a16="http://schemas.microsoft.com/office/drawing/2014/main" id="{2F31D5D6-AE7B-4B39-8625-DEFEC8E83F8C}"/>
              </a:ext>
            </a:extLst>
          </p:cNvPr>
          <p:cNvSpPr>
            <a:spLocks xmlns:a="http://schemas.openxmlformats.org/drawingml/2006/main" noGrp="1"/>
          </p:cNvSpPr>
          <p:nvPr/>
        </p:nvSpPr>
        <p:spPr>
          <a:xfrm xmlns:a="http://schemas.openxmlformats.org/drawingml/2006/main">
            <a:off x="514350" y="2209800"/>
            <a:ext cx="2667000" cy="1485900"/>
          </a:xfrm>
          <a:prstGeom xmlns:a="http://schemas.openxmlformats.org/drawingml/2006/main" prst="roundRect">
            <a:avLst>
              <a:gd name="adj" fmla="val 5128"/>
            </a:avLst>
          </a:prstGeom>
          <a:solidFill xmlns:a="http://schemas.openxmlformats.org/drawingml/2006/main">
            <a:srgbClr val="E4F4F4"/>
          </a:solidFill>
          <a:ln xmlns:a="http://schemas.openxmlformats.org/drawingml/2006/main" w="10478">
            <a:solidFill>
              <a:srgbClr val="C9D6DA"/>
            </a:solidFill>
            <a:prstDash val="solid"/>
          </a:ln>
        </p:spPr>
      </p:sp>
      <p:sp>
        <p:nvSpPr>
          <p:cNvPr id="21" name="v16-s5-infineon-top">
            <a:extLst xmlns:a="http://schemas.openxmlformats.org/drawingml/2006/main">
              <a:ext uri="{FF2B5EF4-FFF2-40B4-BE49-F238E27FC236}">
                <a16:creationId xmlns:a16="http://schemas.microsoft.com/office/drawing/2014/main" id="{ED1C9827-4943-494D-9A23-9B9D351CC51A}"/>
              </a:ext>
            </a:extLst>
          </p:cNvPr>
          <p:cNvSpPr>
            <a:spLocks xmlns:a="http://schemas.openxmlformats.org/drawingml/2006/main" noGrp="1"/>
          </p:cNvSpPr>
          <p:nvPr/>
        </p:nvSpPr>
        <p:spPr>
          <a:xfrm xmlns:a="http://schemas.openxmlformats.org/drawingml/2006/main">
            <a:off x="514350" y="2209800"/>
            <a:ext cx="2667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2" name="v16-s5-ti-shadow">
            <a:extLst xmlns:a="http://schemas.openxmlformats.org/drawingml/2006/main">
              <a:ext uri="{FF2B5EF4-FFF2-40B4-BE49-F238E27FC236}">
                <a16:creationId xmlns:a16="http://schemas.microsoft.com/office/drawing/2014/main" id="{D9994603-33D2-4CDD-BADE-6CA303E010C1}"/>
              </a:ext>
            </a:extLst>
          </p:cNvPr>
          <p:cNvSpPr>
            <a:spLocks xmlns:a="http://schemas.openxmlformats.org/drawingml/2006/main" noGrp="1"/>
          </p:cNvSpPr>
          <p:nvPr/>
        </p:nvSpPr>
        <p:spPr>
          <a:xfrm xmlns:a="http://schemas.openxmlformats.org/drawingml/2006/main">
            <a:off x="542925" y="3952875"/>
            <a:ext cx="2667000" cy="1371600"/>
          </a:xfrm>
          <a:prstGeom xmlns:a="http://schemas.openxmlformats.org/drawingml/2006/main" prst="roundRect">
            <a:avLst>
              <a:gd name="adj" fmla="val 5556"/>
            </a:avLst>
          </a:prstGeom>
          <a:solidFill xmlns:a="http://schemas.openxmlformats.org/drawingml/2006/main">
            <a:srgbClr val="ECF2F4"/>
          </a:solidFill>
          <a:ln xmlns:a="http://schemas.openxmlformats.org/drawingml/2006/main" w="0">
            <a:noFill/>
            <a:prstDash val="solid"/>
          </a:ln>
        </p:spPr>
      </p:sp>
      <p:sp>
        <p:nvSpPr>
          <p:cNvPr id="23" name="v16-s5-ti">
            <a:extLst xmlns:a="http://schemas.openxmlformats.org/drawingml/2006/main">
              <a:ext uri="{FF2B5EF4-FFF2-40B4-BE49-F238E27FC236}">
                <a16:creationId xmlns:a16="http://schemas.microsoft.com/office/drawing/2014/main" id="{C91F7627-D8BF-4E46-85A8-5F3C58D60E10}"/>
              </a:ext>
            </a:extLst>
          </p:cNvPr>
          <p:cNvSpPr>
            <a:spLocks xmlns:a="http://schemas.openxmlformats.org/drawingml/2006/main" noGrp="1"/>
          </p:cNvSpPr>
          <p:nvPr/>
        </p:nvSpPr>
        <p:spPr>
          <a:xfrm xmlns:a="http://schemas.openxmlformats.org/drawingml/2006/main">
            <a:off x="514350" y="3905250"/>
            <a:ext cx="2667000" cy="1371600"/>
          </a:xfrm>
          <a:prstGeom xmlns:a="http://schemas.openxmlformats.org/drawingml/2006/main" prst="roundRect">
            <a:avLst>
              <a:gd name="adj" fmla="val 5556"/>
            </a:avLst>
          </a:prstGeom>
          <a:solidFill xmlns:a="http://schemas.openxmlformats.org/drawingml/2006/main">
            <a:srgbClr val="E4F4F4"/>
          </a:solidFill>
          <a:ln xmlns:a="http://schemas.openxmlformats.org/drawingml/2006/main" w="10478">
            <a:solidFill>
              <a:srgbClr val="C9D6DA"/>
            </a:solidFill>
            <a:prstDash val="solid"/>
          </a:ln>
        </p:spPr>
      </p:sp>
      <p:sp>
        <p:nvSpPr>
          <p:cNvPr id="24" name="v16-s5-ti-top">
            <a:extLst xmlns:a="http://schemas.openxmlformats.org/drawingml/2006/main">
              <a:ext uri="{FF2B5EF4-FFF2-40B4-BE49-F238E27FC236}">
                <a16:creationId xmlns:a16="http://schemas.microsoft.com/office/drawing/2014/main" id="{BAEC8CB5-C113-4FFD-95F9-4920A8E21E15}"/>
              </a:ext>
            </a:extLst>
          </p:cNvPr>
          <p:cNvSpPr>
            <a:spLocks xmlns:a="http://schemas.openxmlformats.org/drawingml/2006/main" noGrp="1"/>
          </p:cNvSpPr>
          <p:nvPr/>
        </p:nvSpPr>
        <p:spPr>
          <a:xfrm xmlns:a="http://schemas.openxmlformats.org/drawingml/2006/main">
            <a:off x="514350" y="3905250"/>
            <a:ext cx="2667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5" name="v16-s5-state-shadow">
            <a:extLst xmlns:a="http://schemas.openxmlformats.org/drawingml/2006/main">
              <a:ext uri="{FF2B5EF4-FFF2-40B4-BE49-F238E27FC236}">
                <a16:creationId xmlns:a16="http://schemas.microsoft.com/office/drawing/2014/main" id="{FECAF564-F501-4BAE-8DAC-55226DDD9BD8}"/>
              </a:ext>
            </a:extLst>
          </p:cNvPr>
          <p:cNvSpPr>
            <a:spLocks xmlns:a="http://schemas.openxmlformats.org/drawingml/2006/main" noGrp="1"/>
          </p:cNvSpPr>
          <p:nvPr/>
        </p:nvSpPr>
        <p:spPr>
          <a:xfrm xmlns:a="http://schemas.openxmlformats.org/drawingml/2006/main">
            <a:off x="4029075" y="2695575"/>
            <a:ext cx="2857500" cy="2133600"/>
          </a:xfrm>
          <a:prstGeom xmlns:a="http://schemas.openxmlformats.org/drawingml/2006/main" prst="roundRect">
            <a:avLst>
              <a:gd name="adj" fmla="val 3571"/>
            </a:avLst>
          </a:prstGeom>
          <a:solidFill xmlns:a="http://schemas.openxmlformats.org/drawingml/2006/main">
            <a:srgbClr val="04131E"/>
          </a:solidFill>
          <a:ln xmlns:a="http://schemas.openxmlformats.org/drawingml/2006/main" w="0">
            <a:noFill/>
            <a:prstDash val="solid"/>
          </a:ln>
        </p:spPr>
      </p:sp>
      <p:sp>
        <p:nvSpPr>
          <p:cNvPr id="26" name="v16-s5-state">
            <a:extLst xmlns:a="http://schemas.openxmlformats.org/drawingml/2006/main">
              <a:ext uri="{FF2B5EF4-FFF2-40B4-BE49-F238E27FC236}">
                <a16:creationId xmlns:a16="http://schemas.microsoft.com/office/drawing/2014/main" id="{2D9664CE-5275-45E1-94AE-72B51B141976}"/>
              </a:ext>
            </a:extLst>
          </p:cNvPr>
          <p:cNvSpPr>
            <a:spLocks xmlns:a="http://schemas.openxmlformats.org/drawingml/2006/main" noGrp="1"/>
          </p:cNvSpPr>
          <p:nvPr/>
        </p:nvSpPr>
        <p:spPr>
          <a:xfrm xmlns:a="http://schemas.openxmlformats.org/drawingml/2006/main">
            <a:off x="4000500" y="2647950"/>
            <a:ext cx="2857500" cy="2133600"/>
          </a:xfrm>
          <a:prstGeom xmlns:a="http://schemas.openxmlformats.org/drawingml/2006/main" prst="roundRect">
            <a:avLst>
              <a:gd name="adj" fmla="val 3571"/>
            </a:avLst>
          </a:prstGeom>
          <a:solidFill xmlns:a="http://schemas.openxmlformats.org/drawingml/2006/main">
            <a:srgbClr val="061B29"/>
          </a:solidFill>
          <a:ln xmlns:a="http://schemas.openxmlformats.org/drawingml/2006/main" w="0">
            <a:noFill/>
            <a:prstDash val="solid"/>
          </a:ln>
        </p:spPr>
      </p:sp>
      <p:sp>
        <p:nvSpPr>
          <p:cNvPr id="27" name="v16-s5-state-top">
            <a:extLst xmlns:a="http://schemas.openxmlformats.org/drawingml/2006/main">
              <a:ext uri="{FF2B5EF4-FFF2-40B4-BE49-F238E27FC236}">
                <a16:creationId xmlns:a16="http://schemas.microsoft.com/office/drawing/2014/main" id="{AE6F7DF6-C1E1-4669-AC2E-062A127E7C3F}"/>
              </a:ext>
            </a:extLst>
          </p:cNvPr>
          <p:cNvSpPr>
            <a:spLocks xmlns:a="http://schemas.openxmlformats.org/drawingml/2006/main" noGrp="1"/>
          </p:cNvSpPr>
          <p:nvPr/>
        </p:nvSpPr>
        <p:spPr>
          <a:xfrm xmlns:a="http://schemas.openxmlformats.org/drawingml/2006/main">
            <a:off x="4000500" y="2647950"/>
            <a:ext cx="28575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sp>
        <p:nvSpPr>
          <p:cNvPr id="28" name="v16-s5-fit-shadow">
            <a:extLst xmlns:a="http://schemas.openxmlformats.org/drawingml/2006/main">
              <a:ext uri="{FF2B5EF4-FFF2-40B4-BE49-F238E27FC236}">
                <a16:creationId xmlns:a16="http://schemas.microsoft.com/office/drawing/2014/main" id="{19293775-8DD1-40B6-8738-376A7393CF01}"/>
              </a:ext>
            </a:extLst>
          </p:cNvPr>
          <p:cNvSpPr>
            <a:spLocks xmlns:a="http://schemas.openxmlformats.org/drawingml/2006/main" noGrp="1"/>
          </p:cNvSpPr>
          <p:nvPr/>
        </p:nvSpPr>
        <p:spPr>
          <a:xfrm xmlns:a="http://schemas.openxmlformats.org/drawingml/2006/main">
            <a:off x="7705725" y="2257425"/>
            <a:ext cx="3657600" cy="3067050"/>
          </a:xfrm>
          <a:prstGeom xmlns:a="http://schemas.openxmlformats.org/drawingml/2006/main" prst="roundRect">
            <a:avLst>
              <a:gd name="adj" fmla="val 2484"/>
            </a:avLst>
          </a:prstGeom>
          <a:solidFill xmlns:a="http://schemas.openxmlformats.org/drawingml/2006/main">
            <a:srgbClr val="ECF2F4"/>
          </a:solidFill>
          <a:ln xmlns:a="http://schemas.openxmlformats.org/drawingml/2006/main" w="0">
            <a:noFill/>
            <a:prstDash val="solid"/>
          </a:ln>
        </p:spPr>
      </p:sp>
      <p:sp>
        <p:nvSpPr>
          <p:cNvPr id="29" name="v16-s5-fit">
            <a:extLst xmlns:a="http://schemas.openxmlformats.org/drawingml/2006/main">
              <a:ext uri="{FF2B5EF4-FFF2-40B4-BE49-F238E27FC236}">
                <a16:creationId xmlns:a16="http://schemas.microsoft.com/office/drawing/2014/main" id="{4F2EC676-187F-4E42-A328-351C2C233E3A}"/>
              </a:ext>
            </a:extLst>
          </p:cNvPr>
          <p:cNvSpPr>
            <a:spLocks xmlns:a="http://schemas.openxmlformats.org/drawingml/2006/main" noGrp="1"/>
          </p:cNvSpPr>
          <p:nvPr/>
        </p:nvSpPr>
        <p:spPr>
          <a:xfrm xmlns:a="http://schemas.openxmlformats.org/drawingml/2006/main">
            <a:off x="7677150" y="2209800"/>
            <a:ext cx="3657600" cy="3067050"/>
          </a:xfrm>
          <a:prstGeom xmlns:a="http://schemas.openxmlformats.org/drawingml/2006/main" prst="roundRect">
            <a:avLst>
              <a:gd name="adj" fmla="val 2484"/>
            </a:avLst>
          </a:prstGeom>
          <a:solidFill xmlns:a="http://schemas.openxmlformats.org/drawingml/2006/main">
            <a:srgbClr val="E9F4EF"/>
          </a:solidFill>
          <a:ln xmlns:a="http://schemas.openxmlformats.org/drawingml/2006/main" w="10478">
            <a:solidFill>
              <a:srgbClr val="C9D6DA"/>
            </a:solidFill>
            <a:prstDash val="solid"/>
          </a:ln>
        </p:spPr>
      </p:sp>
      <p:sp>
        <p:nvSpPr>
          <p:cNvPr id="30" name="v16-s5-fit-top">
            <a:extLst xmlns:a="http://schemas.openxmlformats.org/drawingml/2006/main">
              <a:ext uri="{FF2B5EF4-FFF2-40B4-BE49-F238E27FC236}">
                <a16:creationId xmlns:a16="http://schemas.microsoft.com/office/drawing/2014/main" id="{F1E9F3FC-70A6-4F80-8133-144EB2D12EA3}"/>
              </a:ext>
            </a:extLst>
          </p:cNvPr>
          <p:cNvSpPr>
            <a:spLocks xmlns:a="http://schemas.openxmlformats.org/drawingml/2006/main" noGrp="1"/>
          </p:cNvSpPr>
          <p:nvPr/>
        </p:nvSpPr>
        <p:spPr>
          <a:xfrm xmlns:a="http://schemas.openxmlformats.org/drawingml/2006/main">
            <a:off x="7677150" y="2209800"/>
            <a:ext cx="36576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sp>
      <p:cxnSp>
        <p:nvCxnSpPr>
          <p:cNvPr id="78" name=""/>
          <p:cNvCxnSpPr>
            <a:stCxn xmlns:a="http://schemas.openxmlformats.org/drawingml/2006/main" id="20" idx="3"/>
            <a:endCxn xmlns:a="http://schemas.openxmlformats.org/drawingml/2006/main" id="26" idx="1"/>
          </p:cNvCxnSpPr>
          <p:nvPr/>
        </p:nvCxnSpPr>
        <p:spPr>
          <a:xfrm xmlns:a="http://schemas.openxmlformats.org/drawingml/2006/main">
            <a:off x="3181350" y="2952750"/>
            <a:ext cx="819150" cy="762000"/>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cxnSp>
        <p:nvCxnSpPr>
          <p:cNvPr id="79" name=""/>
          <p:cNvCxnSpPr>
            <a:stCxn xmlns:a="http://schemas.openxmlformats.org/drawingml/2006/main" id="23" idx="3"/>
            <a:endCxn xmlns:a="http://schemas.openxmlformats.org/drawingml/2006/main" id="26" idx="1"/>
          </p:cNvCxnSpPr>
          <p:nvPr/>
        </p:nvCxnSpPr>
        <p:spPr>
          <a:xfrm xmlns:a="http://schemas.openxmlformats.org/drawingml/2006/main" flipV="1">
            <a:off x="3181350" y="3714750"/>
            <a:ext cx="819150" cy="876300"/>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cxnSp>
        <p:nvCxnSpPr>
          <p:cNvPr id="80" name=""/>
          <p:cNvCxnSpPr>
            <a:stCxn xmlns:a="http://schemas.openxmlformats.org/drawingml/2006/main" id="26" idx="3"/>
            <a:endCxn xmlns:a="http://schemas.openxmlformats.org/drawingml/2006/main" id="29" idx="1"/>
          </p:cNvCxnSpPr>
          <p:nvPr/>
        </p:nvCxnSpPr>
        <p:spPr>
          <a:xfrm xmlns:a="http://schemas.openxmlformats.org/drawingml/2006/main">
            <a:off x="6858000" y="3714750"/>
            <a:ext cx="819150" cy="28575"/>
          </a:xfrm>
          <a:prstGeom xmlns:a="http://schemas.openxmlformats.org/drawingml/2006/main" prst="straightConnector1">
            <a:avLst/>
          </a:prstGeom>
          <a:ln xmlns:a="http://schemas.openxmlformats.org/drawingml/2006/main" w="20955" cap="rnd">
            <a:solidFill>
              <a:srgbClr val="2B9D7A"/>
            </a:solidFill>
            <a:prstDash val="dash"/>
            <a:round/>
            <a:tailEnd type="arrow" w="sm" len="sm"/>
          </a:ln>
        </p:spPr>
      </p:cxnSp>
      <p:sp>
        <p:nvSpPr>
          <p:cNvPr id="34" name="v16-s5-infineon-eyebrow">
            <a:extLst xmlns:a="http://schemas.openxmlformats.org/drawingml/2006/main">
              <a:ext uri="{FF2B5EF4-FFF2-40B4-BE49-F238E27FC236}">
                <a16:creationId xmlns:a16="http://schemas.microsoft.com/office/drawing/2014/main" id="{92BA0395-9F2E-40E0-99B1-DE6D2BCF36FA}"/>
              </a:ext>
            </a:extLst>
          </p:cNvPr>
          <p:cNvSpPr>
            <a:spLocks xmlns:a="http://schemas.openxmlformats.org/drawingml/2006/main" noGrp="1"/>
          </p:cNvSpPr>
          <p:nvPr/>
        </p:nvSpPr>
        <p:spPr>
          <a:xfrm xmlns:a="http://schemas.openxmlformats.org/drawingml/2006/main">
            <a:off x="676275" y="2352675"/>
            <a:ext cx="2343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PRODUCT PROOF</a:t>
            </a:r>
          </a:p>
        </p:txBody>
      </p:sp>
      <p:sp>
        <p:nvSpPr>
          <p:cNvPr id="35" name="v16-s5-infineon-title">
            <a:extLst xmlns:a="http://schemas.openxmlformats.org/drawingml/2006/main">
              <a:ext uri="{FF2B5EF4-FFF2-40B4-BE49-F238E27FC236}">
                <a16:creationId xmlns:a16="http://schemas.microsoft.com/office/drawing/2014/main" id="{DEBE8AEB-1F26-45E1-94B9-FAB33DC49470}"/>
              </a:ext>
            </a:extLst>
          </p:cNvPr>
          <p:cNvSpPr>
            <a:spLocks xmlns:a="http://schemas.openxmlformats.org/drawingml/2006/main" noGrp="1"/>
          </p:cNvSpPr>
          <p:nvPr/>
        </p:nvSpPr>
        <p:spPr>
          <a:xfrm xmlns:a="http://schemas.openxmlformats.org/drawingml/2006/main">
            <a:off x="676275" y="2571750"/>
            <a:ext cx="2343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INFINEON</a:t>
            </a:r>
          </a:p>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XDPE1C284A</a:t>
            </a:r>
          </a:p>
        </p:txBody>
      </p:sp>
      <p:sp>
        <p:nvSpPr>
          <p:cNvPr id="36" name="v16-s5-infineon-body">
            <a:extLst xmlns:a="http://schemas.openxmlformats.org/drawingml/2006/main">
              <a:ext uri="{FF2B5EF4-FFF2-40B4-BE49-F238E27FC236}">
                <a16:creationId xmlns:a16="http://schemas.microsoft.com/office/drawing/2014/main" id="{AB9EBF95-D0C1-4302-A38D-BE22D370EE6A}"/>
              </a:ext>
            </a:extLst>
          </p:cNvPr>
          <p:cNvSpPr>
            <a:spLocks xmlns:a="http://schemas.openxmlformats.org/drawingml/2006/main" noGrp="1"/>
          </p:cNvSpPr>
          <p:nvPr/>
        </p:nvSpPr>
        <p:spPr>
          <a:xfrm xmlns:a="http://schemas.openxmlformats.org/drawingml/2006/main">
            <a:off x="676275" y="3095625"/>
            <a:ext cx="23431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AI / server power control</a:t>
            </a:r>
          </a:p>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Internal NVM</a:t>
            </a:r>
          </a:p>
        </p:txBody>
      </p:sp>
      <p:sp>
        <p:nvSpPr>
          <p:cNvPr id="37" name="v16-s5-ti-eyebrow">
            <a:extLst xmlns:a="http://schemas.openxmlformats.org/drawingml/2006/main">
              <a:ext uri="{FF2B5EF4-FFF2-40B4-BE49-F238E27FC236}">
                <a16:creationId xmlns:a16="http://schemas.microsoft.com/office/drawing/2014/main" id="{D1051F03-93FD-41A4-ABB9-D188EC3254FF}"/>
              </a:ext>
            </a:extLst>
          </p:cNvPr>
          <p:cNvSpPr>
            <a:spLocks xmlns:a="http://schemas.openxmlformats.org/drawingml/2006/main" noGrp="1"/>
          </p:cNvSpPr>
          <p:nvPr/>
        </p:nvSpPr>
        <p:spPr>
          <a:xfrm xmlns:a="http://schemas.openxmlformats.org/drawingml/2006/main">
            <a:off x="676275" y="4048125"/>
            <a:ext cx="2343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PRODUCT PROOF</a:t>
            </a:r>
          </a:p>
        </p:txBody>
      </p:sp>
      <p:sp>
        <p:nvSpPr>
          <p:cNvPr id="38" name="v16-s5-ti-title">
            <a:extLst xmlns:a="http://schemas.openxmlformats.org/drawingml/2006/main">
              <a:ext uri="{FF2B5EF4-FFF2-40B4-BE49-F238E27FC236}">
                <a16:creationId xmlns:a16="http://schemas.microsoft.com/office/drawing/2014/main" id="{5DD8C713-DE8B-45E0-9255-C32AA2085A97}"/>
              </a:ext>
            </a:extLst>
          </p:cNvPr>
          <p:cNvSpPr>
            <a:spLocks xmlns:a="http://schemas.openxmlformats.org/drawingml/2006/main" noGrp="1"/>
          </p:cNvSpPr>
          <p:nvPr/>
        </p:nvSpPr>
        <p:spPr>
          <a:xfrm xmlns:a="http://schemas.openxmlformats.org/drawingml/2006/main">
            <a:off x="676275" y="4267200"/>
            <a:ext cx="2343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TI TPS536C9T</a:t>
            </a:r>
          </a:p>
        </p:txBody>
      </p:sp>
      <p:sp>
        <p:nvSpPr>
          <p:cNvPr id="39" name="v16-s5-ti-body">
            <a:extLst xmlns:a="http://schemas.openxmlformats.org/drawingml/2006/main">
              <a:ext uri="{FF2B5EF4-FFF2-40B4-BE49-F238E27FC236}">
                <a16:creationId xmlns:a16="http://schemas.microsoft.com/office/drawing/2014/main" id="{FE8BB669-7FB1-4387-B61D-FDCE5A7B8AF0}"/>
              </a:ext>
            </a:extLst>
          </p:cNvPr>
          <p:cNvSpPr>
            <a:spLocks xmlns:a="http://schemas.openxmlformats.org/drawingml/2006/main" noGrp="1"/>
          </p:cNvSpPr>
          <p:nvPr/>
        </p:nvSpPr>
        <p:spPr>
          <a:xfrm xmlns:a="http://schemas.openxmlformats.org/drawingml/2006/main">
            <a:off x="676275" y="4572000"/>
            <a:ext cx="2343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Built-in NVM · defaults</a:t>
            </a:r>
          </a:p>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Fault status · per-phase calibration</a:t>
            </a:r>
          </a:p>
        </p:txBody>
      </p:sp>
      <p:sp>
        <p:nvSpPr>
          <p:cNvPr id="40" name="v16-s5-state-eyebrow">
            <a:extLst xmlns:a="http://schemas.openxmlformats.org/drawingml/2006/main">
              <a:ext uri="{FF2B5EF4-FFF2-40B4-BE49-F238E27FC236}">
                <a16:creationId xmlns:a16="http://schemas.microsoft.com/office/drawing/2014/main" id="{0A91220F-8828-4C69-9AE0-B33E7890FBF5}"/>
              </a:ext>
            </a:extLst>
          </p:cNvPr>
          <p:cNvSpPr>
            <a:spLocks xmlns:a="http://schemas.openxmlformats.org/drawingml/2006/main" noGrp="1"/>
          </p:cNvSpPr>
          <p:nvPr/>
        </p:nvSpPr>
        <p:spPr>
          <a:xfrm xmlns:a="http://schemas.openxmlformats.org/drawingml/2006/main">
            <a:off x="4162425" y="2790825"/>
            <a:ext cx="2533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STATE PARTITION</a:t>
            </a:r>
          </a:p>
        </p:txBody>
      </p:sp>
      <p:sp>
        <p:nvSpPr>
          <p:cNvPr id="41" name="v16-s5-state-title">
            <a:extLst xmlns:a="http://schemas.openxmlformats.org/drawingml/2006/main">
              <a:ext uri="{FF2B5EF4-FFF2-40B4-BE49-F238E27FC236}">
                <a16:creationId xmlns:a16="http://schemas.microsoft.com/office/drawing/2014/main" id="{2186E640-DB72-4106-B1CE-557A0B45D7FE}"/>
              </a:ext>
            </a:extLst>
          </p:cNvPr>
          <p:cNvSpPr>
            <a:spLocks xmlns:a="http://schemas.openxmlformats.org/drawingml/2006/main" noGrp="1"/>
          </p:cNvSpPr>
          <p:nvPr/>
        </p:nvSpPr>
        <p:spPr>
          <a:xfrm xmlns:a="http://schemas.openxmlformats.org/drawingml/2006/main">
            <a:off x="4162425" y="3009900"/>
            <a:ext cx="25336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50" b="1">
                <a:solidFill>
                  <a:srgbClr val="FFFFFF"/>
                </a:solidFill>
                <a:latin typeface="Arial"/>
                <a:ea typeface="Arial"/>
                <a:cs typeface="Arial"/>
              </a:defRPr>
            </a:pPr>
            <a:r>
              <a:rPr sz="1850" b="1">
                <a:solidFill>
                  <a:srgbClr val="FFFFFF"/>
                </a:solidFill>
                <a:latin typeface="Arial"/>
                <a:ea typeface="Arial"/>
                <a:cs typeface="Arial"/>
              </a:rPr>
              <a:t>PERSISTENT STATE</a:t>
            </a:r>
          </a:p>
        </p:txBody>
      </p:sp>
      <p:sp>
        <p:nvSpPr>
          <p:cNvPr id="42" name="v16-s5-state-body">
            <a:extLst xmlns:a="http://schemas.openxmlformats.org/drawingml/2006/main">
              <a:ext uri="{FF2B5EF4-FFF2-40B4-BE49-F238E27FC236}">
                <a16:creationId xmlns:a16="http://schemas.microsoft.com/office/drawing/2014/main" id="{B1A01F04-FC66-4D89-81CE-937D12A472EE}"/>
              </a:ext>
            </a:extLst>
          </p:cNvPr>
          <p:cNvSpPr>
            <a:spLocks xmlns:a="http://schemas.openxmlformats.org/drawingml/2006/main" noGrp="1"/>
          </p:cNvSpPr>
          <p:nvPr/>
        </p:nvSpPr>
        <p:spPr>
          <a:xfrm xmlns:a="http://schemas.openxmlformats.org/drawingml/2006/main">
            <a:off x="4162425" y="3390900"/>
            <a:ext cx="25336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factory trim</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rail policy</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startup sequence</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calibration</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fault / event state</a:t>
            </a:r>
          </a:p>
        </p:txBody>
      </p:sp>
      <p:sp>
        <p:nvSpPr>
          <p:cNvPr id="43" name="v16-s5-fit-eyebrow">
            <a:extLst xmlns:a="http://schemas.openxmlformats.org/drawingml/2006/main">
              <a:ext uri="{FF2B5EF4-FFF2-40B4-BE49-F238E27FC236}">
                <a16:creationId xmlns:a16="http://schemas.microsoft.com/office/drawing/2014/main" id="{CE942F71-91CF-45AE-ACDD-48FE68082F6D}"/>
              </a:ext>
            </a:extLst>
          </p:cNvPr>
          <p:cNvSpPr>
            <a:spLocks xmlns:a="http://schemas.openxmlformats.org/drawingml/2006/main" noGrp="1"/>
          </p:cNvSpPr>
          <p:nvPr/>
        </p:nvSpPr>
        <p:spPr>
          <a:xfrm xmlns:a="http://schemas.openxmlformats.org/drawingml/2006/main">
            <a:off x="7839075" y="2352675"/>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SYNOPSYS PRODUCT-FIT BRIEF</a:t>
            </a:r>
          </a:p>
        </p:txBody>
      </p:sp>
      <p:sp>
        <p:nvSpPr>
          <p:cNvPr id="44" name="v16-s5-fit-title">
            <a:extLst xmlns:a="http://schemas.openxmlformats.org/drawingml/2006/main">
              <a:ext uri="{FF2B5EF4-FFF2-40B4-BE49-F238E27FC236}">
                <a16:creationId xmlns:a16="http://schemas.microsoft.com/office/drawing/2014/main" id="{E669CE5D-983B-41BE-81CF-AF0A9A41454B}"/>
              </a:ext>
            </a:extLst>
          </p:cNvPr>
          <p:cNvSpPr>
            <a:spLocks xmlns:a="http://schemas.openxmlformats.org/drawingml/2006/main" noGrp="1"/>
          </p:cNvSpPr>
          <p:nvPr/>
        </p:nvSpPr>
        <p:spPr>
          <a:xfrm xmlns:a="http://schemas.openxmlformats.org/drawingml/2006/main">
            <a:off x="7839075" y="25717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Partition by write behavior</a:t>
            </a:r>
          </a:p>
        </p:txBody>
      </p:sp>
      <p:sp>
        <p:nvSpPr>
          <p:cNvPr id="45" name="v16-s5-fit-body">
            <a:extLst xmlns:a="http://schemas.openxmlformats.org/drawingml/2006/main">
              <a:ext uri="{FF2B5EF4-FFF2-40B4-BE49-F238E27FC236}">
                <a16:creationId xmlns:a16="http://schemas.microsoft.com/office/drawing/2014/main" id="{37329036-E5DB-4D53-9781-14F7F5CC2B3C}"/>
              </a:ext>
            </a:extLst>
          </p:cNvPr>
          <p:cNvSpPr>
            <a:spLocks xmlns:a="http://schemas.openxmlformats.org/drawingml/2006/main" noGrp="1"/>
          </p:cNvSpPr>
          <p:nvPr/>
        </p:nvSpPr>
        <p:spPr>
          <a:xfrm xmlns:a="http://schemas.openxmlformats.org/drawingml/2006/main">
            <a:off x="7839075" y="2962275"/>
            <a:ext cx="3333750"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OTP · fixed trim / immutable identity</a:t>
            </a:r>
          </a:p>
          <a:p xmlns:a="http://schemas.openxmlformats.org/drawingml/2006/main">
            <a:r>
              <a:t/>
            </a:r>
          </a:p>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MTP · bounded policy / calibration</a:t>
            </a:r>
          </a:p>
          <a:p xmlns:a="http://schemas.openxmlformats.org/drawingml/2006/main">
            <a:r>
              <a:t/>
            </a:r>
          </a:p>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ENDURANCE · event-log write budget</a:t>
            </a:r>
          </a:p>
          <a:p xmlns:a="http://schemas.openxmlformats.org/drawingml/2006/main">
            <a:r>
              <a:t/>
            </a:r>
          </a:p>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CLOSE · node / I/O / supply / interface</a:t>
            </a:r>
          </a:p>
        </p:txBody>
      </p:sp>
      <p:sp>
        <p:nvSpPr>
          <p:cNvPr id="46" name="v16-s5-why">
            <a:extLst xmlns:a="http://schemas.openxmlformats.org/drawingml/2006/main">
              <a:ext uri="{FF2B5EF4-FFF2-40B4-BE49-F238E27FC236}">
                <a16:creationId xmlns:a16="http://schemas.microsoft.com/office/drawing/2014/main" id="{B89B9B9E-7A4D-4190-BD82-85056C8E3BC4}"/>
              </a:ext>
            </a:extLst>
          </p:cNvPr>
          <p:cNvSpPr>
            <a:spLocks xmlns:a="http://schemas.openxmlformats.org/drawingml/2006/main" noGrp="1"/>
          </p:cNvSpPr>
          <p:nvPr/>
        </p:nvSpPr>
        <p:spPr>
          <a:xfrm xmlns:a="http://schemas.openxmlformats.org/drawingml/2006/main">
            <a:off x="514350" y="5581650"/>
            <a:ext cx="10820400" cy="552450"/>
          </a:xfrm>
          <a:prstGeom xmlns:a="http://schemas.openxmlformats.org/drawingml/2006/main" prst="roundRect">
            <a:avLst>
              <a:gd name="adj" fmla="val 13793"/>
            </a:avLst>
          </a:prstGeom>
          <a:solidFill xmlns:a="http://schemas.openxmlformats.org/drawingml/2006/main">
            <a:srgbClr val="061B29"/>
          </a:solidFill>
          <a:ln xmlns:a="http://schemas.openxmlformats.org/drawingml/2006/main" w="0">
            <a:noFill/>
            <a:prstDash val="solid"/>
          </a:ln>
        </p:spPr>
      </p:sp>
      <p:sp>
        <p:nvSpPr>
          <p:cNvPr id="47" name="v16-s5-why-text">
            <a:extLst xmlns:a="http://schemas.openxmlformats.org/drawingml/2006/main">
              <a:ext uri="{FF2B5EF4-FFF2-40B4-BE49-F238E27FC236}">
                <a16:creationId xmlns:a16="http://schemas.microsoft.com/office/drawing/2014/main" id="{7969EEC8-D3DD-43B5-A2D8-61E728985D71}"/>
              </a:ext>
            </a:extLst>
          </p:cNvPr>
          <p:cNvSpPr>
            <a:spLocks xmlns:a="http://schemas.openxmlformats.org/drawingml/2006/main" noGrp="1"/>
          </p:cNvSpPr>
          <p:nvPr/>
        </p:nvSpPr>
        <p:spPr>
          <a:xfrm xmlns:a="http://schemas.openxmlformats.org/drawingml/2006/main">
            <a:off x="685800" y="56769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AI specificity comes from the named accelerator-power socket—not from attaching ‘AI’ to generic calibration</a:t>
            </a:r>
          </a:p>
        </p:txBody>
      </p:sp>
    </p:spTree>
    <p:extLst>
      <p:ext uri="{BB962C8B-B14F-4D97-AF65-F5344CB8AC3E}">
        <p14:creationId xmlns:p14="http://schemas.microsoft.com/office/powerpoint/2010/main" val="1927422062"/>
      </p:ext>
    </p:extLst>
  </p:cSld>
</p:sld>
</file>

<file path=ppt/slides/slide6.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65" name="v16-bg-6">
            <a:extLst xmlns:a="http://schemas.openxmlformats.org/drawingml/2006/main">
              <a:ext uri="{FF2B5EF4-FFF2-40B4-BE49-F238E27FC236}">
                <a16:creationId xmlns:a16="http://schemas.microsoft.com/office/drawing/2014/main" id="{E18AD9C4-3EBA-40CF-A24E-ED371FA6998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6">
            <a:extLst xmlns:a="http://schemas.openxmlformats.org/drawingml/2006/main">
              <a:ext uri="{FF2B5EF4-FFF2-40B4-BE49-F238E27FC236}">
                <a16:creationId xmlns:a16="http://schemas.microsoft.com/office/drawing/2014/main" id="{8FE95DA9-3F8E-4E9C-ACFB-E0732237B31B}"/>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6">
            <a:extLst xmlns:a="http://schemas.openxmlformats.org/drawingml/2006/main">
              <a:ext uri="{FF2B5EF4-FFF2-40B4-BE49-F238E27FC236}">
                <a16:creationId xmlns:a16="http://schemas.microsoft.com/office/drawing/2014/main" id="{3F158ABC-B0E0-4293-ADC6-275FA9D6174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05 · QUALIFY WITH NAMED TARGET · TRUST</a:t>
            </a:r>
          </a:p>
        </p:txBody>
      </p:sp>
      <p:sp>
        <p:nvSpPr>
          <p:cNvPr id="4" name="v16-title-6">
            <a:extLst xmlns:a="http://schemas.openxmlformats.org/drawingml/2006/main">
              <a:ext uri="{FF2B5EF4-FFF2-40B4-BE49-F238E27FC236}">
                <a16:creationId xmlns:a16="http://schemas.microsoft.com/office/drawing/2014/main" id="{BE510B07-CA40-4F73-A464-81EDF70B30F8}"/>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AI Platform Trust Needs OTP and PUF</a:t>
            </a:r>
          </a:p>
          <a:p xmlns:a="http://schemas.openxmlformats.org/drawingml/2006/main">
            <a:pPr>
              <a:spcBef>
                <a:spcPts val="0"/>
              </a:spcBef>
              <a:spcAft>
                <a:spcPts val="200"/>
              </a:spcAft>
            </a:pPr>
            <a:r>
              <a:rPr sz="2700" b="1">
                <a:solidFill>
                  <a:srgbClr val="0A2434"/>
                </a:solidFill>
                <a:latin typeface="Arial"/>
              </a:rPr>
              <a:t>to Solve Different State Problems</a:t>
            </a:r>
          </a:p>
        </p:txBody>
      </p:sp>
      <p:sp>
        <p:nvSpPr>
          <p:cNvPr id="5" name="v16-subtitle-6">
            <a:extLst xmlns:a="http://schemas.openxmlformats.org/drawingml/2006/main">
              <a:ext uri="{FF2B5EF4-FFF2-40B4-BE49-F238E27FC236}">
                <a16:creationId xmlns:a16="http://schemas.microsoft.com/office/drawing/2014/main" id="{9C27E125-8B60-4022-BB09-246A5BE11E0C}"/>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Standards define persistent trust state; a named implementation closes the Synopsys fit</a:t>
            </a:r>
          </a:p>
        </p:txBody>
      </p:sp>
      <p:sp>
        <p:nvSpPr>
          <p:cNvPr id="6" name="motif-line-0">
            <a:extLst xmlns:a="http://schemas.openxmlformats.org/drawingml/2006/main">
              <a:ext uri="{FF2B5EF4-FFF2-40B4-BE49-F238E27FC236}">
                <a16:creationId xmlns:a16="http://schemas.microsoft.com/office/drawing/2014/main" id="{0074EF25-4839-4317-B445-15D57DC098B6}"/>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FBEE3371-4F5A-47DC-82F9-FCAC57941F23}"/>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4966F17F-1457-44D3-BB6E-0B979352C720}"/>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72992035-559D-4FBC-B8D3-B93F494D746E}"/>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B833D08B-7304-4C67-82B1-6E7B67CC3BA7}"/>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89E02ADD-ABB3-4EB8-86DA-2A12D0D2A381}"/>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4EC94292-A397-4E0D-8939-C8FF44A4D0B7}"/>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B2A73CA8-72A3-45C0-9D98-2D329429DCCA}"/>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117EE434-1F56-4ED3-9B86-B71BB816A68E}"/>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DE9DA4CA-C67C-4334-BF2B-BC787C2D8622}"/>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6">
            <a:extLst xmlns:a="http://schemas.openxmlformats.org/drawingml/2006/main">
              <a:ext uri="{FF2B5EF4-FFF2-40B4-BE49-F238E27FC236}">
                <a16:creationId xmlns:a16="http://schemas.microsoft.com/office/drawing/2014/main" id="{B00D7687-A024-4737-9ADA-471648EB1FBC}"/>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6">
            <a:extLst xmlns:a="http://schemas.openxmlformats.org/drawingml/2006/main">
              <a:ext uri="{FF2B5EF4-FFF2-40B4-BE49-F238E27FC236}">
                <a16:creationId xmlns:a16="http://schemas.microsoft.com/office/drawing/2014/main" id="{74A258F4-3662-4E62-9DE4-BA5BAC6AEEE9}"/>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6">
            <a:extLst xmlns:a="http://schemas.openxmlformats.org/drawingml/2006/main">
              <a:ext uri="{FF2B5EF4-FFF2-40B4-BE49-F238E27FC236}">
                <a16:creationId xmlns:a16="http://schemas.microsoft.com/office/drawing/2014/main" id="{03FFE6CF-DBB8-4C3B-A1D9-E5B8F972F866}"/>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06</a:t>
            </a:r>
          </a:p>
        </p:txBody>
      </p:sp>
      <p:sp>
        <p:nvSpPr>
          <p:cNvPr id="19" name="v16-s6-oai-shadow">
            <a:extLst xmlns:a="http://schemas.openxmlformats.org/drawingml/2006/main">
              <a:ext uri="{FF2B5EF4-FFF2-40B4-BE49-F238E27FC236}">
                <a16:creationId xmlns:a16="http://schemas.microsoft.com/office/drawing/2014/main" id="{9D50C917-80BB-4059-91E7-04115D61DCF2}"/>
              </a:ext>
            </a:extLst>
          </p:cNvPr>
          <p:cNvSpPr>
            <a:spLocks xmlns:a="http://schemas.openxmlformats.org/drawingml/2006/main" noGrp="1"/>
          </p:cNvSpPr>
          <p:nvPr/>
        </p:nvSpPr>
        <p:spPr>
          <a:xfrm xmlns:a="http://schemas.openxmlformats.org/drawingml/2006/main">
            <a:off x="542925" y="2124075"/>
            <a:ext cx="2571750" cy="1028700"/>
          </a:xfrm>
          <a:prstGeom xmlns:a="http://schemas.openxmlformats.org/drawingml/2006/main" prst="roundRect">
            <a:avLst>
              <a:gd name="adj" fmla="val 7407"/>
            </a:avLst>
          </a:prstGeom>
          <a:solidFill xmlns:a="http://schemas.openxmlformats.org/drawingml/2006/main">
            <a:srgbClr val="ECF2F4"/>
          </a:solidFill>
          <a:ln xmlns:a="http://schemas.openxmlformats.org/drawingml/2006/main" w="0">
            <a:noFill/>
            <a:prstDash val="solid"/>
          </a:ln>
        </p:spPr>
      </p:sp>
      <p:sp>
        <p:nvSpPr>
          <p:cNvPr id="20" name="v16-s6-oai">
            <a:extLst xmlns:a="http://schemas.openxmlformats.org/drawingml/2006/main">
              <a:ext uri="{FF2B5EF4-FFF2-40B4-BE49-F238E27FC236}">
                <a16:creationId xmlns:a16="http://schemas.microsoft.com/office/drawing/2014/main" id="{C545254E-799A-4064-9FF1-A836FE1E245F}"/>
              </a:ext>
            </a:extLst>
          </p:cNvPr>
          <p:cNvSpPr>
            <a:spLocks xmlns:a="http://schemas.openxmlformats.org/drawingml/2006/main" noGrp="1"/>
          </p:cNvSpPr>
          <p:nvPr/>
        </p:nvSpPr>
        <p:spPr>
          <a:xfrm xmlns:a="http://schemas.openxmlformats.org/drawingml/2006/main">
            <a:off x="514350" y="2076450"/>
            <a:ext cx="2571750" cy="1028700"/>
          </a:xfrm>
          <a:prstGeom xmlns:a="http://schemas.openxmlformats.org/drawingml/2006/main" prst="roundRect">
            <a:avLst>
              <a:gd name="adj" fmla="val 7407"/>
            </a:avLst>
          </a:prstGeom>
          <a:solidFill xmlns:a="http://schemas.openxmlformats.org/drawingml/2006/main">
            <a:srgbClr val="E4F4F4"/>
          </a:solidFill>
          <a:ln xmlns:a="http://schemas.openxmlformats.org/drawingml/2006/main" w="10478">
            <a:solidFill>
              <a:srgbClr val="C9D6DA"/>
            </a:solidFill>
            <a:prstDash val="solid"/>
          </a:ln>
        </p:spPr>
      </p:sp>
      <p:sp>
        <p:nvSpPr>
          <p:cNvPr id="21" name="v16-s6-oai-top">
            <a:extLst xmlns:a="http://schemas.openxmlformats.org/drawingml/2006/main">
              <a:ext uri="{FF2B5EF4-FFF2-40B4-BE49-F238E27FC236}">
                <a16:creationId xmlns:a16="http://schemas.microsoft.com/office/drawing/2014/main" id="{FB18297B-93D4-478E-A5AA-D8452BEACC69}"/>
              </a:ext>
            </a:extLst>
          </p:cNvPr>
          <p:cNvSpPr>
            <a:spLocks xmlns:a="http://schemas.openxmlformats.org/drawingml/2006/main" noGrp="1"/>
          </p:cNvSpPr>
          <p:nvPr/>
        </p:nvSpPr>
        <p:spPr>
          <a:xfrm xmlns:a="http://schemas.openxmlformats.org/drawingml/2006/main">
            <a:off x="514350" y="2076450"/>
            <a:ext cx="2571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2" name="v16-s6-caliptra-shadow">
            <a:extLst xmlns:a="http://schemas.openxmlformats.org/drawingml/2006/main">
              <a:ext uri="{FF2B5EF4-FFF2-40B4-BE49-F238E27FC236}">
                <a16:creationId xmlns:a16="http://schemas.microsoft.com/office/drawing/2014/main" id="{8985AE7F-FFF3-4BBE-80DF-1B1E728D8A42}"/>
              </a:ext>
            </a:extLst>
          </p:cNvPr>
          <p:cNvSpPr>
            <a:spLocks xmlns:a="http://schemas.openxmlformats.org/drawingml/2006/main" noGrp="1"/>
          </p:cNvSpPr>
          <p:nvPr/>
        </p:nvSpPr>
        <p:spPr>
          <a:xfrm xmlns:a="http://schemas.openxmlformats.org/drawingml/2006/main">
            <a:off x="542925" y="3267075"/>
            <a:ext cx="2571750" cy="1028700"/>
          </a:xfrm>
          <a:prstGeom xmlns:a="http://schemas.openxmlformats.org/drawingml/2006/main" prst="roundRect">
            <a:avLst>
              <a:gd name="adj" fmla="val 7407"/>
            </a:avLst>
          </a:prstGeom>
          <a:solidFill xmlns:a="http://schemas.openxmlformats.org/drawingml/2006/main">
            <a:srgbClr val="ECF2F4"/>
          </a:solidFill>
          <a:ln xmlns:a="http://schemas.openxmlformats.org/drawingml/2006/main" w="0">
            <a:noFill/>
            <a:prstDash val="solid"/>
          </a:ln>
        </p:spPr>
      </p:sp>
      <p:sp>
        <p:nvSpPr>
          <p:cNvPr id="23" name="v16-s6-caliptra">
            <a:extLst xmlns:a="http://schemas.openxmlformats.org/drawingml/2006/main">
              <a:ext uri="{FF2B5EF4-FFF2-40B4-BE49-F238E27FC236}">
                <a16:creationId xmlns:a16="http://schemas.microsoft.com/office/drawing/2014/main" id="{31FEC940-6497-4E26-BCF5-4706DCCC8DC0}"/>
              </a:ext>
            </a:extLst>
          </p:cNvPr>
          <p:cNvSpPr>
            <a:spLocks xmlns:a="http://schemas.openxmlformats.org/drawingml/2006/main" noGrp="1"/>
          </p:cNvSpPr>
          <p:nvPr/>
        </p:nvSpPr>
        <p:spPr>
          <a:xfrm xmlns:a="http://schemas.openxmlformats.org/drawingml/2006/main">
            <a:off x="514350" y="3219450"/>
            <a:ext cx="2571750" cy="1028700"/>
          </a:xfrm>
          <a:prstGeom xmlns:a="http://schemas.openxmlformats.org/drawingml/2006/main" prst="roundRect">
            <a:avLst>
              <a:gd name="adj" fmla="val 7407"/>
            </a:avLst>
          </a:prstGeom>
          <a:solidFill xmlns:a="http://schemas.openxmlformats.org/drawingml/2006/main">
            <a:srgbClr val="E4F4F4"/>
          </a:solidFill>
          <a:ln xmlns:a="http://schemas.openxmlformats.org/drawingml/2006/main" w="10478">
            <a:solidFill>
              <a:srgbClr val="C9D6DA"/>
            </a:solidFill>
            <a:prstDash val="solid"/>
          </a:ln>
        </p:spPr>
      </p:sp>
      <p:sp>
        <p:nvSpPr>
          <p:cNvPr id="24" name="v16-s6-caliptra-top">
            <a:extLst xmlns:a="http://schemas.openxmlformats.org/drawingml/2006/main">
              <a:ext uri="{FF2B5EF4-FFF2-40B4-BE49-F238E27FC236}">
                <a16:creationId xmlns:a16="http://schemas.microsoft.com/office/drawing/2014/main" id="{102B16E9-035C-4590-A9FA-B9FC20378864}"/>
              </a:ext>
            </a:extLst>
          </p:cNvPr>
          <p:cNvSpPr>
            <a:spLocks xmlns:a="http://schemas.openxmlformats.org/drawingml/2006/main" noGrp="1"/>
          </p:cNvSpPr>
          <p:nvPr/>
        </p:nvSpPr>
        <p:spPr>
          <a:xfrm xmlns:a="http://schemas.openxmlformats.org/drawingml/2006/main">
            <a:off x="514350" y="3219450"/>
            <a:ext cx="2571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5" name="v16-s6-axiado-shadow">
            <a:extLst xmlns:a="http://schemas.openxmlformats.org/drawingml/2006/main">
              <a:ext uri="{FF2B5EF4-FFF2-40B4-BE49-F238E27FC236}">
                <a16:creationId xmlns:a16="http://schemas.microsoft.com/office/drawing/2014/main" id="{4D5D7263-63A9-4126-B908-FFBA151463C3}"/>
              </a:ext>
            </a:extLst>
          </p:cNvPr>
          <p:cNvSpPr>
            <a:spLocks xmlns:a="http://schemas.openxmlformats.org/drawingml/2006/main" noGrp="1"/>
          </p:cNvSpPr>
          <p:nvPr/>
        </p:nvSpPr>
        <p:spPr>
          <a:xfrm xmlns:a="http://schemas.openxmlformats.org/drawingml/2006/main">
            <a:off x="542925" y="4410075"/>
            <a:ext cx="2571750" cy="1028700"/>
          </a:xfrm>
          <a:prstGeom xmlns:a="http://schemas.openxmlformats.org/drawingml/2006/main" prst="roundRect">
            <a:avLst>
              <a:gd name="adj" fmla="val 7407"/>
            </a:avLst>
          </a:prstGeom>
          <a:solidFill xmlns:a="http://schemas.openxmlformats.org/drawingml/2006/main">
            <a:srgbClr val="ECF2F4"/>
          </a:solidFill>
          <a:ln xmlns:a="http://schemas.openxmlformats.org/drawingml/2006/main" w="0">
            <a:noFill/>
            <a:prstDash val="solid"/>
          </a:ln>
        </p:spPr>
      </p:sp>
      <p:sp>
        <p:nvSpPr>
          <p:cNvPr id="26" name="v16-s6-axiado">
            <a:extLst xmlns:a="http://schemas.openxmlformats.org/drawingml/2006/main">
              <a:ext uri="{FF2B5EF4-FFF2-40B4-BE49-F238E27FC236}">
                <a16:creationId xmlns:a16="http://schemas.microsoft.com/office/drawing/2014/main" id="{CD7898C0-7CDF-472F-B2B6-CC358028511E}"/>
              </a:ext>
            </a:extLst>
          </p:cNvPr>
          <p:cNvSpPr>
            <a:spLocks xmlns:a="http://schemas.openxmlformats.org/drawingml/2006/main" noGrp="1"/>
          </p:cNvSpPr>
          <p:nvPr/>
        </p:nvSpPr>
        <p:spPr>
          <a:xfrm xmlns:a="http://schemas.openxmlformats.org/drawingml/2006/main">
            <a:off x="514350" y="4362450"/>
            <a:ext cx="2571750" cy="1028700"/>
          </a:xfrm>
          <a:prstGeom xmlns:a="http://schemas.openxmlformats.org/drawingml/2006/main" prst="roundRect">
            <a:avLst>
              <a:gd name="adj" fmla="val 7407"/>
            </a:avLst>
          </a:prstGeom>
          <a:solidFill xmlns:a="http://schemas.openxmlformats.org/drawingml/2006/main">
            <a:srgbClr val="E4F4F4"/>
          </a:solidFill>
          <a:ln xmlns:a="http://schemas.openxmlformats.org/drawingml/2006/main" w="10478">
            <a:solidFill>
              <a:srgbClr val="C9D6DA"/>
            </a:solidFill>
            <a:prstDash val="solid"/>
          </a:ln>
        </p:spPr>
      </p:sp>
      <p:sp>
        <p:nvSpPr>
          <p:cNvPr id="27" name="v16-s6-axiado-top">
            <a:extLst xmlns:a="http://schemas.openxmlformats.org/drawingml/2006/main">
              <a:ext uri="{FF2B5EF4-FFF2-40B4-BE49-F238E27FC236}">
                <a16:creationId xmlns:a16="http://schemas.microsoft.com/office/drawing/2014/main" id="{71C42522-3B3A-43EC-937D-7263C2B8C1DE}"/>
              </a:ext>
            </a:extLst>
          </p:cNvPr>
          <p:cNvSpPr>
            <a:spLocks xmlns:a="http://schemas.openxmlformats.org/drawingml/2006/main" noGrp="1"/>
          </p:cNvSpPr>
          <p:nvPr/>
        </p:nvSpPr>
        <p:spPr>
          <a:xfrm xmlns:a="http://schemas.openxmlformats.org/drawingml/2006/main">
            <a:off x="514350" y="4362450"/>
            <a:ext cx="2571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8" name="v16-s6-otp-shadow">
            <a:extLst xmlns:a="http://schemas.openxmlformats.org/drawingml/2006/main">
              <a:ext uri="{FF2B5EF4-FFF2-40B4-BE49-F238E27FC236}">
                <a16:creationId xmlns:a16="http://schemas.microsoft.com/office/drawing/2014/main" id="{ACE55D49-1F54-4225-8A57-8ABB9BB839B8}"/>
              </a:ext>
            </a:extLst>
          </p:cNvPr>
          <p:cNvSpPr>
            <a:spLocks xmlns:a="http://schemas.openxmlformats.org/drawingml/2006/main" noGrp="1"/>
          </p:cNvSpPr>
          <p:nvPr/>
        </p:nvSpPr>
        <p:spPr>
          <a:xfrm xmlns:a="http://schemas.openxmlformats.org/drawingml/2006/main">
            <a:off x="3933825" y="2200275"/>
            <a:ext cx="314325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sp>
      <p:sp>
        <p:nvSpPr>
          <p:cNvPr id="29" name="v16-s6-otp">
            <a:extLst xmlns:a="http://schemas.openxmlformats.org/drawingml/2006/main">
              <a:ext uri="{FF2B5EF4-FFF2-40B4-BE49-F238E27FC236}">
                <a16:creationId xmlns:a16="http://schemas.microsoft.com/office/drawing/2014/main" id="{9C620001-79FD-45E7-80D0-DF5025D6E5ED}"/>
              </a:ext>
            </a:extLst>
          </p:cNvPr>
          <p:cNvSpPr>
            <a:spLocks xmlns:a="http://schemas.openxmlformats.org/drawingml/2006/main" noGrp="1"/>
          </p:cNvSpPr>
          <p:nvPr/>
        </p:nvSpPr>
        <p:spPr>
          <a:xfrm xmlns:a="http://schemas.openxmlformats.org/drawingml/2006/main">
            <a:off x="3905250" y="2152650"/>
            <a:ext cx="3143250" cy="1428750"/>
          </a:xfrm>
          <a:prstGeom xmlns:a="http://schemas.openxmlformats.org/drawingml/2006/main" prst="roundRect">
            <a:avLst>
              <a:gd name="adj" fmla="val 5333"/>
            </a:avLst>
          </a:prstGeom>
          <a:solidFill xmlns:a="http://schemas.openxmlformats.org/drawingml/2006/main">
            <a:srgbClr val="F7EFE6"/>
          </a:solidFill>
          <a:ln xmlns:a="http://schemas.openxmlformats.org/drawingml/2006/main" w="10478">
            <a:solidFill>
              <a:srgbClr val="C9D6DA"/>
            </a:solidFill>
            <a:prstDash val="solid"/>
          </a:ln>
        </p:spPr>
      </p:sp>
      <p:sp>
        <p:nvSpPr>
          <p:cNvPr id="30" name="v16-s6-otp-top">
            <a:extLst xmlns:a="http://schemas.openxmlformats.org/drawingml/2006/main">
              <a:ext uri="{FF2B5EF4-FFF2-40B4-BE49-F238E27FC236}">
                <a16:creationId xmlns:a16="http://schemas.microsoft.com/office/drawing/2014/main" id="{ADFD5EC4-9A7F-4E2D-B7C4-7E37F521FD27}"/>
              </a:ext>
            </a:extLst>
          </p:cNvPr>
          <p:cNvSpPr>
            <a:spLocks xmlns:a="http://schemas.openxmlformats.org/drawingml/2006/main" noGrp="1"/>
          </p:cNvSpPr>
          <p:nvPr/>
        </p:nvSpPr>
        <p:spPr>
          <a:xfrm xmlns:a="http://schemas.openxmlformats.org/drawingml/2006/main">
            <a:off x="3905250" y="2152650"/>
            <a:ext cx="314325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sp>
      <p:sp>
        <p:nvSpPr>
          <p:cNvPr id="31" name="v16-s6-puf-shadow">
            <a:extLst xmlns:a="http://schemas.openxmlformats.org/drawingml/2006/main">
              <a:ext uri="{FF2B5EF4-FFF2-40B4-BE49-F238E27FC236}">
                <a16:creationId xmlns:a16="http://schemas.microsoft.com/office/drawing/2014/main" id="{3D593DAC-9323-4BE3-A634-992CD5A4B0EF}"/>
              </a:ext>
            </a:extLst>
          </p:cNvPr>
          <p:cNvSpPr>
            <a:spLocks xmlns:a="http://schemas.openxmlformats.org/drawingml/2006/main" noGrp="1"/>
          </p:cNvSpPr>
          <p:nvPr/>
        </p:nvSpPr>
        <p:spPr>
          <a:xfrm xmlns:a="http://schemas.openxmlformats.org/drawingml/2006/main">
            <a:off x="3933825" y="3990975"/>
            <a:ext cx="3143250" cy="1295400"/>
          </a:xfrm>
          <a:prstGeom xmlns:a="http://schemas.openxmlformats.org/drawingml/2006/main" prst="roundRect">
            <a:avLst>
              <a:gd name="adj" fmla="val 5882"/>
            </a:avLst>
          </a:prstGeom>
          <a:solidFill xmlns:a="http://schemas.openxmlformats.org/drawingml/2006/main">
            <a:srgbClr val="ECF2F4"/>
          </a:solidFill>
          <a:ln xmlns:a="http://schemas.openxmlformats.org/drawingml/2006/main" w="0">
            <a:noFill/>
            <a:prstDash val="solid"/>
          </a:ln>
        </p:spPr>
      </p:sp>
      <p:sp>
        <p:nvSpPr>
          <p:cNvPr id="32" name="v16-s6-puf">
            <a:extLst xmlns:a="http://schemas.openxmlformats.org/drawingml/2006/main">
              <a:ext uri="{FF2B5EF4-FFF2-40B4-BE49-F238E27FC236}">
                <a16:creationId xmlns:a16="http://schemas.microsoft.com/office/drawing/2014/main" id="{9BCB5C88-CC37-4B29-BD60-F0B7BADD4534}"/>
              </a:ext>
            </a:extLst>
          </p:cNvPr>
          <p:cNvSpPr>
            <a:spLocks xmlns:a="http://schemas.openxmlformats.org/drawingml/2006/main" noGrp="1"/>
          </p:cNvSpPr>
          <p:nvPr/>
        </p:nvSpPr>
        <p:spPr>
          <a:xfrm xmlns:a="http://schemas.openxmlformats.org/drawingml/2006/main">
            <a:off x="3905250" y="3943350"/>
            <a:ext cx="3143250" cy="1295400"/>
          </a:xfrm>
          <a:prstGeom xmlns:a="http://schemas.openxmlformats.org/drawingml/2006/main" prst="roundRect">
            <a:avLst>
              <a:gd name="adj" fmla="val 5882"/>
            </a:avLst>
          </a:prstGeom>
          <a:solidFill xmlns:a="http://schemas.openxmlformats.org/drawingml/2006/main">
            <a:srgbClr val="E4F4F4"/>
          </a:solidFill>
          <a:ln xmlns:a="http://schemas.openxmlformats.org/drawingml/2006/main" w="10478">
            <a:solidFill>
              <a:srgbClr val="C9D6DA"/>
            </a:solidFill>
            <a:prstDash val="solid"/>
          </a:ln>
        </p:spPr>
      </p:sp>
      <p:sp>
        <p:nvSpPr>
          <p:cNvPr id="33" name="v16-s6-puf-top">
            <a:extLst xmlns:a="http://schemas.openxmlformats.org/drawingml/2006/main">
              <a:ext uri="{FF2B5EF4-FFF2-40B4-BE49-F238E27FC236}">
                <a16:creationId xmlns:a16="http://schemas.microsoft.com/office/drawing/2014/main" id="{BB82C04F-AB80-4D81-B494-C688B5C94A8A}"/>
              </a:ext>
            </a:extLst>
          </p:cNvPr>
          <p:cNvSpPr>
            <a:spLocks xmlns:a="http://schemas.openxmlformats.org/drawingml/2006/main" noGrp="1"/>
          </p:cNvSpPr>
          <p:nvPr/>
        </p:nvSpPr>
        <p:spPr>
          <a:xfrm xmlns:a="http://schemas.openxmlformats.org/drawingml/2006/main">
            <a:off x="3905250" y="3943350"/>
            <a:ext cx="31432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34" name="v16-s6-qual-shadow">
            <a:extLst xmlns:a="http://schemas.openxmlformats.org/drawingml/2006/main">
              <a:ext uri="{FF2B5EF4-FFF2-40B4-BE49-F238E27FC236}">
                <a16:creationId xmlns:a16="http://schemas.microsoft.com/office/drawing/2014/main" id="{9634B70C-400D-4B76-A8B1-A32734E6BAF5}"/>
              </a:ext>
            </a:extLst>
          </p:cNvPr>
          <p:cNvSpPr>
            <a:spLocks xmlns:a="http://schemas.openxmlformats.org/drawingml/2006/main" noGrp="1"/>
          </p:cNvSpPr>
          <p:nvPr/>
        </p:nvSpPr>
        <p:spPr>
          <a:xfrm xmlns:a="http://schemas.openxmlformats.org/drawingml/2006/main">
            <a:off x="7896225" y="2619375"/>
            <a:ext cx="3467100" cy="2266950"/>
          </a:xfrm>
          <a:prstGeom xmlns:a="http://schemas.openxmlformats.org/drawingml/2006/main" prst="roundRect">
            <a:avLst>
              <a:gd name="adj" fmla="val 3361"/>
            </a:avLst>
          </a:prstGeom>
          <a:solidFill xmlns:a="http://schemas.openxmlformats.org/drawingml/2006/main">
            <a:srgbClr val="04131E"/>
          </a:solidFill>
          <a:ln xmlns:a="http://schemas.openxmlformats.org/drawingml/2006/main" w="0">
            <a:noFill/>
            <a:prstDash val="solid"/>
          </a:ln>
        </p:spPr>
      </p:sp>
      <p:sp>
        <p:nvSpPr>
          <p:cNvPr id="35" name="v16-s6-qual">
            <a:extLst xmlns:a="http://schemas.openxmlformats.org/drawingml/2006/main">
              <a:ext uri="{FF2B5EF4-FFF2-40B4-BE49-F238E27FC236}">
                <a16:creationId xmlns:a16="http://schemas.microsoft.com/office/drawing/2014/main" id="{44EB6621-31F0-4FCA-86A8-D94832F342DE}"/>
              </a:ext>
            </a:extLst>
          </p:cNvPr>
          <p:cNvSpPr>
            <a:spLocks xmlns:a="http://schemas.openxmlformats.org/drawingml/2006/main" noGrp="1"/>
          </p:cNvSpPr>
          <p:nvPr/>
        </p:nvSpPr>
        <p:spPr>
          <a:xfrm xmlns:a="http://schemas.openxmlformats.org/drawingml/2006/main">
            <a:off x="7867650" y="2571750"/>
            <a:ext cx="3467100" cy="2266950"/>
          </a:xfrm>
          <a:prstGeom xmlns:a="http://schemas.openxmlformats.org/drawingml/2006/main" prst="roundRect">
            <a:avLst>
              <a:gd name="adj" fmla="val 3361"/>
            </a:avLst>
          </a:prstGeom>
          <a:solidFill xmlns:a="http://schemas.openxmlformats.org/drawingml/2006/main">
            <a:srgbClr val="061B29"/>
          </a:solidFill>
          <a:ln xmlns:a="http://schemas.openxmlformats.org/drawingml/2006/main" w="0">
            <a:noFill/>
            <a:prstDash val="solid"/>
          </a:ln>
        </p:spPr>
      </p:sp>
      <p:sp>
        <p:nvSpPr>
          <p:cNvPr id="36" name="v16-s6-qual-top">
            <a:extLst xmlns:a="http://schemas.openxmlformats.org/drawingml/2006/main">
              <a:ext uri="{FF2B5EF4-FFF2-40B4-BE49-F238E27FC236}">
                <a16:creationId xmlns:a16="http://schemas.microsoft.com/office/drawing/2014/main" id="{CCBF1B7A-08FF-4DFA-BAF2-BC4CD97EEB93}"/>
              </a:ext>
            </a:extLst>
          </p:cNvPr>
          <p:cNvSpPr>
            <a:spLocks xmlns:a="http://schemas.openxmlformats.org/drawingml/2006/main" noGrp="1"/>
          </p:cNvSpPr>
          <p:nvPr/>
        </p:nvSpPr>
        <p:spPr>
          <a:xfrm xmlns:a="http://schemas.openxmlformats.org/drawingml/2006/main">
            <a:off x="7867650" y="2571750"/>
            <a:ext cx="34671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cxnSp>
        <p:nvCxnSpPr>
          <p:cNvPr id="101" name=""/>
          <p:cNvCxnSpPr>
            <a:stCxn xmlns:a="http://schemas.openxmlformats.org/drawingml/2006/main" id="20" idx="3"/>
            <a:endCxn xmlns:a="http://schemas.openxmlformats.org/drawingml/2006/main" id="29" idx="1"/>
          </p:cNvCxnSpPr>
          <p:nvPr/>
        </p:nvCxnSpPr>
        <p:spPr>
          <a:xfrm xmlns:a="http://schemas.openxmlformats.org/drawingml/2006/main">
            <a:off x="3086100" y="2590800"/>
            <a:ext cx="819150" cy="276225"/>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2" name=""/>
          <p:cNvCxnSpPr>
            <a:stCxn xmlns:a="http://schemas.openxmlformats.org/drawingml/2006/main" id="20" idx="3"/>
            <a:endCxn xmlns:a="http://schemas.openxmlformats.org/drawingml/2006/main" id="32" idx="1"/>
          </p:cNvCxnSpPr>
          <p:nvPr/>
        </p:nvCxnSpPr>
        <p:spPr>
          <a:xfrm xmlns:a="http://schemas.openxmlformats.org/drawingml/2006/main">
            <a:off x="3086100" y="2590800"/>
            <a:ext cx="819150" cy="2000250"/>
          </a:xfrm>
          <a:prstGeom xmlns:a="http://schemas.openxmlformats.org/drawingml/2006/main" prst="bentConnector3">
            <a:avLst>
              <a:gd name="adj1" fmla="val 50000"/>
            </a:avLst>
          </a:prstGeom>
          <a:ln xmlns:a="http://schemas.openxmlformats.org/drawingml/2006/main" w="19050" cap="rnd">
            <a:solidFill>
              <a:srgbClr val="087A7A"/>
            </a:solidFill>
            <a:prstDash val="dash"/>
            <a:round/>
            <a:tailEnd type="arrow" w="sm" len="sm"/>
          </a:ln>
        </p:spPr>
      </p:cxnSp>
      <p:cxnSp>
        <p:nvCxnSpPr>
          <p:cNvPr id="103" name=""/>
          <p:cNvCxnSpPr>
            <a:stCxn xmlns:a="http://schemas.openxmlformats.org/drawingml/2006/main" id="23" idx="3"/>
            <a:endCxn xmlns:a="http://schemas.openxmlformats.org/drawingml/2006/main" id="29" idx="1"/>
          </p:cNvCxnSpPr>
          <p:nvPr/>
        </p:nvCxnSpPr>
        <p:spPr>
          <a:xfrm xmlns:a="http://schemas.openxmlformats.org/drawingml/2006/main" flipV="1">
            <a:off x="3086100" y="2867025"/>
            <a:ext cx="819150" cy="866775"/>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4" name=""/>
          <p:cNvCxnSpPr>
            <a:stCxn xmlns:a="http://schemas.openxmlformats.org/drawingml/2006/main" id="23" idx="3"/>
            <a:endCxn xmlns:a="http://schemas.openxmlformats.org/drawingml/2006/main" id="32" idx="1"/>
          </p:cNvCxnSpPr>
          <p:nvPr/>
        </p:nvCxnSpPr>
        <p:spPr>
          <a:xfrm xmlns:a="http://schemas.openxmlformats.org/drawingml/2006/main">
            <a:off x="3086100" y="3733800"/>
            <a:ext cx="819150" cy="857250"/>
          </a:xfrm>
          <a:prstGeom xmlns:a="http://schemas.openxmlformats.org/drawingml/2006/main" prst="bentConnector3">
            <a:avLst>
              <a:gd name="adj1" fmla="val 50000"/>
            </a:avLst>
          </a:prstGeom>
          <a:ln xmlns:a="http://schemas.openxmlformats.org/drawingml/2006/main" w="19050" cap="rnd">
            <a:solidFill>
              <a:srgbClr val="087A7A"/>
            </a:solidFill>
            <a:prstDash val="dash"/>
            <a:round/>
            <a:tailEnd type="arrow" w="sm" len="sm"/>
          </a:ln>
        </p:spPr>
      </p:cxnSp>
      <p:cxnSp>
        <p:nvCxnSpPr>
          <p:cNvPr id="105" name=""/>
          <p:cNvCxnSpPr>
            <a:stCxn xmlns:a="http://schemas.openxmlformats.org/drawingml/2006/main" id="26" idx="3"/>
            <a:endCxn xmlns:a="http://schemas.openxmlformats.org/drawingml/2006/main" id="29" idx="1"/>
          </p:cNvCxnSpPr>
          <p:nvPr/>
        </p:nvCxnSpPr>
        <p:spPr>
          <a:xfrm xmlns:a="http://schemas.openxmlformats.org/drawingml/2006/main" flipV="1">
            <a:off x="3086100" y="2867025"/>
            <a:ext cx="819150" cy="2009775"/>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6" name=""/>
          <p:cNvCxnSpPr>
            <a:stCxn xmlns:a="http://schemas.openxmlformats.org/drawingml/2006/main" id="26" idx="3"/>
            <a:endCxn xmlns:a="http://schemas.openxmlformats.org/drawingml/2006/main" id="32" idx="1"/>
          </p:cNvCxnSpPr>
          <p:nvPr/>
        </p:nvCxnSpPr>
        <p:spPr>
          <a:xfrm xmlns:a="http://schemas.openxmlformats.org/drawingml/2006/main" flipV="1">
            <a:off x="3086100" y="4591050"/>
            <a:ext cx="819150" cy="285750"/>
          </a:xfrm>
          <a:prstGeom xmlns:a="http://schemas.openxmlformats.org/drawingml/2006/main" prst="bentConnector3">
            <a:avLst>
              <a:gd name="adj1" fmla="val 50000"/>
            </a:avLst>
          </a:prstGeom>
          <a:ln xmlns:a="http://schemas.openxmlformats.org/drawingml/2006/main" w="19050" cap="rnd">
            <a:solidFill>
              <a:srgbClr val="087A7A"/>
            </a:solidFill>
            <a:prstDash val="dash"/>
            <a:round/>
            <a:tailEnd type="arrow" w="sm" len="sm"/>
          </a:ln>
        </p:spPr>
      </p:cxnSp>
      <p:cxnSp>
        <p:nvCxnSpPr>
          <p:cNvPr id="107" name=""/>
          <p:cNvCxnSpPr>
            <a:stCxn xmlns:a="http://schemas.openxmlformats.org/drawingml/2006/main" id="29" idx="3"/>
            <a:endCxn xmlns:a="http://schemas.openxmlformats.org/drawingml/2006/main" id="35" idx="1"/>
          </p:cNvCxnSpPr>
          <p:nvPr/>
        </p:nvCxnSpPr>
        <p:spPr>
          <a:xfrm xmlns:a="http://schemas.openxmlformats.org/drawingml/2006/main">
            <a:off x="7048500" y="2867025"/>
            <a:ext cx="819150" cy="838200"/>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8" name=""/>
          <p:cNvCxnSpPr>
            <a:stCxn xmlns:a="http://schemas.openxmlformats.org/drawingml/2006/main" id="32" idx="3"/>
            <a:endCxn xmlns:a="http://schemas.openxmlformats.org/drawingml/2006/main" id="35" idx="1"/>
          </p:cNvCxnSpPr>
          <p:nvPr/>
        </p:nvCxnSpPr>
        <p:spPr>
          <a:xfrm xmlns:a="http://schemas.openxmlformats.org/drawingml/2006/main" flipV="1">
            <a:off x="7048500" y="3705225"/>
            <a:ext cx="819150" cy="885825"/>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sp>
        <p:nvSpPr>
          <p:cNvPr id="45" name="v16-s6-oai-eyebrow">
            <a:extLst xmlns:a="http://schemas.openxmlformats.org/drawingml/2006/main">
              <a:ext uri="{FF2B5EF4-FFF2-40B4-BE49-F238E27FC236}">
                <a16:creationId xmlns:a16="http://schemas.microsoft.com/office/drawing/2014/main" id="{65B1D056-7371-4FDC-B341-46959720467F}"/>
              </a:ext>
            </a:extLst>
          </p:cNvPr>
          <p:cNvSpPr>
            <a:spLocks xmlns:a="http://schemas.openxmlformats.org/drawingml/2006/main" noGrp="1"/>
          </p:cNvSpPr>
          <p:nvPr/>
        </p:nvSpPr>
        <p:spPr>
          <a:xfrm xmlns:a="http://schemas.openxmlformats.org/drawingml/2006/main">
            <a:off x="676275" y="2219325"/>
            <a:ext cx="2247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REQUIREMENT</a:t>
            </a:r>
          </a:p>
        </p:txBody>
      </p:sp>
      <p:sp>
        <p:nvSpPr>
          <p:cNvPr id="46" name="v16-s6-oai-title">
            <a:extLst xmlns:a="http://schemas.openxmlformats.org/drawingml/2006/main">
              <a:ext uri="{FF2B5EF4-FFF2-40B4-BE49-F238E27FC236}">
                <a16:creationId xmlns:a16="http://schemas.microsoft.com/office/drawing/2014/main" id="{283C784B-E240-48AA-8D40-6DC00EF3B186}"/>
              </a:ext>
            </a:extLst>
          </p:cNvPr>
          <p:cNvSpPr>
            <a:spLocks xmlns:a="http://schemas.openxmlformats.org/drawingml/2006/main" noGrp="1"/>
          </p:cNvSpPr>
          <p:nvPr/>
        </p:nvSpPr>
        <p:spPr>
          <a:xfrm xmlns:a="http://schemas.openxmlformats.org/drawingml/2006/main">
            <a:off x="676275" y="2438400"/>
            <a:ext cx="2247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OAI-OAM / OCP</a:t>
            </a:r>
          </a:p>
        </p:txBody>
      </p:sp>
      <p:sp>
        <p:nvSpPr>
          <p:cNvPr id="47" name="v16-s6-oai-body">
            <a:extLst xmlns:a="http://schemas.openxmlformats.org/drawingml/2006/main">
              <a:ext uri="{FF2B5EF4-FFF2-40B4-BE49-F238E27FC236}">
                <a16:creationId xmlns:a16="http://schemas.microsoft.com/office/drawing/2014/main" id="{5BFB1665-8D9F-4428-8A9B-6E41557E4173}"/>
              </a:ext>
            </a:extLst>
          </p:cNvPr>
          <p:cNvSpPr>
            <a:spLocks xmlns:a="http://schemas.openxmlformats.org/drawingml/2006/main" noGrp="1"/>
          </p:cNvSpPr>
          <p:nvPr/>
        </p:nvSpPr>
        <p:spPr>
          <a:xfrm xmlns:a="http://schemas.openxmlformats.org/drawingml/2006/main">
            <a:off x="676275" y="274320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RoT · SVN · anti-rollback</a:t>
            </a:r>
          </a:p>
        </p:txBody>
      </p:sp>
      <p:sp>
        <p:nvSpPr>
          <p:cNvPr id="48" name="v16-s6-caliptra-eyebrow">
            <a:extLst xmlns:a="http://schemas.openxmlformats.org/drawingml/2006/main">
              <a:ext uri="{FF2B5EF4-FFF2-40B4-BE49-F238E27FC236}">
                <a16:creationId xmlns:a16="http://schemas.microsoft.com/office/drawing/2014/main" id="{D3E3F0E3-CBD2-4CB8-9D0B-6C121A69B03F}"/>
              </a:ext>
            </a:extLst>
          </p:cNvPr>
          <p:cNvSpPr>
            <a:spLocks xmlns:a="http://schemas.openxmlformats.org/drawingml/2006/main" noGrp="1"/>
          </p:cNvSpPr>
          <p:nvPr/>
        </p:nvSpPr>
        <p:spPr>
          <a:xfrm xmlns:a="http://schemas.openxmlformats.org/drawingml/2006/main">
            <a:off x="676275" y="3362325"/>
            <a:ext cx="2247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OPEN SECURITY CONTRACT</a:t>
            </a:r>
          </a:p>
        </p:txBody>
      </p:sp>
      <p:sp>
        <p:nvSpPr>
          <p:cNvPr id="49" name="v16-s6-caliptra-title">
            <a:extLst xmlns:a="http://schemas.openxmlformats.org/drawingml/2006/main">
              <a:ext uri="{FF2B5EF4-FFF2-40B4-BE49-F238E27FC236}">
                <a16:creationId xmlns:a16="http://schemas.microsoft.com/office/drawing/2014/main" id="{BF44F911-08E5-4C49-851A-FAA1B4A246C2}"/>
              </a:ext>
            </a:extLst>
          </p:cNvPr>
          <p:cNvSpPr>
            <a:spLocks xmlns:a="http://schemas.openxmlformats.org/drawingml/2006/main" noGrp="1"/>
          </p:cNvSpPr>
          <p:nvPr/>
        </p:nvSpPr>
        <p:spPr>
          <a:xfrm xmlns:a="http://schemas.openxmlformats.org/drawingml/2006/main">
            <a:off x="676275" y="3581400"/>
            <a:ext cx="2247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CALIPTRA 2.0</a:t>
            </a:r>
          </a:p>
        </p:txBody>
      </p:sp>
      <p:sp>
        <p:nvSpPr>
          <p:cNvPr id="50" name="v16-s6-caliptra-body">
            <a:extLst xmlns:a="http://schemas.openxmlformats.org/drawingml/2006/main">
              <a:ext uri="{FF2B5EF4-FFF2-40B4-BE49-F238E27FC236}">
                <a16:creationId xmlns:a16="http://schemas.microsoft.com/office/drawing/2014/main" id="{E4DAC34D-7932-4CB8-89EC-3C3D7B1769EE}"/>
              </a:ext>
            </a:extLst>
          </p:cNvPr>
          <p:cNvSpPr>
            <a:spLocks xmlns:a="http://schemas.openxmlformats.org/drawingml/2006/main" noGrp="1"/>
          </p:cNvSpPr>
          <p:nvPr/>
        </p:nvSpPr>
        <p:spPr>
          <a:xfrm xmlns:a="http://schemas.openxmlformats.org/drawingml/2006/main">
            <a:off x="676275" y="388620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fuse fields + PUF input</a:t>
            </a:r>
          </a:p>
        </p:txBody>
      </p:sp>
      <p:sp>
        <p:nvSpPr>
          <p:cNvPr id="51" name="v16-s6-axiado-eyebrow">
            <a:extLst xmlns:a="http://schemas.openxmlformats.org/drawingml/2006/main">
              <a:ext uri="{FF2B5EF4-FFF2-40B4-BE49-F238E27FC236}">
                <a16:creationId xmlns:a16="http://schemas.microsoft.com/office/drawing/2014/main" id="{9D53CB6D-79D2-4085-9344-0F65B801C686}"/>
              </a:ext>
            </a:extLst>
          </p:cNvPr>
          <p:cNvSpPr>
            <a:spLocks xmlns:a="http://schemas.openxmlformats.org/drawingml/2006/main" noGrp="1"/>
          </p:cNvSpPr>
          <p:nvPr/>
        </p:nvSpPr>
        <p:spPr>
          <a:xfrm xmlns:a="http://schemas.openxmlformats.org/drawingml/2006/main">
            <a:off x="676275" y="4505325"/>
            <a:ext cx="2247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NAMED PRODUCT DISCLOSURE</a:t>
            </a:r>
          </a:p>
        </p:txBody>
      </p:sp>
      <p:sp>
        <p:nvSpPr>
          <p:cNvPr id="52" name="v16-s6-axiado-title">
            <a:extLst xmlns:a="http://schemas.openxmlformats.org/drawingml/2006/main">
              <a:ext uri="{FF2B5EF4-FFF2-40B4-BE49-F238E27FC236}">
                <a16:creationId xmlns:a16="http://schemas.microsoft.com/office/drawing/2014/main" id="{C9651B75-1DD3-45DD-ABE7-283E96E5033D}"/>
              </a:ext>
            </a:extLst>
          </p:cNvPr>
          <p:cNvSpPr>
            <a:spLocks xmlns:a="http://schemas.openxmlformats.org/drawingml/2006/main" noGrp="1"/>
          </p:cNvSpPr>
          <p:nvPr/>
        </p:nvSpPr>
        <p:spPr>
          <a:xfrm xmlns:a="http://schemas.openxmlformats.org/drawingml/2006/main">
            <a:off x="676275" y="4724400"/>
            <a:ext cx="2247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AXIADO SCM3003</a:t>
            </a:r>
          </a:p>
        </p:txBody>
      </p:sp>
      <p:sp>
        <p:nvSpPr>
          <p:cNvPr id="53" name="v16-s6-axiado-body">
            <a:extLst xmlns:a="http://schemas.openxmlformats.org/drawingml/2006/main">
              <a:ext uri="{FF2B5EF4-FFF2-40B4-BE49-F238E27FC236}">
                <a16:creationId xmlns:a16="http://schemas.microsoft.com/office/drawing/2014/main" id="{7F80FEB6-6403-4D5A-8263-73FB8B8166B9}"/>
              </a:ext>
            </a:extLst>
          </p:cNvPr>
          <p:cNvSpPr>
            <a:spLocks xmlns:a="http://schemas.openxmlformats.org/drawingml/2006/main" noGrp="1"/>
          </p:cNvSpPr>
          <p:nvPr/>
        </p:nvSpPr>
        <p:spPr>
          <a:xfrm xmlns:a="http://schemas.openxmlformats.org/drawingml/2006/main">
            <a:off x="676275" y="502920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BMC / RoT · OTP + PUF</a:t>
            </a:r>
          </a:p>
        </p:txBody>
      </p:sp>
      <p:sp>
        <p:nvSpPr>
          <p:cNvPr id="54" name="v16-s6-otp-eyebrow">
            <a:extLst xmlns:a="http://schemas.openxmlformats.org/drawingml/2006/main">
              <a:ext uri="{FF2B5EF4-FFF2-40B4-BE49-F238E27FC236}">
                <a16:creationId xmlns:a16="http://schemas.microsoft.com/office/drawing/2014/main" id="{9367CB30-8766-4F60-9F9A-29E5F8049392}"/>
              </a:ext>
            </a:extLst>
          </p:cNvPr>
          <p:cNvSpPr>
            <a:spLocks xmlns:a="http://schemas.openxmlformats.org/drawingml/2006/main" noGrp="1"/>
          </p:cNvSpPr>
          <p:nvPr/>
        </p:nvSpPr>
        <p:spPr>
          <a:xfrm xmlns:a="http://schemas.openxmlformats.org/drawingml/2006/main">
            <a:off x="4067175" y="2295525"/>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PERSISTENT POLICY</a:t>
            </a:r>
          </a:p>
        </p:txBody>
      </p:sp>
      <p:sp>
        <p:nvSpPr>
          <p:cNvPr id="55" name="v16-s6-otp-title">
            <a:extLst xmlns:a="http://schemas.openxmlformats.org/drawingml/2006/main">
              <a:ext uri="{FF2B5EF4-FFF2-40B4-BE49-F238E27FC236}">
                <a16:creationId xmlns:a16="http://schemas.microsoft.com/office/drawing/2014/main" id="{8CDBC783-D8FA-47BD-AC9D-7A004A5CB402}"/>
              </a:ext>
            </a:extLst>
          </p:cNvPr>
          <p:cNvSpPr>
            <a:spLocks xmlns:a="http://schemas.openxmlformats.org/drawingml/2006/main" noGrp="1"/>
          </p:cNvSpPr>
          <p:nvPr/>
        </p:nvSpPr>
        <p:spPr>
          <a:xfrm xmlns:a="http://schemas.openxmlformats.org/drawingml/2006/main">
            <a:off x="4067175" y="2514600"/>
            <a:ext cx="2819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OTP</a:t>
            </a:r>
          </a:p>
        </p:txBody>
      </p:sp>
      <p:sp>
        <p:nvSpPr>
          <p:cNvPr id="56" name="v16-s6-otp-body">
            <a:extLst xmlns:a="http://schemas.openxmlformats.org/drawingml/2006/main">
              <a:ext uri="{FF2B5EF4-FFF2-40B4-BE49-F238E27FC236}">
                <a16:creationId xmlns:a16="http://schemas.microsoft.com/office/drawing/2014/main" id="{CAB336C2-13A3-4B4B-9891-DFA0AB0FDF42}"/>
              </a:ext>
            </a:extLst>
          </p:cNvPr>
          <p:cNvSpPr>
            <a:spLocks xmlns:a="http://schemas.openxmlformats.org/drawingml/2006/main" noGrp="1"/>
          </p:cNvSpPr>
          <p:nvPr/>
        </p:nvSpPr>
        <p:spPr>
          <a:xfrm xmlns:a="http://schemas.openxmlformats.org/drawingml/2006/main">
            <a:off x="4067175" y="2819400"/>
            <a:ext cx="2819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identity / digests</a:t>
            </a:r>
          </a:p>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lifecycle / revocation</a:t>
            </a:r>
          </a:p>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security version / immutable policy</a:t>
            </a:r>
          </a:p>
        </p:txBody>
      </p:sp>
      <p:sp>
        <p:nvSpPr>
          <p:cNvPr id="57" name="v16-s6-puf-eyebrow">
            <a:extLst xmlns:a="http://schemas.openxmlformats.org/drawingml/2006/main">
              <a:ext uri="{FF2B5EF4-FFF2-40B4-BE49-F238E27FC236}">
                <a16:creationId xmlns:a16="http://schemas.microsoft.com/office/drawing/2014/main" id="{D2082AD9-0DBA-4A85-B1BD-9E25A071F5DD}"/>
              </a:ext>
            </a:extLst>
          </p:cNvPr>
          <p:cNvSpPr>
            <a:spLocks xmlns:a="http://schemas.openxmlformats.org/drawingml/2006/main" noGrp="1"/>
          </p:cNvSpPr>
          <p:nvPr/>
        </p:nvSpPr>
        <p:spPr>
          <a:xfrm xmlns:a="http://schemas.openxmlformats.org/drawingml/2006/main">
            <a:off x="4067175" y="4086225"/>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RECONSTRUCTED ROOT</a:t>
            </a:r>
          </a:p>
        </p:txBody>
      </p:sp>
      <p:sp>
        <p:nvSpPr>
          <p:cNvPr id="58" name="v16-s6-puf-title">
            <a:extLst xmlns:a="http://schemas.openxmlformats.org/drawingml/2006/main">
              <a:ext uri="{FF2B5EF4-FFF2-40B4-BE49-F238E27FC236}">
                <a16:creationId xmlns:a16="http://schemas.microsoft.com/office/drawing/2014/main" id="{0277A5D0-94A4-4550-862A-5AD85034784B}"/>
              </a:ext>
            </a:extLst>
          </p:cNvPr>
          <p:cNvSpPr>
            <a:spLocks xmlns:a="http://schemas.openxmlformats.org/drawingml/2006/main" noGrp="1"/>
          </p:cNvSpPr>
          <p:nvPr/>
        </p:nvSpPr>
        <p:spPr>
          <a:xfrm xmlns:a="http://schemas.openxmlformats.org/drawingml/2006/main">
            <a:off x="4067175" y="4305300"/>
            <a:ext cx="2819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SRAM PUF</a:t>
            </a:r>
          </a:p>
        </p:txBody>
      </p:sp>
      <p:sp>
        <p:nvSpPr>
          <p:cNvPr id="59" name="v16-s6-puf-body">
            <a:extLst xmlns:a="http://schemas.openxmlformats.org/drawingml/2006/main">
              <a:ext uri="{FF2B5EF4-FFF2-40B4-BE49-F238E27FC236}">
                <a16:creationId xmlns:a16="http://schemas.microsoft.com/office/drawing/2014/main" id="{8671E040-985B-43EA-9FCD-3FE2786A6A2D}"/>
              </a:ext>
            </a:extLst>
          </p:cNvPr>
          <p:cNvSpPr>
            <a:spLocks xmlns:a="http://schemas.openxmlformats.org/drawingml/2006/main" noGrp="1"/>
          </p:cNvSpPr>
          <p:nvPr/>
        </p:nvSpPr>
        <p:spPr>
          <a:xfrm xmlns:a="http://schemas.openxmlformats.org/drawingml/2006/main">
            <a:off x="4067175" y="4610100"/>
            <a:ext cx="2819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device-specific root input</a:t>
            </a:r>
          </a:p>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reconstructed—not stored</a:t>
            </a:r>
          </a:p>
        </p:txBody>
      </p:sp>
      <p:sp>
        <p:nvSpPr>
          <p:cNvPr id="60" name="v16-s6-qual-eyebrow">
            <a:extLst xmlns:a="http://schemas.openxmlformats.org/drawingml/2006/main">
              <a:ext uri="{FF2B5EF4-FFF2-40B4-BE49-F238E27FC236}">
                <a16:creationId xmlns:a16="http://schemas.microsoft.com/office/drawing/2014/main" id="{3DD713E1-88F8-4B0E-9F8A-43EE299D82D8}"/>
              </a:ext>
            </a:extLst>
          </p:cNvPr>
          <p:cNvSpPr>
            <a:spLocks xmlns:a="http://schemas.openxmlformats.org/drawingml/2006/main" noGrp="1"/>
          </p:cNvSpPr>
          <p:nvPr/>
        </p:nvSpPr>
        <p:spPr>
          <a:xfrm xmlns:a="http://schemas.openxmlformats.org/drawingml/2006/main">
            <a:off x="8029575" y="2714625"/>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QUALIFICATION</a:t>
            </a:r>
          </a:p>
        </p:txBody>
      </p:sp>
      <p:sp>
        <p:nvSpPr>
          <p:cNvPr id="61" name="v16-s6-qual-title">
            <a:extLst xmlns:a="http://schemas.openxmlformats.org/drawingml/2006/main">
              <a:ext uri="{FF2B5EF4-FFF2-40B4-BE49-F238E27FC236}">
                <a16:creationId xmlns:a16="http://schemas.microsoft.com/office/drawing/2014/main" id="{38C4CFBC-4CEC-464E-A2FA-2D534E6929F0}"/>
              </a:ext>
            </a:extLst>
          </p:cNvPr>
          <p:cNvSpPr>
            <a:spLocks xmlns:a="http://schemas.openxmlformats.org/drawingml/2006/main" noGrp="1"/>
          </p:cNvSpPr>
          <p:nvPr/>
        </p:nvSpPr>
        <p:spPr>
          <a:xfrm xmlns:a="http://schemas.openxmlformats.org/drawingml/2006/main">
            <a:off x="8029575" y="29337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FFFFFF"/>
                </a:solidFill>
                <a:latin typeface="Arial"/>
                <a:ea typeface="Arial"/>
                <a:cs typeface="Arial"/>
              </a:defRPr>
            </a:pPr>
            <a:r>
              <a:rPr sz="1650" b="1">
                <a:solidFill>
                  <a:srgbClr val="FFFFFF"/>
                </a:solidFill>
                <a:latin typeface="Arial"/>
                <a:ea typeface="Arial"/>
                <a:cs typeface="Arial"/>
              </a:rPr>
              <a:t>ONE NAMED BMC / OAM TARGET</a:t>
            </a:r>
          </a:p>
        </p:txBody>
      </p:sp>
      <p:sp>
        <p:nvSpPr>
          <p:cNvPr id="62" name="v16-s6-qual-body">
            <a:extLst xmlns:a="http://schemas.openxmlformats.org/drawingml/2006/main">
              <a:ext uri="{FF2B5EF4-FFF2-40B4-BE49-F238E27FC236}">
                <a16:creationId xmlns:a16="http://schemas.microsoft.com/office/drawing/2014/main" id="{EDAD6573-43F2-4F08-B501-42365D8ED618}"/>
              </a:ext>
            </a:extLst>
          </p:cNvPr>
          <p:cNvSpPr>
            <a:spLocks xmlns:a="http://schemas.openxmlformats.org/drawingml/2006/main" noGrp="1"/>
          </p:cNvSpPr>
          <p:nvPr/>
        </p:nvSpPr>
        <p:spPr>
          <a:xfrm xmlns:a="http://schemas.openxmlformats.org/drawingml/2006/main">
            <a:off x="8029575" y="3419475"/>
            <a:ext cx="3143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map OTP fields + PUF behavior</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provisioning custody</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revocation budget</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interface + recovery</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threat model</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Synopsys package</a:t>
            </a:r>
          </a:p>
        </p:txBody>
      </p:sp>
      <p:sp>
        <p:nvSpPr>
          <p:cNvPr id="63" name="v16-s6-ask">
            <a:extLst xmlns:a="http://schemas.openxmlformats.org/drawingml/2006/main">
              <a:ext uri="{FF2B5EF4-FFF2-40B4-BE49-F238E27FC236}">
                <a16:creationId xmlns:a16="http://schemas.microsoft.com/office/drawing/2014/main" id="{61E1CB08-E3B0-48E8-A098-498A8F7C877A}"/>
              </a:ext>
            </a:extLst>
          </p:cNvPr>
          <p:cNvSpPr>
            <a:spLocks xmlns:a="http://schemas.openxmlformats.org/drawingml/2006/main" noGrp="1"/>
          </p:cNvSpPr>
          <p:nvPr/>
        </p:nvSpPr>
        <p:spPr>
          <a:xfrm xmlns:a="http://schemas.openxmlformats.org/drawingml/2006/main">
            <a:off x="514350" y="5524500"/>
            <a:ext cx="10820400" cy="609600"/>
          </a:xfrm>
          <a:prstGeom xmlns:a="http://schemas.openxmlformats.org/drawingml/2006/main" prst="roundRect">
            <a:avLst>
              <a:gd name="adj" fmla="val 12500"/>
            </a:avLst>
          </a:prstGeom>
          <a:solidFill xmlns:a="http://schemas.openxmlformats.org/drawingml/2006/main">
            <a:srgbClr val="061B29"/>
          </a:solidFill>
          <a:ln xmlns:a="http://schemas.openxmlformats.org/drawingml/2006/main" w="0">
            <a:noFill/>
            <a:prstDash val="solid"/>
          </a:ln>
        </p:spPr>
      </p:sp>
      <p:sp>
        <p:nvSpPr>
          <p:cNvPr id="64" name="v16-s6-ask-text">
            <a:extLst xmlns:a="http://schemas.openxmlformats.org/drawingml/2006/main">
              <a:ext uri="{FF2B5EF4-FFF2-40B4-BE49-F238E27FC236}">
                <a16:creationId xmlns:a16="http://schemas.microsoft.com/office/drawing/2014/main" id="{2D952F9D-9A9A-4890-BFE6-8E1F2A4750E2}"/>
              </a:ext>
            </a:extLst>
          </p:cNvPr>
          <p:cNvSpPr>
            <a:spLocks xmlns:a="http://schemas.openxmlformats.org/drawingml/2006/main" noGrp="1"/>
          </p:cNvSpPr>
          <p:nvPr/>
        </p:nvSpPr>
        <p:spPr>
          <a:xfrm xmlns:a="http://schemas.openxmlformats.org/drawingml/2006/main">
            <a:off x="685800" y="56197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30" b="1">
                <a:solidFill>
                  <a:srgbClr val="FFFFFF"/>
                </a:solidFill>
                <a:latin typeface="Arial"/>
                <a:ea typeface="Arial"/>
                <a:cs typeface="Arial"/>
              </a:defRPr>
            </a:pPr>
            <a:r>
              <a:rPr sz="1530" b="1">
                <a:solidFill>
                  <a:srgbClr val="FFFFFF"/>
                </a:solidFill>
                <a:latin typeface="Arial"/>
                <a:ea typeface="Arial"/>
                <a:cs typeface="Arial"/>
              </a:rPr>
              <a:t>Synopsys can qualify an integrated OTP + PUF package against one named target</a:t>
            </a:r>
          </a:p>
        </p:txBody>
      </p:sp>
    </p:spTree>
    <p:extLst>
      <p:ext uri="{BB962C8B-B14F-4D97-AF65-F5344CB8AC3E}">
        <p14:creationId xmlns:p14="http://schemas.microsoft.com/office/powerpoint/2010/main" val="1228125829"/>
      </p:ext>
    </p:extLst>
  </p:cSld>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06 · QUALIFY NOW · TSMC IOT CONTINUUM</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TSMC 22ULL to N4e Scaling</a:t>
            </a:r>
          </a:p>
          <a:p>
            <a:pPr>
              <a:spcBef>
                <a:spcPts val="0"/>
              </a:spcBef>
              <a:spcAft>
                <a:spcPts val="200"/>
              </a:spcAft>
            </a:pPr>
            <a:r>
              <a:rPr sz="3000" b="1">
                <a:solidFill>
                  <a:srgbClr val="0A2434"/>
                </a:solidFill>
                <a:latin typeface="Arial"/>
              </a:rPr>
              <a:t>Pure-Logic OTP as MCU Code Storage</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Sub-0.6V near-threshold operation · zero-mask code execution</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07</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TSMC FOUNDRY CONTINUUM</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TSMC 22ULL TO N4E</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0.5V native ultra-low power FinFET</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22ULL to N4e near-threshold operation drops dynamic power by &gt;75%</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THE 22NM ENVM DILEMMA</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28nm eFlash extinction cliff</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ReRAM (+2 masks) and MRAM (+4 masks) inflate wafer cost by 15%-30%</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p/>
        </p:txBody>
      </p:sp>
      <p:cxnSp>
        <p:nvCxnSpPr>
          <p:cNvPr id="78" name=""/>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Qualify AntiFuse OTP as Code Core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zero extra mask cost on standard CMOS logic</a:t>
            </a:r>
          </a:p>
          <a:p>
            <a:r>
              <a:rPr sz="1530" b="0">
                <a:solidFill>
                  <a:srgbClr val="C8D9E0"/>
                </a:solidFill>
                <a:latin typeface="Arial"/>
              </a:rPr>
              <a:t>• 0.5V direct XIP boot and DMA to ULL SRAM</a:t>
            </a:r>
          </a:p>
          <a:p>
            <a:r>
              <a:rPr sz="1530" b="0">
                <a:solidFill>
                  <a:srgbClr val="C8D9E0"/>
                </a:solidFill>
                <a:latin typeface="Arial"/>
              </a:rPr>
              <a:t>• indirection jump tables for virtual bug patches</a:t>
            </a:r>
          </a:p>
          <a:p>
            <a:r>
              <a:rPr sz="1530" b="0">
                <a:solidFill>
                  <a:srgbClr val="C8D9E0"/>
                </a:solidFill>
                <a:latin typeface="Arial"/>
              </a:rPr>
              <a:t>• zero standby leakage for 10+ year battery life</a:t>
            </a:r>
          </a:p>
          <a:p>
            <a:r>
              <a:rPr sz="1530" b="0">
                <a:solidFill>
                  <a:srgbClr val="C8D9E0"/>
                </a:solidFill>
                <a:latin typeface="Arial"/>
              </a:rPr>
              <a:t>• TSMC 22ULL / 12FFC+ / N6e silicon proof</a:t>
            </a:r>
          </a:p>
          <a:p>
            <a:r>
              <a:rPr sz="1530" b="0">
                <a:solidFill>
                  <a:srgbClr val="C8D9E0"/>
                </a:solidFill>
                <a:latin typeface="Arial"/>
              </a:rPr>
              <a:t>• candidate unit: macro code density budget</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Public foundry roadmap: eFlash extinct below 28nm · Pure-logic AntiFuse OTP enables low-cost IoT MCU code 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07 · QUALIFY NOW · 3D CHIPLETS &amp; UCIE</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3D SoIC Disaggregated Security</a:t>
            </a:r>
          </a:p>
          <a:p>
            <a:pPr>
              <a:spcBef>
                <a:spcPts val="0"/>
              </a:spcBef>
              <a:spcAft>
                <a:spcPts val="200"/>
              </a:spcAft>
            </a:pPr>
            <a:r>
              <a:rPr sz="3000" b="1">
                <a:solidFill>
                  <a:srgbClr val="0A2434"/>
                </a:solidFill>
                <a:latin typeface="Arial"/>
              </a:rPr>
              <a:t>Dedicated Hardware RoT per Chiplet</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Eliminating multi-die stacking loss · pre-bond KGD attestation</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08</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3D PACKAGING INTEGRITY</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3D SOIC STACKING INTEGRITY</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Known Good Die (KGD) verification</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defective unverified die in 3D stack destroys the entire multi-die package</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UCIE 1.3 / 2.0 SECURITY</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Die-to-Die zero-trust link security</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SPDM 1.3 mandates per-die cryptographic authentication before link traffic</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p/>
        </p:txBody>
      </p:sp>
      <p:cxnSp>
        <p:nvCxnSpPr>
          <p:cNvPr id="78" name=""/>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Deploy AntiFuse OTP + PUF per die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die-unique immutable identity and versioning</a:t>
            </a:r>
          </a:p>
          <a:p>
            <a:r>
              <a:rPr sz="1530" b="0">
                <a:solidFill>
                  <a:srgbClr val="C8D9E0"/>
                </a:solidFill>
                <a:latin typeface="Arial"/>
              </a:rPr>
              <a:t>• isolated pre-bond test key for wafer probe</a:t>
            </a:r>
          </a:p>
          <a:p>
            <a:r>
              <a:rPr sz="1530" b="0">
                <a:solidFill>
                  <a:srgbClr val="C8D9E0"/>
                </a:solidFill>
                <a:latin typeface="Arial"/>
              </a:rPr>
              <a:t>• SRAM PUF in-flight D2D encryption with 0 at rest</a:t>
            </a:r>
          </a:p>
          <a:p>
            <a:r>
              <a:rPr sz="1530" b="0">
                <a:solidFill>
                  <a:srgbClr val="C8D9E0"/>
                </a:solidFill>
                <a:latin typeface="Arial"/>
              </a:rPr>
              <a:t>• zero thermal penalty on 3D SoIC stacking</a:t>
            </a:r>
          </a:p>
          <a:p>
            <a:r>
              <a:rPr sz="1530" b="0">
                <a:solidFill>
                  <a:srgbClr val="C8D9E0"/>
                </a:solidFill>
                <a:latin typeface="Arial"/>
              </a:rPr>
              <a:t>• full compliance with SPDM 1.3 and UCIe 2.0</a:t>
            </a:r>
          </a:p>
          <a:p>
            <a:r>
              <a:rPr sz="1530" b="0">
                <a:solidFill>
                  <a:srgbClr val="C8D9E0"/>
                </a:solidFill>
                <a:latin typeface="Arial"/>
              </a:rPr>
              <a:t>• candidate unit: per-chiplet embedded RoT macro</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Chiplet Zero-Trust: A failed die inside 3D packaging destroys the entire stack; dedicated on-die RoT is non-negotiable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08 · QUALIFY NOW · PQC &amp; AUTOMOTIVE SILC</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NIST SP 800-208 Stateful Boot</a:t>
            </a:r>
          </a:p>
          <a:p>
            <a:pPr>
              <a:spcBef>
                <a:spcPts val="0"/>
              </a:spcBef>
              <a:spcAft>
                <a:spcPts val="200"/>
              </a:spcAft>
            </a:pPr>
            <a:r>
              <a:rPr sz="3000" b="1">
                <a:solidFill>
                  <a:srgbClr val="0A2434"/>
                </a:solidFill>
                <a:latin typeface="Arial"/>
              </a:rPr>
              <a:t>175°C Immune Metallic Filament Physics</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Compact 32-byte LMS hash boot · AEC-Q100 Grade 0 reliability</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09</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PHYSICS &amp; QUANTUM GATE</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NIST SP 800-208 LMS BOOT</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Stateful hash tree 32-byte root hash</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LMS overcomes 40x PQC lattice key bloat; OTS reuse destroys security</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AEC-Q100 GRADE 0 (175°C)</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SILC physics in automotive powertrain</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175°C stress causes trap-assisted tunneling and charge loss in floating gates</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p/>
        </p:txBody>
      </p:sp>
      <p:cxnSp>
        <p:nvCxnSpPr>
          <p:cNvPr id="78" name=""/>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1-to-0 Hard Breakdown Advantage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nanoscale metallic silicide has 0 drift at 175°C</a:t>
            </a:r>
          </a:p>
          <a:p>
            <a:r>
              <a:rPr sz="1530" b="0">
                <a:solidFill>
                  <a:srgbClr val="C8D9E0"/>
                </a:solidFill>
                <a:latin typeface="Arial"/>
              </a:rPr>
              <a:t>• irreversible OTP burn blocks OTS key reuse</a:t>
            </a:r>
          </a:p>
          <a:p>
            <a:r>
              <a:rPr sz="1530" b="0">
                <a:solidFill>
                  <a:srgbClr val="C8D9E0"/>
                </a:solidFill>
                <a:latin typeface="Arial"/>
              </a:rPr>
              <a:t>• 1T current-balanced sensing defeats DPA attacks</a:t>
            </a:r>
          </a:p>
          <a:p>
            <a:r>
              <a:rPr sz="1530" b="0">
                <a:solidFill>
                  <a:srgbClr val="C8D9E0"/>
                </a:solidFill>
                <a:latin typeface="Arial"/>
              </a:rPr>
              <a:t>• 1000h HTOL @ 175°C AEC-Q100 Grade 0 qualified</a:t>
            </a:r>
          </a:p>
          <a:p>
            <a:r>
              <a:rPr sz="1530" b="0">
                <a:solidFill>
                  <a:srgbClr val="C8D9E0"/>
                </a:solidFill>
                <a:latin typeface="Arial"/>
              </a:rPr>
              <a:t>• ISO 26262 ASIL-D ready automotive delivery</a:t>
            </a:r>
          </a:p>
          <a:p>
            <a:r>
              <a:rPr sz="1530" b="0">
                <a:solidFill>
                  <a:srgbClr val="C8D9E0"/>
                </a:solidFill>
                <a:latin typeface="Arial"/>
              </a:rPr>
              <a:t>• candidate unit: high-reliability secure RoT</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Physics proof: Metallic silicide conducts permanently; pure CMOS gate oxide breakdown achieves ASIL-D &amp; PQC compliance</a:t>
            </a:r>
          </a:p>
        </p:txBody>
      </p:sp>
    </p:spTree>
  </p:cSld>
  <p:clrMapOvr>
    <a:masterClrMapping/>
  </p:clrMapOvr>
</p:sld>
</file>

<file path=ppt/slides/slide10.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41" name="v16-bg-7">
            <a:extLst xmlns:a="http://schemas.openxmlformats.org/drawingml/2006/main">
              <a:ext uri="{FF2B5EF4-FFF2-40B4-BE49-F238E27FC236}">
                <a16:creationId xmlns:a16="http://schemas.microsoft.com/office/drawing/2014/main" id="{13D12297-6369-478A-8844-AC00632B927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7">
            <a:extLst xmlns:a="http://schemas.openxmlformats.org/drawingml/2006/main">
              <a:ext uri="{FF2B5EF4-FFF2-40B4-BE49-F238E27FC236}">
                <a16:creationId xmlns:a16="http://schemas.microsoft.com/office/drawing/2014/main" id="{82B4F539-33C7-43F8-BF78-8380FB7257D1}"/>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7">
            <a:extLst xmlns:a="http://schemas.openxmlformats.org/drawingml/2006/main">
              <a:ext uri="{FF2B5EF4-FFF2-40B4-BE49-F238E27FC236}">
                <a16:creationId xmlns:a16="http://schemas.microsoft.com/office/drawing/2014/main" id="{CAEAF2DA-6715-41DB-9ACE-AD786E7434F6}"/>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rPr>
              <a:t>09 · REPAIR OPPORTUNITY · SPLIT THE LOCUS</a:t>
            </a:r>
          </a:p>
        </p:txBody>
      </p:sp>
      <p:sp>
        <p:nvSpPr>
          <p:cNvPr id="4" name="v16-title-7">
            <a:extLst xmlns:a="http://schemas.openxmlformats.org/drawingml/2006/main">
              <a:ext uri="{FF2B5EF4-FFF2-40B4-BE49-F238E27FC236}">
                <a16:creationId xmlns:a16="http://schemas.microsoft.com/office/drawing/2014/main" id="{92F1DFC1-E27F-4927-9778-5EB5C8BE53E5}"/>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AI SoC Repair Qualifies Directly</a:t>
            </a:r>
          </a:p>
          <a:p xmlns:a="http://schemas.openxmlformats.org/drawingml/2006/main">
            <a:pPr>
              <a:spcBef>
                <a:spcPts val="0"/>
              </a:spcBef>
              <a:spcAft>
                <a:spcPts val="200"/>
              </a:spcAft>
            </a:pPr>
            <a:r>
              <a:rPr sz="3000" b="1">
                <a:solidFill>
                  <a:srgbClr val="0A2434"/>
                </a:solidFill>
                <a:latin typeface="Arial"/>
              </a:rPr>
              <a:t>HBM Repair Remains Locus-First</a:t>
            </a:r>
          </a:p>
        </p:txBody>
      </p:sp>
      <p:sp>
        <p:nvSpPr>
          <p:cNvPr id="5" name="v16-subtitle-7">
            <a:extLst xmlns:a="http://schemas.openxmlformats.org/drawingml/2006/main">
              <a:ext uri="{FF2B5EF4-FFF2-40B4-BE49-F238E27FC236}">
                <a16:creationId xmlns:a16="http://schemas.microsoft.com/office/drawing/2014/main" id="{7A01AE98-19D2-4AE1-A74D-9D2695BFE997}"/>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Repair persistence is real, but ownership and storage location are not universal</a:t>
            </a:r>
          </a:p>
        </p:txBody>
      </p:sp>
      <p:sp>
        <p:nvSpPr>
          <p:cNvPr id="6" name="motif-line-0">
            <a:extLst xmlns:a="http://schemas.openxmlformats.org/drawingml/2006/main">
              <a:ext uri="{FF2B5EF4-FFF2-40B4-BE49-F238E27FC236}">
                <a16:creationId xmlns:a16="http://schemas.microsoft.com/office/drawing/2014/main" id="{A359DD4E-CE1A-47C7-A43A-FD115A6264E5}"/>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C8670A78-F817-4920-A3E2-540F22633569}"/>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0AC71F8E-A826-40FD-91BE-0428CBEC532F}"/>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F22310DB-A2EC-464D-A892-67AB24163AF6}"/>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16BFDCB0-3866-42E7-945C-6735C43BE4AC}"/>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1B504831-B48B-4EFE-8773-9F1CD9EE92C0}"/>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0175E831-7187-47CD-A1FC-5DCEAA4A1510}"/>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4E3B410C-1EF5-4B6D-B84E-CA8206E3BDB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81ABE6FB-0AF6-4F4E-A969-6CF67559D941}"/>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29B44A49-212E-44BB-A26C-3C2C619EEF55}"/>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7">
            <a:extLst xmlns:a="http://schemas.openxmlformats.org/drawingml/2006/main">
              <a:ext uri="{FF2B5EF4-FFF2-40B4-BE49-F238E27FC236}">
                <a16:creationId xmlns:a16="http://schemas.microsoft.com/office/drawing/2014/main" id="{B4B4DCF7-9D67-47A4-B1AD-09C4ECCB5F74}"/>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7">
            <a:extLst xmlns:a="http://schemas.openxmlformats.org/drawingml/2006/main">
              <a:ext uri="{FF2B5EF4-FFF2-40B4-BE49-F238E27FC236}">
                <a16:creationId xmlns:a16="http://schemas.microsoft.com/office/drawing/2014/main" id="{8C0364FB-28FE-4242-A4C5-594FDB4842BE}"/>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7">
            <a:extLst xmlns:a="http://schemas.openxmlformats.org/drawingml/2006/main">
              <a:ext uri="{FF2B5EF4-FFF2-40B4-BE49-F238E27FC236}">
                <a16:creationId xmlns:a16="http://schemas.microsoft.com/office/drawing/2014/main" id="{90000B03-4C15-4F7B-87CA-DDE86864D793}"/>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10</a:t>
            </a:r>
          </a:p>
        </p:txBody>
      </p:sp>
      <p:sp>
        <p:nvSpPr>
          <p:cNvPr id="19" name="v16-s7-soc-shadow">
            <a:extLst xmlns:a="http://schemas.openxmlformats.org/drawingml/2006/main">
              <a:ext uri="{FF2B5EF4-FFF2-40B4-BE49-F238E27FC236}">
                <a16:creationId xmlns:a16="http://schemas.microsoft.com/office/drawing/2014/main" id="{871E02FC-5D8E-45B2-BFC6-EEA396A9AD95}"/>
              </a:ext>
            </a:extLst>
          </p:cNvPr>
          <p:cNvSpPr>
            <a:spLocks xmlns:a="http://schemas.openxmlformats.org/drawingml/2006/main" noGrp="1"/>
          </p:cNvSpPr>
          <p:nvPr/>
        </p:nvSpPr>
        <p:spPr>
          <a:xfrm xmlns:a="http://schemas.openxmlformats.org/drawingml/2006/main">
            <a:off x="542925" y="2124075"/>
            <a:ext cx="5219700" cy="3333750"/>
          </a:xfrm>
          <a:prstGeom xmlns:a="http://schemas.openxmlformats.org/drawingml/2006/main" prst="roundRect">
            <a:avLst>
              <a:gd name="adj" fmla="val 257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7-soc">
            <a:extLst xmlns:a="http://schemas.openxmlformats.org/drawingml/2006/main">
              <a:ext uri="{FF2B5EF4-FFF2-40B4-BE49-F238E27FC236}">
                <a16:creationId xmlns:a16="http://schemas.microsoft.com/office/drawing/2014/main" id="{63FD9FAD-2691-4FA3-B47C-A1E9D7FB0069}"/>
              </a:ext>
            </a:extLst>
          </p:cNvPr>
          <p:cNvSpPr>
            <a:spLocks xmlns:a="http://schemas.openxmlformats.org/drawingml/2006/main" noGrp="1"/>
          </p:cNvSpPr>
          <p:nvPr/>
        </p:nvSpPr>
        <p:spPr>
          <a:xfrm xmlns:a="http://schemas.openxmlformats.org/drawingml/2006/main">
            <a:off x="514350" y="2076450"/>
            <a:ext cx="5219700" cy="3333750"/>
          </a:xfrm>
          <a:prstGeom xmlns:a="http://schemas.openxmlformats.org/drawingml/2006/main" prst="roundRect">
            <a:avLst>
              <a:gd name="adj" fmla="val 2571"/>
            </a:avLst>
          </a:prstGeom>
          <a:solidFill xmlns:a="http://schemas.openxmlformats.org/drawingml/2006/main">
            <a:srgbClr val="FFFFFF"/>
          </a:solidFill>
          <a:ln xmlns:a="http://schemas.openxmlformats.org/drawingml/2006/main" w="10478">
            <a:solidFill>
              <a:srgbClr val="C9D6DA"/>
            </a:solidFill>
            <a:prstDash val="solid"/>
          </a:ln>
        </p:spPr>
        <p:txBody xmlns:a="http://schemas.openxmlformats.org/drawingml/2006/main">
          <a:bodyPr/>
          <a:p/>
        </p:txBody>
      </p:sp>
      <p:sp>
        <p:nvSpPr>
          <p:cNvPr id="21" name="v16-s7-soc-accent">
            <a:extLst xmlns:a="http://schemas.openxmlformats.org/drawingml/2006/main">
              <a:ext uri="{FF2B5EF4-FFF2-40B4-BE49-F238E27FC236}">
                <a16:creationId xmlns:a16="http://schemas.microsoft.com/office/drawing/2014/main" id="{1EE207B2-E231-4B37-8C45-6B20E76D4BD1}"/>
              </a:ext>
            </a:extLst>
          </p:cNvPr>
          <p:cNvSpPr>
            <a:spLocks xmlns:a="http://schemas.openxmlformats.org/drawingml/2006/main" noGrp="1"/>
          </p:cNvSpPr>
          <p:nvPr/>
        </p:nvSpPr>
        <p:spPr>
          <a:xfrm xmlns:a="http://schemas.openxmlformats.org/drawingml/2006/main">
            <a:off x="514350" y="2076450"/>
            <a:ext cx="66675" cy="333375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2" name="v16-s7-hbm-shadow">
            <a:extLst xmlns:a="http://schemas.openxmlformats.org/drawingml/2006/main">
              <a:ext uri="{FF2B5EF4-FFF2-40B4-BE49-F238E27FC236}">
                <a16:creationId xmlns:a16="http://schemas.microsoft.com/office/drawing/2014/main" id="{3958CD33-0FCF-49BA-811B-1A0ADA8037C0}"/>
              </a:ext>
            </a:extLst>
          </p:cNvPr>
          <p:cNvSpPr>
            <a:spLocks xmlns:a="http://schemas.openxmlformats.org/drawingml/2006/main" noGrp="1"/>
          </p:cNvSpPr>
          <p:nvPr/>
        </p:nvSpPr>
        <p:spPr>
          <a:xfrm xmlns:a="http://schemas.openxmlformats.org/drawingml/2006/main">
            <a:off x="6143625" y="2124075"/>
            <a:ext cx="5219700" cy="3333750"/>
          </a:xfrm>
          <a:prstGeom xmlns:a="http://schemas.openxmlformats.org/drawingml/2006/main" prst="roundRect">
            <a:avLst>
              <a:gd name="adj" fmla="val 257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3" name="v16-s7-hbm">
            <a:extLst xmlns:a="http://schemas.openxmlformats.org/drawingml/2006/main">
              <a:ext uri="{FF2B5EF4-FFF2-40B4-BE49-F238E27FC236}">
                <a16:creationId xmlns:a16="http://schemas.microsoft.com/office/drawing/2014/main" id="{9325A0A5-080B-4526-929F-40E34A2D0566}"/>
              </a:ext>
            </a:extLst>
          </p:cNvPr>
          <p:cNvSpPr>
            <a:spLocks xmlns:a="http://schemas.openxmlformats.org/drawingml/2006/main" noGrp="1"/>
          </p:cNvSpPr>
          <p:nvPr/>
        </p:nvSpPr>
        <p:spPr>
          <a:xfrm xmlns:a="http://schemas.openxmlformats.org/drawingml/2006/main">
            <a:off x="6115050" y="2076450"/>
            <a:ext cx="5219700" cy="3333750"/>
          </a:xfrm>
          <a:prstGeom xmlns:a="http://schemas.openxmlformats.org/drawingml/2006/main" prst="roundRect">
            <a:avLst>
              <a:gd name="adj" fmla="val 2571"/>
            </a:avLst>
          </a:prstGeom>
          <a:solidFill xmlns:a="http://schemas.openxmlformats.org/drawingml/2006/main">
            <a:srgbClr val="FFFFFF"/>
          </a:solidFill>
          <a:ln xmlns:a="http://schemas.openxmlformats.org/drawingml/2006/main" w="10478">
            <a:solidFill>
              <a:srgbClr val="C9D6DA"/>
            </a:solidFill>
            <a:prstDash val="solid"/>
          </a:ln>
        </p:spPr>
        <p:txBody xmlns:a="http://schemas.openxmlformats.org/drawingml/2006/main">
          <a:bodyPr/>
          <a:p/>
        </p:txBody>
      </p:sp>
      <p:sp>
        <p:nvSpPr>
          <p:cNvPr id="24" name="v16-s7-hbm-accent">
            <a:extLst xmlns:a="http://schemas.openxmlformats.org/drawingml/2006/main">
              <a:ext uri="{FF2B5EF4-FFF2-40B4-BE49-F238E27FC236}">
                <a16:creationId xmlns:a16="http://schemas.microsoft.com/office/drawing/2014/main" id="{D856A18D-8CBD-4423-B0BD-D517B2A04927}"/>
              </a:ext>
            </a:extLst>
          </p:cNvPr>
          <p:cNvSpPr>
            <a:spLocks xmlns:a="http://schemas.openxmlformats.org/drawingml/2006/main" noGrp="1"/>
          </p:cNvSpPr>
          <p:nvPr/>
        </p:nvSpPr>
        <p:spPr>
          <a:xfrm xmlns:a="http://schemas.openxmlformats.org/drawingml/2006/main">
            <a:off x="6115050" y="2076450"/>
            <a:ext cx="66675" cy="3333750"/>
          </a:xfrm>
          <a:prstGeom xmlns:a="http://schemas.openxmlformats.org/drawingml/2006/main" prst="roundRect">
            <a:avLst>
              <a:gd name="adj" fmla="val 42857"/>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25" name="v16-s7-now">
            <a:extLst xmlns:a="http://schemas.openxmlformats.org/drawingml/2006/main">
              <a:ext uri="{FF2B5EF4-FFF2-40B4-BE49-F238E27FC236}">
                <a16:creationId xmlns:a16="http://schemas.microsoft.com/office/drawing/2014/main" id="{2D411735-528D-4174-A3F1-3CFF19C9391B}"/>
              </a:ext>
            </a:extLst>
          </p:cNvPr>
          <p:cNvSpPr>
            <a:spLocks xmlns:a="http://schemas.openxmlformats.org/drawingml/2006/main" noGrp="1"/>
          </p:cNvSpPr>
          <p:nvPr/>
        </p:nvSpPr>
        <p:spPr>
          <a:xfrm xmlns:a="http://schemas.openxmlformats.org/drawingml/2006/main">
            <a:off x="742950" y="2286000"/>
            <a:ext cx="1619250" cy="285750"/>
          </a:xfrm>
          <a:prstGeom xmlns:a="http://schemas.openxmlformats.org/drawingml/2006/main" prst="roundRect">
            <a:avLst>
              <a:gd name="adj" fmla="val 50000"/>
            </a:avLst>
          </a:prstGeom>
          <a:solidFill xmlns:a="http://schemas.openxmlformats.org/drawingml/2006/main">
            <a:srgbClr val="E9F4EF"/>
          </a:solidFill>
          <a:ln xmlns:a="http://schemas.openxmlformats.org/drawingml/2006/main" w="0">
            <a:noFill/>
            <a:prstDash val="solid"/>
          </a:ln>
        </p:spPr>
        <p:txBody xmlns:a="http://schemas.openxmlformats.org/drawingml/2006/main">
          <a:bodyPr/>
          <a:p/>
        </p:txBody>
      </p:sp>
      <p:sp>
        <p:nvSpPr>
          <p:cNvPr id="26" name="v16-s7-now-text">
            <a:extLst xmlns:a="http://schemas.openxmlformats.org/drawingml/2006/main">
              <a:ext uri="{FF2B5EF4-FFF2-40B4-BE49-F238E27FC236}">
                <a16:creationId xmlns:a16="http://schemas.microsoft.com/office/drawing/2014/main" id="{8E6E2C9C-7116-49FC-9281-D7AE91BFBE80}"/>
              </a:ext>
            </a:extLst>
          </p:cNvPr>
          <p:cNvSpPr>
            <a:spLocks xmlns:a="http://schemas.openxmlformats.org/drawingml/2006/main" noGrp="1"/>
          </p:cNvSpPr>
          <p:nvPr/>
        </p:nvSpPr>
        <p:spPr>
          <a:xfrm xmlns:a="http://schemas.openxmlformats.org/drawingml/2006/main">
            <a:off x="838200" y="235267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176B5C"/>
                </a:solidFill>
                <a:latin typeface="Consolas"/>
                <a:ea typeface="Consolas"/>
                <a:cs typeface="Consolas"/>
              </a:defRPr>
            </a:pPr>
            <a:r>
              <a:rPr sz="930" b="1">
                <a:solidFill>
                  <a:srgbClr val="176B5C"/>
                </a:solidFill>
                <a:latin typeface="Consolas"/>
                <a:ea typeface="Consolas"/>
                <a:cs typeface="Consolas"/>
              </a:rPr>
              <a:t>QUALIFY NOW</a:t>
            </a:r>
          </a:p>
        </p:txBody>
      </p:sp>
      <p:sp>
        <p:nvSpPr>
          <p:cNvPr id="27" name="v16-s7-soc-title">
            <a:extLst xmlns:a="http://schemas.openxmlformats.org/drawingml/2006/main">
              <a:ext uri="{FF2B5EF4-FFF2-40B4-BE49-F238E27FC236}">
                <a16:creationId xmlns:a16="http://schemas.microsoft.com/office/drawing/2014/main" id="{E19C5B3F-1E92-4531-AD49-86E5953AEA50}"/>
              </a:ext>
            </a:extLst>
          </p:cNvPr>
          <p:cNvSpPr>
            <a:spLocks xmlns:a="http://schemas.openxmlformats.org/drawingml/2006/main" noGrp="1"/>
          </p:cNvSpPr>
          <p:nvPr/>
        </p:nvSpPr>
        <p:spPr>
          <a:xfrm xmlns:a="http://schemas.openxmlformats.org/drawingml/2006/main">
            <a:off x="742950" y="27432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2100" b="1">
                <a:solidFill>
                  <a:srgbClr val="0A2434"/>
                </a:solidFill>
                <a:latin typeface="Arial"/>
                <a:ea typeface="Arial"/>
                <a:cs typeface="Arial"/>
              </a:defRPr>
            </a:pPr>
            <a:r>
              <a:rPr sz="2100" b="1">
                <a:solidFill>
                  <a:srgbClr val="0A2434"/>
                </a:solidFill>
                <a:latin typeface="Arial"/>
                <a:ea typeface="Arial"/>
                <a:cs typeface="Arial"/>
              </a:rPr>
              <a:t>AI SoC SRAM / cache repair</a:t>
            </a:r>
          </a:p>
        </p:txBody>
      </p:sp>
      <p:sp>
        <p:nvSpPr>
          <p:cNvPr id="28" name="v16-s7-soc-proof-label">
            <a:extLst xmlns:a="http://schemas.openxmlformats.org/drawingml/2006/main">
              <a:ext uri="{FF2B5EF4-FFF2-40B4-BE49-F238E27FC236}">
                <a16:creationId xmlns:a16="http://schemas.microsoft.com/office/drawing/2014/main" id="{AA769E98-3891-4DEF-9DF6-2332F0147959}"/>
              </a:ext>
            </a:extLst>
          </p:cNvPr>
          <p:cNvSpPr>
            <a:spLocks xmlns:a="http://schemas.openxmlformats.org/drawingml/2006/main" noGrp="1"/>
          </p:cNvSpPr>
          <p:nvPr/>
        </p:nvSpPr>
        <p:spPr>
          <a:xfrm xmlns:a="http://schemas.openxmlformats.org/drawingml/2006/main">
            <a:off x="742950" y="32575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176B5C"/>
                </a:solidFill>
                <a:latin typeface="Arial"/>
                <a:ea typeface="Arial"/>
                <a:cs typeface="Arial"/>
              </a:defRPr>
            </a:pPr>
            <a:r>
              <a:rPr sz="1450" b="1">
                <a:solidFill>
                  <a:srgbClr val="176B5C"/>
                </a:solidFill>
                <a:latin typeface="Arial"/>
                <a:ea typeface="Arial"/>
                <a:cs typeface="Arial"/>
              </a:rPr>
              <a:t>Public Synopsys proof</a:t>
            </a:r>
          </a:p>
        </p:txBody>
      </p:sp>
      <p:sp>
        <p:nvSpPr>
          <p:cNvPr id="29" name="v16-s7-soc-proof">
            <a:extLst xmlns:a="http://schemas.openxmlformats.org/drawingml/2006/main">
              <a:ext uri="{FF2B5EF4-FFF2-40B4-BE49-F238E27FC236}">
                <a16:creationId xmlns:a16="http://schemas.microsoft.com/office/drawing/2014/main" id="{3708C24C-2C0E-4FF3-8D2A-C0BCD0B16CFD}"/>
              </a:ext>
            </a:extLst>
          </p:cNvPr>
          <p:cNvSpPr>
            <a:spLocks xmlns:a="http://schemas.openxmlformats.org/drawingml/2006/main" noGrp="1"/>
          </p:cNvSpPr>
          <p:nvPr/>
        </p:nvSpPr>
        <p:spPr>
          <a:xfrm xmlns:a="http://schemas.openxmlformats.org/drawingml/2006/main">
            <a:off x="742950" y="3562350"/>
            <a:ext cx="451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&gt;16 Kb repair state in N5 AI/HPC/Edge</a:t>
            </a:r>
          </a:p>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STAR: OTP / foundry eFuse interface</a:t>
            </a:r>
          </a:p>
        </p:txBody>
      </p:sp>
      <p:sp>
        <p:nvSpPr>
          <p:cNvPr id="30" name="v16-s7-soc-next-label">
            <a:extLst xmlns:a="http://schemas.openxmlformats.org/drawingml/2006/main">
              <a:ext uri="{FF2B5EF4-FFF2-40B4-BE49-F238E27FC236}">
                <a16:creationId xmlns:a16="http://schemas.microsoft.com/office/drawing/2014/main" id="{3E9175EF-1829-4321-8DDC-77BC92DAC6E5}"/>
              </a:ext>
            </a:extLst>
          </p:cNvPr>
          <p:cNvSpPr>
            <a:spLocks xmlns:a="http://schemas.openxmlformats.org/drawingml/2006/main" noGrp="1"/>
          </p:cNvSpPr>
          <p:nvPr/>
        </p:nvSpPr>
        <p:spPr>
          <a:xfrm xmlns:a="http://schemas.openxmlformats.org/drawingml/2006/main">
            <a:off x="742950" y="43243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8A521E"/>
                </a:solidFill>
                <a:latin typeface="Arial"/>
                <a:ea typeface="Arial"/>
                <a:cs typeface="Arial"/>
              </a:defRPr>
            </a:pPr>
            <a:r>
              <a:rPr sz="1450" b="1">
                <a:solidFill>
                  <a:srgbClr val="8A521E"/>
                </a:solidFill>
                <a:latin typeface="Arial"/>
                <a:ea typeface="Arial"/>
                <a:cs typeface="Arial"/>
              </a:rPr>
              <a:t>Next brief</a:t>
            </a:r>
          </a:p>
        </p:txBody>
      </p:sp>
      <p:sp>
        <p:nvSpPr>
          <p:cNvPr id="31" name="v16-s7-soc-next">
            <a:extLst xmlns:a="http://schemas.openxmlformats.org/drawingml/2006/main">
              <a:ext uri="{FF2B5EF4-FFF2-40B4-BE49-F238E27FC236}">
                <a16:creationId xmlns:a16="http://schemas.microsoft.com/office/drawing/2014/main" id="{09E0DC91-BAAC-47C1-856A-73D5D5A7FF25}"/>
              </a:ext>
            </a:extLst>
          </p:cNvPr>
          <p:cNvSpPr>
            <a:spLocks xmlns:a="http://schemas.openxmlformats.org/drawingml/2006/main" noGrp="1"/>
          </p:cNvSpPr>
          <p:nvPr/>
        </p:nvSpPr>
        <p:spPr>
          <a:xfrm xmlns:a="http://schemas.openxmlformats.org/drawingml/2006/main">
            <a:off x="742950" y="4610100"/>
            <a:ext cx="4514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60" b="1">
                <a:solidFill>
                  <a:srgbClr val="0A2434"/>
                </a:solidFill>
                <a:latin typeface="Arial"/>
                <a:ea typeface="Arial"/>
                <a:cs typeface="Arial"/>
              </a:defRPr>
            </a:pPr>
            <a:r>
              <a:rPr sz="1460" b="1">
                <a:solidFill>
                  <a:srgbClr val="0A2434"/>
                </a:solidFill>
                <a:latin typeface="Arial"/>
                <a:ea typeface="Arial"/>
                <a:cs typeface="Arial"/>
              </a:rPr>
              <a:t>Name bits · banks · BIST owner · program path</a:t>
            </a:r>
          </a:p>
          <a:p xmlns:a="http://schemas.openxmlformats.org/drawingml/2006/main">
            <a:pPr algn="l">
              <a:lnSpc>
                <a:spcPct val="103000"/>
              </a:lnSpc>
              <a:buNone/>
              <a:defRPr sz="1460" b="1">
                <a:solidFill>
                  <a:srgbClr val="0A2434"/>
                </a:solidFill>
                <a:latin typeface="Arial"/>
                <a:ea typeface="Arial"/>
                <a:cs typeface="Arial"/>
              </a:defRPr>
            </a:pPr>
            <a:r>
              <a:rPr sz="1460" b="1">
                <a:solidFill>
                  <a:srgbClr val="0A2434"/>
                </a:solidFill>
                <a:latin typeface="Arial"/>
                <a:ea typeface="Arial"/>
                <a:cs typeface="Arial"/>
              </a:rPr>
              <a:t>target node · candidate macro</a:t>
            </a:r>
          </a:p>
        </p:txBody>
      </p:sp>
      <p:sp>
        <p:nvSpPr>
          <p:cNvPr id="32" name="v16-s7-locus">
            <a:extLst xmlns:a="http://schemas.openxmlformats.org/drawingml/2006/main">
              <a:ext uri="{FF2B5EF4-FFF2-40B4-BE49-F238E27FC236}">
                <a16:creationId xmlns:a16="http://schemas.microsoft.com/office/drawing/2014/main" id="{07660EA2-9386-4E29-A3BB-2B56CCC0ACA8}"/>
              </a:ext>
            </a:extLst>
          </p:cNvPr>
          <p:cNvSpPr>
            <a:spLocks xmlns:a="http://schemas.openxmlformats.org/drawingml/2006/main" noGrp="1"/>
          </p:cNvSpPr>
          <p:nvPr/>
        </p:nvSpPr>
        <p:spPr>
          <a:xfrm xmlns:a="http://schemas.openxmlformats.org/drawingml/2006/main">
            <a:off x="6343650" y="2286000"/>
            <a:ext cx="2095500" cy="285750"/>
          </a:xfrm>
          <a:prstGeom xmlns:a="http://schemas.openxmlformats.org/drawingml/2006/main" prst="roundRect">
            <a:avLst>
              <a:gd name="adj" fmla="val 50000"/>
            </a:avLst>
          </a:prstGeom>
          <a:solidFill xmlns:a="http://schemas.openxmlformats.org/drawingml/2006/main">
            <a:srgbClr val="F7EFE6"/>
          </a:solidFill>
          <a:ln xmlns:a="http://schemas.openxmlformats.org/drawingml/2006/main" w="0">
            <a:noFill/>
            <a:prstDash val="solid"/>
          </a:ln>
        </p:spPr>
        <p:txBody xmlns:a="http://schemas.openxmlformats.org/drawingml/2006/main">
          <a:bodyPr/>
          <a:p/>
        </p:txBody>
      </p:sp>
      <p:sp>
        <p:nvSpPr>
          <p:cNvPr id="33" name="v16-s7-locus-text">
            <a:extLst xmlns:a="http://schemas.openxmlformats.org/drawingml/2006/main">
              <a:ext uri="{FF2B5EF4-FFF2-40B4-BE49-F238E27FC236}">
                <a16:creationId xmlns:a16="http://schemas.microsoft.com/office/drawing/2014/main" id="{6C48970B-595A-458F-97D1-D4AB5F8E1F5D}"/>
              </a:ext>
            </a:extLst>
          </p:cNvPr>
          <p:cNvSpPr>
            <a:spLocks xmlns:a="http://schemas.openxmlformats.org/drawingml/2006/main" noGrp="1"/>
          </p:cNvSpPr>
          <p:nvPr/>
        </p:nvSpPr>
        <p:spPr>
          <a:xfrm xmlns:a="http://schemas.openxmlformats.org/drawingml/2006/main">
            <a:off x="6438900" y="23526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8A521E"/>
                </a:solidFill>
                <a:latin typeface="Consolas"/>
                <a:ea typeface="Consolas"/>
                <a:cs typeface="Consolas"/>
              </a:defRPr>
            </a:pPr>
            <a:r>
              <a:rPr sz="930" b="1">
                <a:solidFill>
                  <a:srgbClr val="8A521E"/>
                </a:solidFill>
                <a:latin typeface="Consolas"/>
                <a:ea typeface="Consolas"/>
                <a:cs typeface="Consolas"/>
              </a:rPr>
              <a:t>QUALIFY LOCUS FIRST</a:t>
            </a:r>
          </a:p>
        </p:txBody>
      </p:sp>
      <p:sp>
        <p:nvSpPr>
          <p:cNvPr id="34" name="v16-s7-hbm-title">
            <a:extLst xmlns:a="http://schemas.openxmlformats.org/drawingml/2006/main">
              <a:ext uri="{FF2B5EF4-FFF2-40B4-BE49-F238E27FC236}">
                <a16:creationId xmlns:a16="http://schemas.microsoft.com/office/drawing/2014/main" id="{48B3C9A4-F5AB-477A-91CC-59D292800AA5}"/>
              </a:ext>
            </a:extLst>
          </p:cNvPr>
          <p:cNvSpPr>
            <a:spLocks xmlns:a="http://schemas.openxmlformats.org/drawingml/2006/main" noGrp="1"/>
          </p:cNvSpPr>
          <p:nvPr/>
        </p:nvSpPr>
        <p:spPr>
          <a:xfrm xmlns:a="http://schemas.openxmlformats.org/drawingml/2006/main">
            <a:off x="6343650" y="27432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2100" b="1">
                <a:solidFill>
                  <a:srgbClr val="0A2434"/>
                </a:solidFill>
                <a:latin typeface="Arial"/>
                <a:ea typeface="Arial"/>
                <a:cs typeface="Arial"/>
              </a:defRPr>
            </a:pPr>
            <a:r>
              <a:rPr sz="2100" b="1">
                <a:solidFill>
                  <a:srgbClr val="0A2434"/>
                </a:solidFill>
                <a:latin typeface="Arial"/>
                <a:ea typeface="Arial"/>
                <a:cs typeface="Arial"/>
              </a:rPr>
              <a:t>HBM persistent repair</a:t>
            </a:r>
          </a:p>
        </p:txBody>
      </p:sp>
      <p:sp>
        <p:nvSpPr>
          <p:cNvPr id="35" name="v16-s7-hbm-proof-label">
            <a:extLst xmlns:a="http://schemas.openxmlformats.org/drawingml/2006/main">
              <a:ext uri="{FF2B5EF4-FFF2-40B4-BE49-F238E27FC236}">
                <a16:creationId xmlns:a16="http://schemas.microsoft.com/office/drawing/2014/main" id="{31EB6590-21BB-4034-B49D-7375C8A794F3}"/>
              </a:ext>
            </a:extLst>
          </p:cNvPr>
          <p:cNvSpPr>
            <a:spLocks xmlns:a="http://schemas.openxmlformats.org/drawingml/2006/main" noGrp="1"/>
          </p:cNvSpPr>
          <p:nvPr/>
        </p:nvSpPr>
        <p:spPr>
          <a:xfrm xmlns:a="http://schemas.openxmlformats.org/drawingml/2006/main">
            <a:off x="6343650" y="32575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8A521E"/>
                </a:solidFill>
                <a:latin typeface="Arial"/>
                <a:ea typeface="Arial"/>
                <a:cs typeface="Arial"/>
              </a:defRPr>
            </a:pPr>
            <a:r>
              <a:rPr sz="1450" b="1">
                <a:solidFill>
                  <a:srgbClr val="8A521E"/>
                </a:solidFill>
                <a:latin typeface="Arial"/>
                <a:ea typeface="Arial"/>
                <a:cs typeface="Arial"/>
              </a:rPr>
              <a:t>What public evidence establishes</a:t>
            </a:r>
          </a:p>
        </p:txBody>
      </p:sp>
      <p:sp>
        <p:nvSpPr>
          <p:cNvPr id="36" name="v16-s7-hbm-proof">
            <a:extLst xmlns:a="http://schemas.openxmlformats.org/drawingml/2006/main">
              <a:ext uri="{FF2B5EF4-FFF2-40B4-BE49-F238E27FC236}">
                <a16:creationId xmlns:a16="http://schemas.microsoft.com/office/drawing/2014/main" id="{CEBDA959-B6E8-4F8B-9139-4B689006DED3}"/>
              </a:ext>
            </a:extLst>
          </p:cNvPr>
          <p:cNvSpPr>
            <a:spLocks xmlns:a="http://schemas.openxmlformats.org/drawingml/2006/main" noGrp="1"/>
          </p:cNvSpPr>
          <p:nvPr/>
        </p:nvSpPr>
        <p:spPr>
          <a:xfrm xmlns:a="http://schemas.openxmlformats.org/drawingml/2006/main">
            <a:off x="6343650" y="3562350"/>
            <a:ext cx="451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InfoROM can retain row-remap entries</a:t>
            </a:r>
          </a:p>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HBM3 can trigger permanent fuse programming</a:t>
            </a:r>
          </a:p>
        </p:txBody>
      </p:sp>
      <p:sp>
        <p:nvSpPr>
          <p:cNvPr id="37" name="v16-s7-hbm-next-label">
            <a:extLst xmlns:a="http://schemas.openxmlformats.org/drawingml/2006/main">
              <a:ext uri="{FF2B5EF4-FFF2-40B4-BE49-F238E27FC236}">
                <a16:creationId xmlns:a16="http://schemas.microsoft.com/office/drawing/2014/main" id="{ABA2F63E-3274-4E60-8F5E-2CF613BC615B}"/>
              </a:ext>
            </a:extLst>
          </p:cNvPr>
          <p:cNvSpPr>
            <a:spLocks xmlns:a="http://schemas.openxmlformats.org/drawingml/2006/main" noGrp="1"/>
          </p:cNvSpPr>
          <p:nvPr/>
        </p:nvSpPr>
        <p:spPr>
          <a:xfrm xmlns:a="http://schemas.openxmlformats.org/drawingml/2006/main">
            <a:off x="6343650" y="43243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8A521E"/>
                </a:solidFill>
                <a:latin typeface="Arial"/>
                <a:ea typeface="Arial"/>
                <a:cs typeface="Arial"/>
              </a:defRPr>
            </a:pPr>
            <a:r>
              <a:rPr sz="1450" b="1">
                <a:solidFill>
                  <a:srgbClr val="8A521E"/>
                </a:solidFill>
                <a:latin typeface="Arial"/>
                <a:ea typeface="Arial"/>
                <a:cs typeface="Arial"/>
              </a:rPr>
              <a:t>Open before product fit</a:t>
            </a:r>
          </a:p>
        </p:txBody>
      </p:sp>
      <p:sp>
        <p:nvSpPr>
          <p:cNvPr id="38" name="v16-s7-hbm-next">
            <a:extLst xmlns:a="http://schemas.openxmlformats.org/drawingml/2006/main">
              <a:ext uri="{FF2B5EF4-FFF2-40B4-BE49-F238E27FC236}">
                <a16:creationId xmlns:a16="http://schemas.microsoft.com/office/drawing/2014/main" id="{7DC0FA6E-51B5-4E9A-B7A4-2F4CA488AACC}"/>
              </a:ext>
            </a:extLst>
          </p:cNvPr>
          <p:cNvSpPr>
            <a:spLocks xmlns:a="http://schemas.openxmlformats.org/drawingml/2006/main" noGrp="1"/>
          </p:cNvSpPr>
          <p:nvPr/>
        </p:nvSpPr>
        <p:spPr>
          <a:xfrm xmlns:a="http://schemas.openxmlformats.org/drawingml/2006/main">
            <a:off x="6343650" y="4610100"/>
            <a:ext cx="4514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1">
                <a:solidFill>
                  <a:srgbClr val="0A2434"/>
                </a:solidFill>
                <a:latin typeface="Arial"/>
                <a:ea typeface="Arial"/>
                <a:cs typeface="Arial"/>
              </a:defRPr>
            </a:pPr>
            <a:r>
              <a:rPr sz="1440" b="1">
                <a:solidFill>
                  <a:srgbClr val="0A2434"/>
                </a:solidFill>
                <a:latin typeface="Arial"/>
                <a:ea typeface="Arial"/>
                <a:cs typeface="Arial"/>
              </a:rPr>
              <a:t>Die/controller · storage technology · update authority</a:t>
            </a:r>
          </a:p>
          <a:p xmlns:a="http://schemas.openxmlformats.org/drawingml/2006/main">
            <a:pPr algn="l">
              <a:lnSpc>
                <a:spcPct val="103000"/>
              </a:lnSpc>
              <a:buNone/>
              <a:defRPr sz="1440" b="1">
                <a:solidFill>
                  <a:srgbClr val="0A2434"/>
                </a:solidFill>
                <a:latin typeface="Arial"/>
                <a:ea typeface="Arial"/>
                <a:cs typeface="Arial"/>
              </a:defRPr>
            </a:pPr>
            <a:r>
              <a:rPr sz="1440" b="1">
                <a:solidFill>
                  <a:srgbClr val="0A2434"/>
                </a:solidFill>
                <a:latin typeface="Arial"/>
                <a:ea typeface="Arial"/>
                <a:cs typeface="Arial"/>
              </a:rPr>
              <a:t>post-package programming · attestation</a:t>
            </a:r>
          </a:p>
        </p:txBody>
      </p:sp>
      <p:sp>
        <p:nvSpPr>
          <p:cNvPr id="39" name="v16-s7-boundary">
            <a:extLst xmlns:a="http://schemas.openxmlformats.org/drawingml/2006/main">
              <a:ext uri="{FF2B5EF4-FFF2-40B4-BE49-F238E27FC236}">
                <a16:creationId xmlns:a16="http://schemas.microsoft.com/office/drawing/2014/main" id="{34831212-050B-47B0-92CB-857544EB2B60}"/>
              </a:ext>
            </a:extLst>
          </p:cNvPr>
          <p:cNvSpPr>
            <a:spLocks xmlns:a="http://schemas.openxmlformats.org/drawingml/2006/main" noGrp="1"/>
          </p:cNvSpPr>
          <p:nvPr/>
        </p:nvSpPr>
        <p:spPr>
          <a:xfrm xmlns:a="http://schemas.openxmlformats.org/drawingml/2006/main">
            <a:off x="514350" y="5619750"/>
            <a:ext cx="10820400" cy="514350"/>
          </a:xfrm>
          <a:prstGeom xmlns:a="http://schemas.openxmlformats.org/drawingml/2006/main" prst="roundRect">
            <a:avLst>
              <a:gd name="adj" fmla="val 14815"/>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0" name="v16-s7-boundary-text">
            <a:extLst xmlns:a="http://schemas.openxmlformats.org/drawingml/2006/main">
              <a:ext uri="{FF2B5EF4-FFF2-40B4-BE49-F238E27FC236}">
                <a16:creationId xmlns:a16="http://schemas.microsoft.com/office/drawing/2014/main" id="{9319A1B0-71B7-4145-98A3-722A142B2686}"/>
              </a:ext>
            </a:extLst>
          </p:cNvPr>
          <p:cNvSpPr>
            <a:spLocks xmlns:a="http://schemas.openxmlformats.org/drawingml/2006/main" noGrp="1"/>
          </p:cNvSpPr>
          <p:nvPr/>
        </p:nvSpPr>
        <p:spPr>
          <a:xfrm xmlns:a="http://schemas.openxmlformats.org/drawingml/2006/main">
            <a:off x="685800" y="5715000"/>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60" b="1">
                <a:solidFill>
                  <a:srgbClr val="FFFFFF"/>
                </a:solidFill>
                <a:latin typeface="Arial"/>
                <a:ea typeface="Arial"/>
                <a:cs typeface="Arial"/>
              </a:defRPr>
            </a:pPr>
            <a:r>
              <a:rPr sz="1460" b="1">
                <a:solidFill>
                  <a:srgbClr val="FFFFFF"/>
                </a:solidFill>
                <a:latin typeface="Arial"/>
                <a:ea typeface="Arial"/>
                <a:cs typeface="Arial"/>
              </a:rPr>
              <a:t>Do not collapse AI SoC repair and HBM repair into one universal OTP location</a:t>
            </a:r>
          </a:p>
        </p:txBody>
      </p:sp>
    </p:spTree>
    <p:extLst>
      <p:ext uri="{BB962C8B-B14F-4D97-AF65-F5344CB8AC3E}">
        <p14:creationId xmlns:p14="http://schemas.microsoft.com/office/powerpoint/2010/main" val="1060313097"/>
      </p:ext>
    </p:extLst>
  </p:cSld>
</p:sld>
</file>

<file path=ppt/slides/slide11.xml><?xml version="1.0" encoding="utf-8"?>
<p:sld xmlns:p="http://schemas.openxmlformats.org/presentationml/2006/main">
  <p:cSld>
    <p:bg>
      <p:bgPr>
        <a:solidFill xmlns:a="http://schemas.openxmlformats.org/drawingml/2006/main">
          <a:srgbClr val="F3F7F8"/>
        </a:solidFill>
      </p:bgPr>
    </p:bg>
    <p:spTree>
      <p:nvGrpSpPr>
        <p:cNvPr id="1" name=""/>
        <p:cNvGrpSpPr/>
        <p:nvPr/>
      </p:nvGrpSpPr>
      <p:grpSpPr>
        <a:xfrm xmlns:a="http://schemas.openxmlformats.org/drawingml/2006/main"/>
      </p:grpSpPr>
      <p:sp>
        <p:nvSpPr>
          <p:cNvPr id="44" name="v16-bg-8">
            <a:extLst xmlns:a="http://schemas.openxmlformats.org/drawingml/2006/main">
              <a:ext uri="{FF2B5EF4-FFF2-40B4-BE49-F238E27FC236}">
                <a16:creationId xmlns:a16="http://schemas.microsoft.com/office/drawing/2014/main" id="{ECF22CEB-1B91-4BD2-8775-15210622B71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8">
            <a:extLst xmlns:a="http://schemas.openxmlformats.org/drawingml/2006/main">
              <a:ext uri="{FF2B5EF4-FFF2-40B4-BE49-F238E27FC236}">
                <a16:creationId xmlns:a16="http://schemas.microsoft.com/office/drawing/2014/main" id="{A7DDE257-4D5A-415D-9CE1-7045AD213976}"/>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8">
            <a:extLst xmlns:a="http://schemas.openxmlformats.org/drawingml/2006/main">
              <a:ext uri="{FF2B5EF4-FFF2-40B4-BE49-F238E27FC236}">
                <a16:creationId xmlns:a16="http://schemas.microsoft.com/office/drawing/2014/main" id="{C54E6CD3-B256-4048-ABC0-A5BADCFA861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rPr>
              <a:t>10 · DISCOVER FIRST · OCP SERVICE STATE</a:t>
            </a:r>
          </a:p>
        </p:txBody>
      </p:sp>
      <p:sp>
        <p:nvSpPr>
          <p:cNvPr id="4" name="v16-title-8">
            <a:extLst xmlns:a="http://schemas.openxmlformats.org/drawingml/2006/main">
              <a:ext uri="{FF2B5EF4-FFF2-40B4-BE49-F238E27FC236}">
                <a16:creationId xmlns:a16="http://schemas.microsoft.com/office/drawing/2014/main" id="{B00BE9C7-D969-4E36-AA8B-8029FAA14B86}"/>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OCP Modules Persist Service State</a:t>
            </a:r>
          </a:p>
          <a:p xmlns:a="http://schemas.openxmlformats.org/drawingml/2006/main">
            <a:pPr>
              <a:spcBef>
                <a:spcPts val="0"/>
              </a:spcBef>
              <a:spcAft>
                <a:spcPts val="200"/>
              </a:spcAft>
            </a:pPr>
            <a:r>
              <a:rPr sz="2700" b="1">
                <a:solidFill>
                  <a:srgbClr val="0A2434"/>
                </a:solidFill>
                <a:latin typeface="Arial"/>
              </a:rPr>
              <a:t>but Standards Do Not Select Our Macro</a:t>
            </a:r>
          </a:p>
        </p:txBody>
      </p:sp>
      <p:sp>
        <p:nvSpPr>
          <p:cNvPr id="5" name="v16-subtitle-8">
            <a:extLst xmlns:a="http://schemas.openxmlformats.org/drawingml/2006/main">
              <a:ext uri="{FF2B5EF4-FFF2-40B4-BE49-F238E27FC236}">
                <a16:creationId xmlns:a16="http://schemas.microsoft.com/office/drawing/2014/main" id="{191CBDDA-7C9A-4D4A-A5E1-AE2924FA963E}"/>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Use the interface contract to ask a better integration question</a:t>
            </a:r>
          </a:p>
        </p:txBody>
      </p:sp>
      <p:sp>
        <p:nvSpPr>
          <p:cNvPr id="6" name="motif-line-0">
            <a:extLst xmlns:a="http://schemas.openxmlformats.org/drawingml/2006/main">
              <a:ext uri="{FF2B5EF4-FFF2-40B4-BE49-F238E27FC236}">
                <a16:creationId xmlns:a16="http://schemas.microsoft.com/office/drawing/2014/main" id="{92FAC41C-6DC9-413C-A90B-977601E2AD48}"/>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488D687F-295C-4DAA-9453-B18AF71BB511}"/>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47968DE6-8A0B-4A1B-B1A4-E88C9981F911}"/>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8B7BE218-AF29-4368-A502-740A3DFDAF92}"/>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ED94A464-5F0E-4ACD-8734-D10F06E5FB47}"/>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F3452C86-9BFB-4F0A-AF47-DD98864DF385}"/>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E777CAA4-8BF1-4873-8EBB-6E95D257F918}"/>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FAE71F73-551E-4B72-A80F-20F1262E6A6F}"/>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DAC989CC-A7DE-4A4A-AB1E-10FF2F2F059D}"/>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CFC9E4EF-DE96-4F94-ACBA-ECB39A8CADDB}"/>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8">
            <a:extLst xmlns:a="http://schemas.openxmlformats.org/drawingml/2006/main">
              <a:ext uri="{FF2B5EF4-FFF2-40B4-BE49-F238E27FC236}">
                <a16:creationId xmlns:a16="http://schemas.microsoft.com/office/drawing/2014/main" id="{F6BEFE80-747B-4F19-9984-E2FD4E5E859B}"/>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8">
            <a:extLst xmlns:a="http://schemas.openxmlformats.org/drawingml/2006/main">
              <a:ext uri="{FF2B5EF4-FFF2-40B4-BE49-F238E27FC236}">
                <a16:creationId xmlns:a16="http://schemas.microsoft.com/office/drawing/2014/main" id="{F5EB04AC-2AAF-4675-B786-3901DED0DB69}"/>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8">
            <a:extLst xmlns:a="http://schemas.openxmlformats.org/drawingml/2006/main">
              <a:ext uri="{FF2B5EF4-FFF2-40B4-BE49-F238E27FC236}">
                <a16:creationId xmlns:a16="http://schemas.microsoft.com/office/drawing/2014/main" id="{71BD4B9A-E5AD-4EF5-A1B3-2AA41DA41F35}"/>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11</a:t>
            </a:r>
          </a:p>
        </p:txBody>
      </p:sp>
      <p:sp>
        <p:nvSpPr>
          <p:cNvPr id="19" name="v16-s8-fru-shadow">
            <a:extLst xmlns:a="http://schemas.openxmlformats.org/drawingml/2006/main">
              <a:ext uri="{FF2B5EF4-FFF2-40B4-BE49-F238E27FC236}">
                <a16:creationId xmlns:a16="http://schemas.microsoft.com/office/drawing/2014/main" id="{199400A3-9A54-41A3-AD20-566A6ABAB94F}"/>
              </a:ext>
            </a:extLst>
          </p:cNvPr>
          <p:cNvSpPr>
            <a:spLocks xmlns:a="http://schemas.openxmlformats.org/drawingml/2006/main" noGrp="1"/>
          </p:cNvSpPr>
          <p:nvPr/>
        </p:nvSpPr>
        <p:spPr>
          <a:xfrm xmlns:a="http://schemas.openxmlformats.org/drawingml/2006/main">
            <a:off x="542925" y="2257425"/>
            <a:ext cx="3200400" cy="2552700"/>
          </a:xfrm>
          <a:prstGeom xmlns:a="http://schemas.openxmlformats.org/drawingml/2006/main" prst="roundRect">
            <a:avLst>
              <a:gd name="adj" fmla="val 298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8-fru">
            <a:extLst xmlns:a="http://schemas.openxmlformats.org/drawingml/2006/main">
              <a:ext uri="{FF2B5EF4-FFF2-40B4-BE49-F238E27FC236}">
                <a16:creationId xmlns:a16="http://schemas.microsoft.com/office/drawing/2014/main" id="{887EC2DD-F57C-4D8E-9534-7C20DA3DCAC7}"/>
              </a:ext>
            </a:extLst>
          </p:cNvPr>
          <p:cNvSpPr>
            <a:spLocks xmlns:a="http://schemas.openxmlformats.org/drawingml/2006/main" noGrp="1"/>
          </p:cNvSpPr>
          <p:nvPr/>
        </p:nvSpPr>
        <p:spPr>
          <a:xfrm xmlns:a="http://schemas.openxmlformats.org/drawingml/2006/main">
            <a:off x="514350" y="2209800"/>
            <a:ext cx="3200400" cy="2552700"/>
          </a:xfrm>
          <a:prstGeom xmlns:a="http://schemas.openxmlformats.org/drawingml/2006/main" prst="roundRect">
            <a:avLst>
              <a:gd name="adj" fmla="val 2985"/>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8-fru-top">
            <a:extLst xmlns:a="http://schemas.openxmlformats.org/drawingml/2006/main">
              <a:ext uri="{FF2B5EF4-FFF2-40B4-BE49-F238E27FC236}">
                <a16:creationId xmlns:a16="http://schemas.microsoft.com/office/drawing/2014/main" id="{7755F4AE-88E5-4417-8887-E2ECBB855D84}"/>
              </a:ext>
            </a:extLst>
          </p:cNvPr>
          <p:cNvSpPr>
            <a:spLocks xmlns:a="http://schemas.openxmlformats.org/drawingml/2006/main" noGrp="1"/>
          </p:cNvSpPr>
          <p:nvPr/>
        </p:nvSpPr>
        <p:spPr>
          <a:xfrm xmlns:a="http://schemas.openxmlformats.org/drawingml/2006/main">
            <a:off x="514350" y="2209800"/>
            <a:ext cx="32004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8-fru-eyebrow">
            <a:extLst xmlns:a="http://schemas.openxmlformats.org/drawingml/2006/main">
              <a:ext uri="{FF2B5EF4-FFF2-40B4-BE49-F238E27FC236}">
                <a16:creationId xmlns:a16="http://schemas.microsoft.com/office/drawing/2014/main" id="{B8FAAED7-0D8B-407A-AF97-406C4F9D1A29}"/>
              </a:ext>
            </a:extLst>
          </p:cNvPr>
          <p:cNvSpPr>
            <a:spLocks xmlns:a="http://schemas.openxmlformats.org/drawingml/2006/main" noGrp="1"/>
          </p:cNvSpPr>
          <p:nvPr/>
        </p:nvSpPr>
        <p:spPr>
          <a:xfrm xmlns:a="http://schemas.openxmlformats.org/drawingml/2006/main">
            <a:off x="676275" y="23526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OAI UBB · BOARD SERVICE</a:t>
            </a:r>
          </a:p>
        </p:txBody>
      </p:sp>
      <p:sp>
        <p:nvSpPr>
          <p:cNvPr id="23" name="v16-s8-fru-title">
            <a:extLst xmlns:a="http://schemas.openxmlformats.org/drawingml/2006/main">
              <a:ext uri="{FF2B5EF4-FFF2-40B4-BE49-F238E27FC236}">
                <a16:creationId xmlns:a16="http://schemas.microsoft.com/office/drawing/2014/main" id="{4F73B20B-398E-4BCB-AE2E-E1EFFF8BD73E}"/>
              </a:ext>
            </a:extLst>
          </p:cNvPr>
          <p:cNvSpPr>
            <a:spLocks xmlns:a="http://schemas.openxmlformats.org/drawingml/2006/main" noGrp="1"/>
          </p:cNvSpPr>
          <p:nvPr/>
        </p:nvSpPr>
        <p:spPr>
          <a:xfrm xmlns:a="http://schemas.openxmlformats.org/drawingml/2006/main">
            <a:off x="676275" y="2571750"/>
            <a:ext cx="28765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FRU EEPROM</a:t>
            </a:r>
          </a:p>
        </p:txBody>
      </p:sp>
      <p:sp>
        <p:nvSpPr>
          <p:cNvPr id="24" name="v16-s8-fru-body">
            <a:extLst xmlns:a="http://schemas.openxmlformats.org/drawingml/2006/main">
              <a:ext uri="{FF2B5EF4-FFF2-40B4-BE49-F238E27FC236}">
                <a16:creationId xmlns:a16="http://schemas.microsoft.com/office/drawing/2014/main" id="{5F5BABDA-6C0C-4CC3-8C88-FC4DE924B40A}"/>
              </a:ext>
            </a:extLst>
          </p:cNvPr>
          <p:cNvSpPr>
            <a:spLocks xmlns:a="http://schemas.openxmlformats.org/drawingml/2006/main" noGrp="1"/>
          </p:cNvSpPr>
          <p:nvPr/>
        </p:nvSpPr>
        <p:spPr>
          <a:xfrm xmlns:a="http://schemas.openxmlformats.org/drawingml/2006/main">
            <a:off x="676275" y="2952750"/>
            <a:ext cx="28765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Board identity + service-state</a:t>
            </a:r>
          </a:p>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Published baseline: external EEPROM</a:t>
            </a:r>
          </a:p>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Open: does embedded integration</a:t>
            </a:r>
          </a:p>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create enough system value?</a:t>
            </a:r>
          </a:p>
        </p:txBody>
      </p:sp>
      <p:sp>
        <p:nvSpPr>
          <p:cNvPr id="25" name="v16-s8-elsfp-shadow">
            <a:extLst xmlns:a="http://schemas.openxmlformats.org/drawingml/2006/main">
              <a:ext uri="{FF2B5EF4-FFF2-40B4-BE49-F238E27FC236}">
                <a16:creationId xmlns:a16="http://schemas.microsoft.com/office/drawing/2014/main" id="{3408726A-F6E8-495F-86E0-08B1D3703177}"/>
              </a:ext>
            </a:extLst>
          </p:cNvPr>
          <p:cNvSpPr>
            <a:spLocks xmlns:a="http://schemas.openxmlformats.org/drawingml/2006/main" noGrp="1"/>
          </p:cNvSpPr>
          <p:nvPr/>
        </p:nvSpPr>
        <p:spPr>
          <a:xfrm xmlns:a="http://schemas.openxmlformats.org/drawingml/2006/main">
            <a:off x="4010025" y="2257425"/>
            <a:ext cx="3200400" cy="2552700"/>
          </a:xfrm>
          <a:prstGeom xmlns:a="http://schemas.openxmlformats.org/drawingml/2006/main" prst="roundRect">
            <a:avLst>
              <a:gd name="adj" fmla="val 298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8-elsfp">
            <a:extLst xmlns:a="http://schemas.openxmlformats.org/drawingml/2006/main">
              <a:ext uri="{FF2B5EF4-FFF2-40B4-BE49-F238E27FC236}">
                <a16:creationId xmlns:a16="http://schemas.microsoft.com/office/drawing/2014/main" id="{510DE140-B399-4FB5-84DF-14200ABBD075}"/>
              </a:ext>
            </a:extLst>
          </p:cNvPr>
          <p:cNvSpPr>
            <a:spLocks xmlns:a="http://schemas.openxmlformats.org/drawingml/2006/main" noGrp="1"/>
          </p:cNvSpPr>
          <p:nvPr/>
        </p:nvSpPr>
        <p:spPr>
          <a:xfrm xmlns:a="http://schemas.openxmlformats.org/drawingml/2006/main">
            <a:off x="3981450" y="2209800"/>
            <a:ext cx="3200400" cy="2552700"/>
          </a:xfrm>
          <a:prstGeom xmlns:a="http://schemas.openxmlformats.org/drawingml/2006/main" prst="roundRect">
            <a:avLst>
              <a:gd name="adj" fmla="val 2985"/>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27" name="v16-s8-elsfp-top">
            <a:extLst xmlns:a="http://schemas.openxmlformats.org/drawingml/2006/main">
              <a:ext uri="{FF2B5EF4-FFF2-40B4-BE49-F238E27FC236}">
                <a16:creationId xmlns:a16="http://schemas.microsoft.com/office/drawing/2014/main" id="{E42A9072-BE6A-4C97-82B6-E0BBEEBBECB1}"/>
              </a:ext>
            </a:extLst>
          </p:cNvPr>
          <p:cNvSpPr>
            <a:spLocks xmlns:a="http://schemas.openxmlformats.org/drawingml/2006/main" noGrp="1"/>
          </p:cNvSpPr>
          <p:nvPr/>
        </p:nvSpPr>
        <p:spPr>
          <a:xfrm xmlns:a="http://schemas.openxmlformats.org/drawingml/2006/main">
            <a:off x="3981450" y="22098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28" name="v16-s8-elsfp-eyebrow">
            <a:extLst xmlns:a="http://schemas.openxmlformats.org/drawingml/2006/main">
              <a:ext uri="{FF2B5EF4-FFF2-40B4-BE49-F238E27FC236}">
                <a16:creationId xmlns:a16="http://schemas.microsoft.com/office/drawing/2014/main" id="{763ECC3D-1047-4EA2-8900-8EC9EC60BFC1}"/>
              </a:ext>
            </a:extLst>
          </p:cNvPr>
          <p:cNvSpPr>
            <a:spLocks xmlns:a="http://schemas.openxmlformats.org/drawingml/2006/main" noGrp="1"/>
          </p:cNvSpPr>
          <p:nvPr/>
        </p:nvSpPr>
        <p:spPr>
          <a:xfrm xmlns:a="http://schemas.openxmlformats.org/drawingml/2006/main">
            <a:off x="4143375" y="23526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OIF ELSFP-CMIS · MODULE STATE</a:t>
            </a:r>
          </a:p>
        </p:txBody>
      </p:sp>
      <p:sp>
        <p:nvSpPr>
          <p:cNvPr id="29" name="v16-s8-elsfp-title">
            <a:extLst xmlns:a="http://schemas.openxmlformats.org/drawingml/2006/main">
              <a:ext uri="{FF2B5EF4-FFF2-40B4-BE49-F238E27FC236}">
                <a16:creationId xmlns:a16="http://schemas.microsoft.com/office/drawing/2014/main" id="{185C9620-473A-4DE5-99C4-B7CA0F10CC4F}"/>
              </a:ext>
            </a:extLst>
          </p:cNvPr>
          <p:cNvSpPr>
            <a:spLocks xmlns:a="http://schemas.openxmlformats.org/drawingml/2006/main" noGrp="1"/>
          </p:cNvSpPr>
          <p:nvPr/>
        </p:nvSpPr>
        <p:spPr>
          <a:xfrm xmlns:a="http://schemas.openxmlformats.org/drawingml/2006/main">
            <a:off x="4143375" y="2571750"/>
            <a:ext cx="28765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NV SAVE / RESTORE</a:t>
            </a:r>
          </a:p>
        </p:txBody>
      </p:sp>
      <p:sp>
        <p:nvSpPr>
          <p:cNvPr id="30" name="v16-s8-elsfp-body">
            <a:extLst xmlns:a="http://schemas.openxmlformats.org/drawingml/2006/main">
              <a:ext uri="{FF2B5EF4-FFF2-40B4-BE49-F238E27FC236}">
                <a16:creationId xmlns:a16="http://schemas.microsoft.com/office/drawing/2014/main" id="{0ABE56BB-B125-4446-9250-66AAEE23D417}"/>
              </a:ext>
            </a:extLst>
          </p:cNvPr>
          <p:cNvSpPr>
            <a:spLocks xmlns:a="http://schemas.openxmlformats.org/drawingml/2006/main" noGrp="1"/>
          </p:cNvSpPr>
          <p:nvPr/>
        </p:nvSpPr>
        <p:spPr>
          <a:xfrm xmlns:a="http://schemas.openxmlformats.org/drawingml/2006/main">
            <a:off x="4143375" y="2952750"/>
            <a:ext cx="28765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Lane controls · alarm masks</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Two slots + factory configuration</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Physical storage is out of scope</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Open: endurance · atomicity</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recovery · controller locus</a:t>
            </a:r>
          </a:p>
        </p:txBody>
      </p:sp>
      <p:sp>
        <p:nvSpPr>
          <p:cNvPr id="31" name="v16-s8-question-shadow">
            <a:extLst xmlns:a="http://schemas.openxmlformats.org/drawingml/2006/main">
              <a:ext uri="{FF2B5EF4-FFF2-40B4-BE49-F238E27FC236}">
                <a16:creationId xmlns:a16="http://schemas.microsoft.com/office/drawing/2014/main" id="{FAB9322D-F019-4AFB-A890-D2D0B382B3AC}"/>
              </a:ext>
            </a:extLst>
          </p:cNvPr>
          <p:cNvSpPr>
            <a:spLocks xmlns:a="http://schemas.openxmlformats.org/drawingml/2006/main" noGrp="1"/>
          </p:cNvSpPr>
          <p:nvPr/>
        </p:nvSpPr>
        <p:spPr>
          <a:xfrm xmlns:a="http://schemas.openxmlformats.org/drawingml/2006/main">
            <a:off x="7477125" y="2257425"/>
            <a:ext cx="3886200" cy="2552700"/>
          </a:xfrm>
          <a:prstGeom xmlns:a="http://schemas.openxmlformats.org/drawingml/2006/main" prst="roundRect">
            <a:avLst>
              <a:gd name="adj" fmla="val 2985"/>
            </a:avLst>
          </a:prstGeom>
          <a:solidFill xmlns:a="http://schemas.openxmlformats.org/drawingml/2006/main">
            <a:srgbClr val="04131E"/>
          </a:solidFill>
          <a:ln xmlns:a="http://schemas.openxmlformats.org/drawingml/2006/main" w="0">
            <a:noFill/>
            <a:prstDash val="solid"/>
          </a:ln>
        </p:spPr>
        <p:txBody xmlns:a="http://schemas.openxmlformats.org/drawingml/2006/main">
          <a:bodyPr/>
          <a:p/>
        </p:txBody>
      </p:sp>
      <p:sp>
        <p:nvSpPr>
          <p:cNvPr id="32" name="v16-s8-question">
            <a:extLst xmlns:a="http://schemas.openxmlformats.org/drawingml/2006/main">
              <a:ext uri="{FF2B5EF4-FFF2-40B4-BE49-F238E27FC236}">
                <a16:creationId xmlns:a16="http://schemas.microsoft.com/office/drawing/2014/main" id="{FE400D5C-7A51-4568-B756-3DFDC8EDF1E4}"/>
              </a:ext>
            </a:extLst>
          </p:cNvPr>
          <p:cNvSpPr>
            <a:spLocks xmlns:a="http://schemas.openxmlformats.org/drawingml/2006/main" noGrp="1"/>
          </p:cNvSpPr>
          <p:nvPr/>
        </p:nvSpPr>
        <p:spPr>
          <a:xfrm xmlns:a="http://schemas.openxmlformats.org/drawingml/2006/main">
            <a:off x="7448550" y="2209800"/>
            <a:ext cx="3886200" cy="2552700"/>
          </a:xfrm>
          <a:prstGeom xmlns:a="http://schemas.openxmlformats.org/drawingml/2006/main" prst="roundRect">
            <a:avLst>
              <a:gd name="adj" fmla="val 2985"/>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33" name="v16-s8-question-top">
            <a:extLst xmlns:a="http://schemas.openxmlformats.org/drawingml/2006/main">
              <a:ext uri="{FF2B5EF4-FFF2-40B4-BE49-F238E27FC236}">
                <a16:creationId xmlns:a16="http://schemas.microsoft.com/office/drawing/2014/main" id="{7CAF4D15-5DFC-45B0-AADC-557FFFF990F8}"/>
              </a:ext>
            </a:extLst>
          </p:cNvPr>
          <p:cNvSpPr>
            <a:spLocks xmlns:a="http://schemas.openxmlformats.org/drawingml/2006/main" noGrp="1"/>
          </p:cNvSpPr>
          <p:nvPr/>
        </p:nvSpPr>
        <p:spPr>
          <a:xfrm xmlns:a="http://schemas.openxmlformats.org/drawingml/2006/main">
            <a:off x="7448550" y="2209800"/>
            <a:ext cx="38862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txBody xmlns:a="http://schemas.openxmlformats.org/drawingml/2006/main">
          <a:bodyPr/>
          <a:p/>
        </p:txBody>
      </p:sp>
      <p:cxnSp>
        <p:nvCxnSpPr>
          <p:cNvPr id="77" name=""/>
          <p:cNvCxnSpPr>
            <a:stCxn xmlns:a="http://schemas.openxmlformats.org/drawingml/2006/main" id="20" idx="0"/>
            <a:endCxn xmlns:a="http://schemas.openxmlformats.org/drawingml/2006/main" id="32" idx="0"/>
          </p:cNvCxnSpPr>
          <p:nvPr/>
        </p:nvCxnSpPr>
        <p:spPr>
          <a:xfrm xmlns:a="http://schemas.openxmlformats.org/drawingml/2006/main">
            <a:off x="2114550" y="1981200"/>
            <a:ext cx="7277100" cy="228600"/>
          </a:xfrm>
          <a:prstGeom xmlns:a="http://schemas.openxmlformats.org/drawingml/2006/main" prst="bentConnector4">
            <a:avLst/>
          </a:prstGeom>
          <a:ln xmlns:a="http://schemas.openxmlformats.org/drawingml/2006/main" w="19050" cap="rnd">
            <a:solidFill>
              <a:srgbClr val="087A7A"/>
            </a:solidFill>
            <a:prstDash val="dash"/>
            <a:round/>
            <a:tailEnd type="arrow" w="sm" len="sm"/>
          </a:ln>
        </p:spPr>
      </p:cxnSp>
      <p:cxnSp>
        <p:nvCxnSpPr>
          <p:cNvPr id="78" name=""/>
          <p:cNvCxnSpPr>
            <a:stCxn xmlns:a="http://schemas.openxmlformats.org/drawingml/2006/main" id="26" idx="3"/>
            <a:endCxn xmlns:a="http://schemas.openxmlformats.org/drawingml/2006/main" id="32" idx="1"/>
          </p:cNvCxnSpPr>
          <p:nvPr/>
        </p:nvCxnSpPr>
        <p:spPr>
          <a:xfrm xmlns:a="http://schemas.openxmlformats.org/drawingml/2006/main">
            <a:off x="7181850" y="3486150"/>
            <a:ext cx="2667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sp>
        <p:nvSpPr>
          <p:cNvPr id="36" name="v16-s8-question-eyebrow">
            <a:extLst xmlns:a="http://schemas.openxmlformats.org/drawingml/2006/main">
              <a:ext uri="{FF2B5EF4-FFF2-40B4-BE49-F238E27FC236}">
                <a16:creationId xmlns:a16="http://schemas.microsoft.com/office/drawing/2014/main" id="{F2FDB7ED-CFF0-45FC-B09C-2BEF736D3115}"/>
              </a:ext>
            </a:extLst>
          </p:cNvPr>
          <p:cNvSpPr>
            <a:spLocks xmlns:a="http://schemas.openxmlformats.org/drawingml/2006/main" noGrp="1"/>
          </p:cNvSpPr>
          <p:nvPr/>
        </p:nvSpPr>
        <p:spPr>
          <a:xfrm xmlns:a="http://schemas.openxmlformats.org/drawingml/2006/main">
            <a:off x="7610475" y="2352675"/>
            <a:ext cx="35623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DISCOVERY QUESTION</a:t>
            </a:r>
          </a:p>
        </p:txBody>
      </p:sp>
      <p:sp>
        <p:nvSpPr>
          <p:cNvPr id="37" name="v16-s8-question-title">
            <a:extLst xmlns:a="http://schemas.openxmlformats.org/drawingml/2006/main">
              <a:ext uri="{FF2B5EF4-FFF2-40B4-BE49-F238E27FC236}">
                <a16:creationId xmlns:a16="http://schemas.microsoft.com/office/drawing/2014/main" id="{0E92E8F0-0367-4878-8852-00479F79581C}"/>
              </a:ext>
            </a:extLst>
          </p:cNvPr>
          <p:cNvSpPr>
            <a:spLocks xmlns:a="http://schemas.openxmlformats.org/drawingml/2006/main" noGrp="1"/>
          </p:cNvSpPr>
          <p:nvPr/>
        </p:nvSpPr>
        <p:spPr>
          <a:xfrm xmlns:a="http://schemas.openxmlformats.org/drawingml/2006/main">
            <a:off x="7610475" y="2571750"/>
            <a:ext cx="3562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WHEN DOES</a:t>
            </a:r>
          </a:p>
          <a:p xmlns:a="http://schemas.openxmlformats.org/drawingml/2006/main">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INTEGRATION WIN?</a:t>
            </a:r>
          </a:p>
        </p:txBody>
      </p:sp>
      <p:sp>
        <p:nvSpPr>
          <p:cNvPr id="38" name="v16-s8-question-body">
            <a:extLst xmlns:a="http://schemas.openxmlformats.org/drawingml/2006/main">
              <a:ext uri="{FF2B5EF4-FFF2-40B4-BE49-F238E27FC236}">
                <a16:creationId xmlns:a16="http://schemas.microsoft.com/office/drawing/2014/main" id="{36025B5E-AF0D-47A4-8F01-522853756323}"/>
              </a:ext>
            </a:extLst>
          </p:cNvPr>
          <p:cNvSpPr>
            <a:spLocks xmlns:a="http://schemas.openxmlformats.org/drawingml/2006/main" noGrp="1"/>
          </p:cNvSpPr>
          <p:nvPr/>
        </p:nvSpPr>
        <p:spPr>
          <a:xfrm xmlns:a="http://schemas.openxmlformats.org/drawingml/2006/main">
            <a:off x="7610475" y="3238500"/>
            <a:ext cx="35623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Target + owner</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Capacity + write cadence</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Recovery + physical NVM</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BOM / board-space delta</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Node + I/O + program path</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No target → stay in discovery</a:t>
            </a:r>
          </a:p>
        </p:txBody>
      </p:sp>
      <p:sp>
        <p:nvSpPr>
          <p:cNvPr id="39" name="v16-s8-ceiling">
            <a:extLst xmlns:a="http://schemas.openxmlformats.org/drawingml/2006/main">
              <a:ext uri="{FF2B5EF4-FFF2-40B4-BE49-F238E27FC236}">
                <a16:creationId xmlns:a16="http://schemas.microsoft.com/office/drawing/2014/main" id="{8752EA56-A323-4161-9D5E-636A6D859A57}"/>
              </a:ext>
            </a:extLst>
          </p:cNvPr>
          <p:cNvSpPr>
            <a:spLocks xmlns:a="http://schemas.openxmlformats.org/drawingml/2006/main" noGrp="1"/>
          </p:cNvSpPr>
          <p:nvPr/>
        </p:nvSpPr>
        <p:spPr>
          <a:xfrm xmlns:a="http://schemas.openxmlformats.org/drawingml/2006/main">
            <a:off x="514350" y="4953000"/>
            <a:ext cx="10820400" cy="685800"/>
          </a:xfrm>
          <a:prstGeom xmlns:a="http://schemas.openxmlformats.org/drawingml/2006/main" prst="roundRect">
            <a:avLst>
              <a:gd name="adj" fmla="val 11111"/>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0" name="v16-s8-ceiling-label">
            <a:extLst xmlns:a="http://schemas.openxmlformats.org/drawingml/2006/main">
              <a:ext uri="{FF2B5EF4-FFF2-40B4-BE49-F238E27FC236}">
                <a16:creationId xmlns:a16="http://schemas.microsoft.com/office/drawing/2014/main" id="{21C8B76E-F67D-4236-A1F5-F88A96365515}"/>
              </a:ext>
            </a:extLst>
          </p:cNvPr>
          <p:cNvSpPr>
            <a:spLocks xmlns:a="http://schemas.openxmlformats.org/drawingml/2006/main" noGrp="1"/>
          </p:cNvSpPr>
          <p:nvPr/>
        </p:nvSpPr>
        <p:spPr>
          <a:xfrm xmlns:a="http://schemas.openxmlformats.org/drawingml/2006/main">
            <a:off x="685800" y="5048250"/>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C78A4B"/>
                </a:solidFill>
                <a:latin typeface="Consolas"/>
                <a:ea typeface="Consolas"/>
                <a:cs typeface="Consolas"/>
              </a:defRPr>
            </a:pPr>
            <a:r>
              <a:rPr sz="920" b="1">
                <a:solidFill>
                  <a:srgbClr val="C78A4B"/>
                </a:solidFill>
                <a:latin typeface="Consolas"/>
                <a:ea typeface="Consolas"/>
                <a:cs typeface="Consolas"/>
              </a:rPr>
              <a:t>EVIDENCE CEILING</a:t>
            </a:r>
          </a:p>
        </p:txBody>
      </p:sp>
      <p:sp>
        <p:nvSpPr>
          <p:cNvPr id="41" name="v16-s8-ceiling-text">
            <a:extLst xmlns:a="http://schemas.openxmlformats.org/drawingml/2006/main">
              <a:ext uri="{FF2B5EF4-FFF2-40B4-BE49-F238E27FC236}">
                <a16:creationId xmlns:a16="http://schemas.microsoft.com/office/drawing/2014/main" id="{F0C3015E-8A20-48B0-BF9F-1DEF00347F16}"/>
              </a:ext>
            </a:extLst>
          </p:cNvPr>
          <p:cNvSpPr>
            <a:spLocks xmlns:a="http://schemas.openxmlformats.org/drawingml/2006/main" noGrp="1"/>
          </p:cNvSpPr>
          <p:nvPr/>
        </p:nvSpPr>
        <p:spPr>
          <a:xfrm xmlns:a="http://schemas.openxmlformats.org/drawingml/2006/main">
            <a:off x="685800" y="52292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20" b="1">
                <a:solidFill>
                  <a:srgbClr val="FFFFFF"/>
                </a:solidFill>
                <a:latin typeface="Arial"/>
                <a:ea typeface="Arial"/>
                <a:cs typeface="Arial"/>
              </a:defRPr>
            </a:pPr>
            <a:r>
              <a:rPr sz="1420" b="1">
                <a:solidFill>
                  <a:srgbClr val="FFFFFF"/>
                </a:solidFill>
                <a:latin typeface="Arial"/>
                <a:ea typeface="Arial"/>
                <a:cs typeface="Arial"/>
              </a:rPr>
              <a:t>Explicit persistent-state semantics open discovery; they do not prove MTP, embedded placement or supplier selection</a:t>
            </a:r>
          </a:p>
        </p:txBody>
      </p:sp>
      <p:sp>
        <p:nvSpPr>
          <p:cNvPr id="42" name="v16-s8-status">
            <a:extLst xmlns:a="http://schemas.openxmlformats.org/drawingml/2006/main">
              <a:ext uri="{FF2B5EF4-FFF2-40B4-BE49-F238E27FC236}">
                <a16:creationId xmlns:a16="http://schemas.microsoft.com/office/drawing/2014/main" id="{542A281D-9C48-4DC2-A102-9EC6A9CF3EB2}"/>
              </a:ext>
            </a:extLst>
          </p:cNvPr>
          <p:cNvSpPr>
            <a:spLocks xmlns:a="http://schemas.openxmlformats.org/drawingml/2006/main" noGrp="1"/>
          </p:cNvSpPr>
          <p:nvPr/>
        </p:nvSpPr>
        <p:spPr>
          <a:xfrm xmlns:a="http://schemas.openxmlformats.org/drawingml/2006/main">
            <a:off x="9525000" y="5810250"/>
            <a:ext cx="1809750" cy="285750"/>
          </a:xfrm>
          <a:prstGeom xmlns:a="http://schemas.openxmlformats.org/drawingml/2006/main" prst="roundRect">
            <a:avLst>
              <a:gd name="adj" fmla="val 50000"/>
            </a:avLst>
          </a:prstGeom>
          <a:solidFill xmlns:a="http://schemas.openxmlformats.org/drawingml/2006/main">
            <a:srgbClr val="F7EFE6"/>
          </a:solidFill>
          <a:ln xmlns:a="http://schemas.openxmlformats.org/drawingml/2006/main" w="0">
            <a:noFill/>
            <a:prstDash val="solid"/>
          </a:ln>
        </p:spPr>
        <p:txBody xmlns:a="http://schemas.openxmlformats.org/drawingml/2006/main">
          <a:bodyPr/>
          <a:p/>
        </p:txBody>
      </p:sp>
      <p:sp>
        <p:nvSpPr>
          <p:cNvPr id="43" name="v16-s8-status-text">
            <a:extLst xmlns:a="http://schemas.openxmlformats.org/drawingml/2006/main">
              <a:ext uri="{FF2B5EF4-FFF2-40B4-BE49-F238E27FC236}">
                <a16:creationId xmlns:a16="http://schemas.microsoft.com/office/drawing/2014/main" id="{FA0933D0-A1C2-4924-89D8-42248F1F0E7E}"/>
              </a:ext>
            </a:extLst>
          </p:cNvPr>
          <p:cNvSpPr>
            <a:spLocks xmlns:a="http://schemas.openxmlformats.org/drawingml/2006/main" noGrp="1"/>
          </p:cNvSpPr>
          <p:nvPr/>
        </p:nvSpPr>
        <p:spPr>
          <a:xfrm xmlns:a="http://schemas.openxmlformats.org/drawingml/2006/main">
            <a:off x="9620250" y="58769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8A521E"/>
                </a:solidFill>
                <a:latin typeface="Consolas"/>
                <a:ea typeface="Consolas"/>
                <a:cs typeface="Consolas"/>
              </a:defRPr>
            </a:pPr>
            <a:r>
              <a:rPr sz="930" b="1">
                <a:solidFill>
                  <a:srgbClr val="8A521E"/>
                </a:solidFill>
                <a:latin typeface="Consolas"/>
                <a:ea typeface="Consolas"/>
                <a:cs typeface="Consolas"/>
              </a:rPr>
              <a:t>DISCOVER FIRST</a:t>
            </a:r>
          </a:p>
        </p:txBody>
      </p:sp>
    </p:spTree>
    <p:extLst>
      <p:ext uri="{BB962C8B-B14F-4D97-AF65-F5344CB8AC3E}">
        <p14:creationId xmlns:p14="http://schemas.microsoft.com/office/powerpoint/2010/main" val="479162580"/>
      </p:ext>
    </p:extLst>
  </p:cSld>
</p:sld>
</file>

<file path=ppt/slides/slide12.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56" name="v16-bg-9">
            <a:extLst xmlns:a="http://schemas.openxmlformats.org/drawingml/2006/main">
              <a:ext uri="{FF2B5EF4-FFF2-40B4-BE49-F238E27FC236}">
                <a16:creationId xmlns:a16="http://schemas.microsoft.com/office/drawing/2014/main" id="{27CB1AED-4219-4EED-9A9F-20674B78E6C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9">
            <a:extLst xmlns:a="http://schemas.openxmlformats.org/drawingml/2006/main">
              <a:ext uri="{FF2B5EF4-FFF2-40B4-BE49-F238E27FC236}">
                <a16:creationId xmlns:a16="http://schemas.microsoft.com/office/drawing/2014/main" id="{84D4861A-D3F0-445D-AEFA-F5FDDC412524}"/>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9">
            <a:extLst xmlns:a="http://schemas.openxmlformats.org/drawingml/2006/main">
              <a:ext uri="{FF2B5EF4-FFF2-40B4-BE49-F238E27FC236}">
                <a16:creationId xmlns:a16="http://schemas.microsoft.com/office/drawing/2014/main" id="{09BF635E-99FA-425B-90ED-B9279A0578BC}"/>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rPr>
              <a:t>11 · LEADERSHIP CLOSE</a:t>
            </a:r>
          </a:p>
        </p:txBody>
      </p:sp>
      <p:sp>
        <p:nvSpPr>
          <p:cNvPr id="4" name="v16-title-9">
            <a:extLst xmlns:a="http://schemas.openxmlformats.org/drawingml/2006/main">
              <a:ext uri="{FF2B5EF4-FFF2-40B4-BE49-F238E27FC236}">
                <a16:creationId xmlns:a16="http://schemas.microsoft.com/office/drawing/2014/main" id="{527E4AAA-9B6A-44FB-A460-A82B8510E59A}"/>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2700" b="1">
                <a:solidFill>
                  <a:srgbClr val="0A2434"/>
                </a:solidFill>
                <a:latin typeface="Arial"/>
                <a:ea typeface="Arial"/>
                <a:cs typeface="Arial"/>
              </a:defRPr>
            </a:pPr>
            <a:r>
              <a:rPr sz="3000" b="1">
                <a:solidFill>
                  <a:srgbClr val="0A2434"/>
                </a:solidFill>
                <a:latin typeface="Arial"/>
              </a:rPr>
              <a:t>Decision Requested: Authorize Five</a:t>
            </a:r>
          </a:p>
          <a:p xmlns:a="http://schemas.openxmlformats.org/drawingml/2006/main">
            <a:pPr>
              <a:spcBef>
                <a:spcPts val="0"/>
              </a:spcBef>
              <a:spcAft>
                <a:spcPts val="200"/>
              </a:spcAft>
            </a:pPr>
            <a:r>
              <a:rPr sz="3000" b="1">
                <a:solidFill>
                  <a:srgbClr val="0A2434"/>
                </a:solidFill>
                <a:latin typeface="Arial"/>
              </a:rPr>
              <a:t>Target-Bound Qualification Briefs</a:t>
            </a:r>
          </a:p>
        </p:txBody>
      </p:sp>
      <p:sp>
        <p:nvSpPr>
          <p:cNvPr id="5" name="v16-subtitle-9">
            <a:extLst xmlns:a="http://schemas.openxmlformats.org/drawingml/2006/main">
              <a:ext uri="{FF2B5EF4-FFF2-40B4-BE49-F238E27FC236}">
                <a16:creationId xmlns:a16="http://schemas.microsoft.com/office/drawing/2014/main" id="{98E601FC-A64F-4C72-A210-B088B31417F3}"/>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Each brief returns with a state contract and a Synopsys product-fit conclusion</a:t>
            </a:r>
          </a:p>
        </p:txBody>
      </p:sp>
      <p:sp>
        <p:nvSpPr>
          <p:cNvPr id="6" name="motif-line-0">
            <a:extLst xmlns:a="http://schemas.openxmlformats.org/drawingml/2006/main">
              <a:ext uri="{FF2B5EF4-FFF2-40B4-BE49-F238E27FC236}">
                <a16:creationId xmlns:a16="http://schemas.microsoft.com/office/drawing/2014/main" id="{CFED7B9D-7CC2-48E9-9FCE-D98842708CB6}"/>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315F2286-0BCC-41CC-BDE2-1D54D42E12B3}"/>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C78B68AD-F4D1-4BF0-8FB2-30690EBA1FCD}"/>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9CC4B8D9-2DC0-4353-93EE-D73C158972BB}"/>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696C8E5B-E475-4335-BA43-50C3412C5EE5}"/>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399E361E-17C1-424B-9217-B663D61875AA}"/>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3ABF1A79-D94C-4C00-BD56-08F7358E4B31}"/>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7BD76DF7-1B57-4C8D-9449-2E2D60A81F6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8982791B-C04F-45FD-A49D-B85A036D68B6}"/>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4D12861B-4956-4C84-8797-42E3A60DC72F}"/>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9">
            <a:extLst xmlns:a="http://schemas.openxmlformats.org/drawingml/2006/main">
              <a:ext uri="{FF2B5EF4-FFF2-40B4-BE49-F238E27FC236}">
                <a16:creationId xmlns:a16="http://schemas.microsoft.com/office/drawing/2014/main" id="{DB2724EB-38BF-4416-BF90-1E09A21B75CF}"/>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9">
            <a:extLst xmlns:a="http://schemas.openxmlformats.org/drawingml/2006/main">
              <a:ext uri="{FF2B5EF4-FFF2-40B4-BE49-F238E27FC236}">
                <a16:creationId xmlns:a16="http://schemas.microsoft.com/office/drawing/2014/main" id="{9FD5F6D1-3A5C-4F19-93EE-03CAFE1061E8}"/>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9">
            <a:extLst xmlns:a="http://schemas.openxmlformats.org/drawingml/2006/main">
              <a:ext uri="{FF2B5EF4-FFF2-40B4-BE49-F238E27FC236}">
                <a16:creationId xmlns:a16="http://schemas.microsoft.com/office/drawing/2014/main" id="{F1C2E3AA-07FE-4756-9C65-2091F5E76EFE}"/>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12</a:t>
            </a:r>
          </a:p>
        </p:txBody>
      </p:sp>
      <p:sp>
        <p:nvSpPr>
          <p:cNvPr id="19" name="v16-s9-ask-01-shadow">
            <a:extLst xmlns:a="http://schemas.openxmlformats.org/drawingml/2006/main">
              <a:ext uri="{FF2B5EF4-FFF2-40B4-BE49-F238E27FC236}">
                <a16:creationId xmlns:a16="http://schemas.microsoft.com/office/drawing/2014/main" id="{5CD5CF59-57BD-477F-991C-045DB8DED7BC}"/>
              </a:ext>
            </a:extLst>
          </p:cNvPr>
          <p:cNvSpPr>
            <a:spLocks xmlns:a="http://schemas.openxmlformats.org/drawingml/2006/main" noGrp="1"/>
          </p:cNvSpPr>
          <p:nvPr/>
        </p:nvSpPr>
        <p:spPr>
          <a:xfrm xmlns:a="http://schemas.openxmlformats.org/drawingml/2006/main">
            <a:off x="542925" y="2162175"/>
            <a:ext cx="4743450" cy="876300"/>
          </a:xfrm>
          <a:prstGeom xmlns:a="http://schemas.openxmlformats.org/drawingml/2006/main" prst="roundRect">
            <a:avLst>
              <a:gd name="adj" fmla="val 978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9-ask-01">
            <a:extLst xmlns:a="http://schemas.openxmlformats.org/drawingml/2006/main">
              <a:ext uri="{FF2B5EF4-FFF2-40B4-BE49-F238E27FC236}">
                <a16:creationId xmlns:a16="http://schemas.microsoft.com/office/drawing/2014/main" id="{D781F554-87F6-403E-BE30-7EC7CC3E57BF}"/>
              </a:ext>
            </a:extLst>
          </p:cNvPr>
          <p:cNvSpPr>
            <a:spLocks xmlns:a="http://schemas.openxmlformats.org/drawingml/2006/main" noGrp="1"/>
          </p:cNvSpPr>
          <p:nvPr/>
        </p:nvSpPr>
        <p:spPr>
          <a:xfrm xmlns:a="http://schemas.openxmlformats.org/drawingml/2006/main">
            <a:off x="514350" y="2114550"/>
            <a:ext cx="4743450" cy="876300"/>
          </a:xfrm>
          <a:prstGeom xmlns:a="http://schemas.openxmlformats.org/drawingml/2006/main" prst="roundRect">
            <a:avLst>
              <a:gd name="adj" fmla="val 978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1" name="v16-s9-ask-01-accent">
            <a:extLst xmlns:a="http://schemas.openxmlformats.org/drawingml/2006/main">
              <a:ext uri="{FF2B5EF4-FFF2-40B4-BE49-F238E27FC236}">
                <a16:creationId xmlns:a16="http://schemas.microsoft.com/office/drawing/2014/main" id="{C9C3ADB1-B292-4D82-9FD4-D6BAF18A29FE}"/>
              </a:ext>
            </a:extLst>
          </p:cNvPr>
          <p:cNvSpPr>
            <a:spLocks xmlns:a="http://schemas.openxmlformats.org/drawingml/2006/main" noGrp="1"/>
          </p:cNvSpPr>
          <p:nvPr/>
        </p:nvSpPr>
        <p:spPr>
          <a:xfrm xmlns:a="http://schemas.openxmlformats.org/drawingml/2006/main">
            <a:off x="514350" y="2114550"/>
            <a:ext cx="66675" cy="87630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2" name="v16-s9-num-01">
            <a:extLst xmlns:a="http://schemas.openxmlformats.org/drawingml/2006/main">
              <a:ext uri="{FF2B5EF4-FFF2-40B4-BE49-F238E27FC236}">
                <a16:creationId xmlns:a16="http://schemas.microsoft.com/office/drawing/2014/main" id="{BFE1B3F4-ECC7-4554-BA57-D6CE85ED18DB}"/>
              </a:ext>
            </a:extLst>
          </p:cNvPr>
          <p:cNvSpPr>
            <a:spLocks xmlns:a="http://schemas.openxmlformats.org/drawingml/2006/main" noGrp="1"/>
          </p:cNvSpPr>
          <p:nvPr/>
        </p:nvSpPr>
        <p:spPr>
          <a:xfrm xmlns:a="http://schemas.openxmlformats.org/drawingml/2006/main">
            <a:off x="723900" y="22860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00" b="1">
                <a:solidFill>
                  <a:srgbClr val="176B5C"/>
                </a:solidFill>
                <a:latin typeface="Consolas"/>
                <a:ea typeface="Consolas"/>
                <a:cs typeface="Consolas"/>
              </a:defRPr>
            </a:pPr>
            <a:r>
              <a:rPr sz="1200" b="1">
                <a:solidFill>
                  <a:srgbClr val="176B5C"/>
                </a:solidFill>
                <a:latin typeface="Consolas"/>
                <a:ea typeface="Consolas"/>
                <a:cs typeface="Consolas"/>
              </a:rPr>
              <a:t>01</a:t>
            </a:r>
          </a:p>
        </p:txBody>
      </p:sp>
      <p:sp>
        <p:nvSpPr>
          <p:cNvPr id="23" name="v16-s9-title-01">
            <a:extLst xmlns:a="http://schemas.openxmlformats.org/drawingml/2006/main">
              <a:ext uri="{FF2B5EF4-FFF2-40B4-BE49-F238E27FC236}">
                <a16:creationId xmlns:a16="http://schemas.microsoft.com/office/drawing/2014/main" id="{D1932D28-AD42-4BBC-9F70-10F7A9D5E67B}"/>
              </a:ext>
            </a:extLst>
          </p:cNvPr>
          <p:cNvSpPr>
            <a:spLocks xmlns:a="http://schemas.openxmlformats.org/drawingml/2006/main" noGrp="1"/>
          </p:cNvSpPr>
          <p:nvPr/>
        </p:nvSpPr>
        <p:spPr>
          <a:xfrm xmlns:a="http://schemas.openxmlformats.org/drawingml/2006/main">
            <a:off x="1295400" y="22574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0A2434"/>
                </a:solidFill>
                <a:latin typeface="Arial"/>
                <a:ea typeface="Arial"/>
                <a:cs typeface="Arial"/>
              </a:defRPr>
            </a:pPr>
            <a:r>
              <a:rPr sz="1400" b="1">
                <a:solidFill>
                  <a:srgbClr val="0A2434"/>
                </a:solidFill>
                <a:latin typeface="Arial"/>
              </a:rPr>
              <a:t>01 · DDR5 SUBSYSTEM</a:t>
            </a:r>
          </a:p>
        </p:txBody>
      </p:sp>
      <p:sp>
        <p:nvSpPr>
          <p:cNvPr id="24" name="v16-s9-body-01">
            <a:extLst xmlns:a="http://schemas.openxmlformats.org/drawingml/2006/main">
              <a:ext uri="{FF2B5EF4-FFF2-40B4-BE49-F238E27FC236}">
                <a16:creationId xmlns:a16="http://schemas.microsoft.com/office/drawing/2014/main" id="{E1CAC7C9-9DAE-4872-BF46-8BF4FEE2F2FB}"/>
              </a:ext>
            </a:extLst>
          </p:cNvPr>
          <p:cNvSpPr>
            <a:spLocks xmlns:a="http://schemas.openxmlformats.org/drawingml/2006/main" noGrp="1"/>
          </p:cNvSpPr>
          <p:nvPr/>
        </p:nvSpPr>
        <p:spPr>
          <a:xfrm xmlns:a="http://schemas.openxmlformats.org/drawingml/2006/main">
            <a:off x="1295400" y="2571750"/>
            <a:ext cx="3638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0">
                <a:solidFill>
                  <a:srgbClr val="385365"/>
                </a:solidFill>
                <a:latin typeface="Arial"/>
                <a:ea typeface="Arial"/>
                <a:cs typeface="Arial"/>
              </a:defRPr>
            </a:pPr>
            <a:r>
              <a:rPr sz="1150" b="0">
                <a:solidFill>
                  <a:srgbClr val="385365"/>
                </a:solidFill>
                <a:latin typeface="Arial"/>
              </a:rPr>
              <a:t>PMIC MTP sequencing + SPD Hub protected blocks</a:t>
            </a:r>
          </a:p>
        </p:txBody>
      </p:sp>
      <p:sp>
        <p:nvSpPr>
          <p:cNvPr id="25" name="v16-s9-ask-02-shadow">
            <a:extLst xmlns:a="http://schemas.openxmlformats.org/drawingml/2006/main">
              <a:ext uri="{FF2B5EF4-FFF2-40B4-BE49-F238E27FC236}">
                <a16:creationId xmlns:a16="http://schemas.microsoft.com/office/drawing/2014/main" id="{E08073E0-CC8E-47FB-8451-821C4C3FB97F}"/>
              </a:ext>
            </a:extLst>
          </p:cNvPr>
          <p:cNvSpPr>
            <a:spLocks xmlns:a="http://schemas.openxmlformats.org/drawingml/2006/main" noGrp="1"/>
          </p:cNvSpPr>
          <p:nvPr/>
        </p:nvSpPr>
        <p:spPr>
          <a:xfrm xmlns:a="http://schemas.openxmlformats.org/drawingml/2006/main">
            <a:off x="542925" y="3248025"/>
            <a:ext cx="4743450" cy="876300"/>
          </a:xfrm>
          <a:prstGeom xmlns:a="http://schemas.openxmlformats.org/drawingml/2006/main" prst="roundRect">
            <a:avLst>
              <a:gd name="adj" fmla="val 978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9-ask-02">
            <a:extLst xmlns:a="http://schemas.openxmlformats.org/drawingml/2006/main">
              <a:ext uri="{FF2B5EF4-FFF2-40B4-BE49-F238E27FC236}">
                <a16:creationId xmlns:a16="http://schemas.microsoft.com/office/drawing/2014/main" id="{332CCB96-B297-4E4E-B15A-2D95EADCD956}"/>
              </a:ext>
            </a:extLst>
          </p:cNvPr>
          <p:cNvSpPr>
            <a:spLocks xmlns:a="http://schemas.openxmlformats.org/drawingml/2006/main" noGrp="1"/>
          </p:cNvSpPr>
          <p:nvPr/>
        </p:nvSpPr>
        <p:spPr>
          <a:xfrm xmlns:a="http://schemas.openxmlformats.org/drawingml/2006/main">
            <a:off x="514350" y="3200400"/>
            <a:ext cx="4743450" cy="876300"/>
          </a:xfrm>
          <a:prstGeom xmlns:a="http://schemas.openxmlformats.org/drawingml/2006/main" prst="roundRect">
            <a:avLst>
              <a:gd name="adj" fmla="val 978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7" name="v16-s9-ask-02-accent">
            <a:extLst xmlns:a="http://schemas.openxmlformats.org/drawingml/2006/main">
              <a:ext uri="{FF2B5EF4-FFF2-40B4-BE49-F238E27FC236}">
                <a16:creationId xmlns:a16="http://schemas.microsoft.com/office/drawing/2014/main" id="{EDA8D895-3551-4EA5-BCD1-BFD536F1139E}"/>
              </a:ext>
            </a:extLst>
          </p:cNvPr>
          <p:cNvSpPr>
            <a:spLocks xmlns:a="http://schemas.openxmlformats.org/drawingml/2006/main" noGrp="1"/>
          </p:cNvSpPr>
          <p:nvPr/>
        </p:nvSpPr>
        <p:spPr>
          <a:xfrm xmlns:a="http://schemas.openxmlformats.org/drawingml/2006/main">
            <a:off x="514350" y="3200400"/>
            <a:ext cx="66675" cy="87630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8" name="v16-s9-num-02">
            <a:extLst xmlns:a="http://schemas.openxmlformats.org/drawingml/2006/main">
              <a:ext uri="{FF2B5EF4-FFF2-40B4-BE49-F238E27FC236}">
                <a16:creationId xmlns:a16="http://schemas.microsoft.com/office/drawing/2014/main" id="{DAD3A2DE-7828-4AD4-9218-330B98766A53}"/>
              </a:ext>
            </a:extLst>
          </p:cNvPr>
          <p:cNvSpPr>
            <a:spLocks xmlns:a="http://schemas.openxmlformats.org/drawingml/2006/main" noGrp="1"/>
          </p:cNvSpPr>
          <p:nvPr/>
        </p:nvSpPr>
        <p:spPr>
          <a:xfrm xmlns:a="http://schemas.openxmlformats.org/drawingml/2006/main">
            <a:off x="723900" y="337185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00" b="1">
                <a:solidFill>
                  <a:srgbClr val="176B5C"/>
                </a:solidFill>
                <a:latin typeface="Consolas"/>
                <a:ea typeface="Consolas"/>
                <a:cs typeface="Consolas"/>
              </a:defRPr>
            </a:pPr>
            <a:r>
              <a:rPr sz="1200" b="1">
                <a:solidFill>
                  <a:srgbClr val="176B5C"/>
                </a:solidFill>
                <a:latin typeface="Consolas"/>
                <a:ea typeface="Consolas"/>
                <a:cs typeface="Consolas"/>
              </a:rPr>
              <a:t>02</a:t>
            </a:r>
          </a:p>
        </p:txBody>
      </p:sp>
      <p:sp>
        <p:nvSpPr>
          <p:cNvPr id="29" name="v16-s9-title-02">
            <a:extLst xmlns:a="http://schemas.openxmlformats.org/drawingml/2006/main">
              <a:ext uri="{FF2B5EF4-FFF2-40B4-BE49-F238E27FC236}">
                <a16:creationId xmlns:a16="http://schemas.microsoft.com/office/drawing/2014/main" id="{A85340C4-3847-40F4-A571-7EAA5337EF13}"/>
              </a:ext>
            </a:extLst>
          </p:cNvPr>
          <p:cNvSpPr>
            <a:spLocks xmlns:a="http://schemas.openxmlformats.org/drawingml/2006/main" noGrp="1"/>
          </p:cNvSpPr>
          <p:nvPr/>
        </p:nvSpPr>
        <p:spPr>
          <a:xfrm xmlns:a="http://schemas.openxmlformats.org/drawingml/2006/main">
            <a:off x="1295400" y="334327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0A2434"/>
                </a:solidFill>
                <a:latin typeface="Arial"/>
                <a:ea typeface="Arial"/>
                <a:cs typeface="Arial"/>
              </a:defRPr>
            </a:pPr>
            <a:r>
              <a:rPr sz="1400" b="1">
                <a:solidFill>
                  <a:srgbClr val="0A2434"/>
                </a:solidFill>
                <a:latin typeface="Arial"/>
              </a:rPr>
              <a:t>02 · AI POWER &amp; TSMC IOT</a:t>
            </a:r>
          </a:p>
        </p:txBody>
      </p:sp>
      <p:sp>
        <p:nvSpPr>
          <p:cNvPr id="30" name="v16-s9-body-02">
            <a:extLst xmlns:a="http://schemas.openxmlformats.org/drawingml/2006/main">
              <a:ext uri="{FF2B5EF4-FFF2-40B4-BE49-F238E27FC236}">
                <a16:creationId xmlns:a16="http://schemas.microsoft.com/office/drawing/2014/main" id="{E91177F3-8550-4F4F-9347-22C5544323E3}"/>
              </a:ext>
            </a:extLst>
          </p:cNvPr>
          <p:cNvSpPr>
            <a:spLocks xmlns:a="http://schemas.openxmlformats.org/drawingml/2006/main" noGrp="1"/>
          </p:cNvSpPr>
          <p:nvPr/>
        </p:nvSpPr>
        <p:spPr>
          <a:xfrm xmlns:a="http://schemas.openxmlformats.org/drawingml/2006/main">
            <a:off x="1295400" y="3657600"/>
            <a:ext cx="3638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0">
                <a:solidFill>
                  <a:srgbClr val="385365"/>
                </a:solidFill>
                <a:latin typeface="Arial"/>
                <a:ea typeface="Arial"/>
                <a:cs typeface="Arial"/>
              </a:defRPr>
            </a:pPr>
            <a:r>
              <a:rPr sz="1150" b="0">
                <a:solidFill>
                  <a:srgbClr val="385365"/>
                </a:solidFill>
                <a:latin typeface="Arial"/>
              </a:rPr>
              <a:t>VR per-phase trim + 22ULL-N4e OTP code core</a:t>
            </a:r>
          </a:p>
        </p:txBody>
      </p:sp>
      <p:sp>
        <p:nvSpPr>
          <p:cNvPr id="31" name="v16-s9-ask-03-shadow">
            <a:extLst xmlns:a="http://schemas.openxmlformats.org/drawingml/2006/main">
              <a:ext uri="{FF2B5EF4-FFF2-40B4-BE49-F238E27FC236}">
                <a16:creationId xmlns:a16="http://schemas.microsoft.com/office/drawing/2014/main" id="{98DE1410-E3B1-47EE-A46A-994D21140623}"/>
              </a:ext>
            </a:extLst>
          </p:cNvPr>
          <p:cNvSpPr>
            <a:spLocks xmlns:a="http://schemas.openxmlformats.org/drawingml/2006/main" noGrp="1"/>
          </p:cNvSpPr>
          <p:nvPr/>
        </p:nvSpPr>
        <p:spPr>
          <a:xfrm xmlns:a="http://schemas.openxmlformats.org/drawingml/2006/main">
            <a:off x="542925" y="4333875"/>
            <a:ext cx="4743450" cy="876300"/>
          </a:xfrm>
          <a:prstGeom xmlns:a="http://schemas.openxmlformats.org/drawingml/2006/main" prst="roundRect">
            <a:avLst>
              <a:gd name="adj" fmla="val 978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9-ask-03">
            <a:extLst xmlns:a="http://schemas.openxmlformats.org/drawingml/2006/main">
              <a:ext uri="{FF2B5EF4-FFF2-40B4-BE49-F238E27FC236}">
                <a16:creationId xmlns:a16="http://schemas.microsoft.com/office/drawing/2014/main" id="{DEED68DE-7CFF-455D-97AB-680E3447691F}"/>
              </a:ext>
            </a:extLst>
          </p:cNvPr>
          <p:cNvSpPr>
            <a:spLocks xmlns:a="http://schemas.openxmlformats.org/drawingml/2006/main" noGrp="1"/>
          </p:cNvSpPr>
          <p:nvPr/>
        </p:nvSpPr>
        <p:spPr>
          <a:xfrm xmlns:a="http://schemas.openxmlformats.org/drawingml/2006/main">
            <a:off x="514350" y="4286250"/>
            <a:ext cx="4743450" cy="876300"/>
          </a:xfrm>
          <a:prstGeom xmlns:a="http://schemas.openxmlformats.org/drawingml/2006/main" prst="roundRect">
            <a:avLst>
              <a:gd name="adj" fmla="val 9783"/>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33" name="v16-s9-ask-03-accent">
            <a:extLst xmlns:a="http://schemas.openxmlformats.org/drawingml/2006/main">
              <a:ext uri="{FF2B5EF4-FFF2-40B4-BE49-F238E27FC236}">
                <a16:creationId xmlns:a16="http://schemas.microsoft.com/office/drawing/2014/main" id="{5DB45B4D-877B-4327-8FA9-C488597088A3}"/>
              </a:ext>
            </a:extLst>
          </p:cNvPr>
          <p:cNvSpPr>
            <a:spLocks xmlns:a="http://schemas.openxmlformats.org/drawingml/2006/main" noGrp="1"/>
          </p:cNvSpPr>
          <p:nvPr/>
        </p:nvSpPr>
        <p:spPr>
          <a:xfrm xmlns:a="http://schemas.openxmlformats.org/drawingml/2006/main">
            <a:off x="514350" y="4286250"/>
            <a:ext cx="66675" cy="876300"/>
          </a:xfrm>
          <a:prstGeom xmlns:a="http://schemas.openxmlformats.org/drawingml/2006/main" prst="roundRect">
            <a:avLst>
              <a:gd name="adj" fmla="val 42857"/>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34" name="v16-s9-num-03">
            <a:extLst xmlns:a="http://schemas.openxmlformats.org/drawingml/2006/main">
              <a:ext uri="{FF2B5EF4-FFF2-40B4-BE49-F238E27FC236}">
                <a16:creationId xmlns:a16="http://schemas.microsoft.com/office/drawing/2014/main" id="{AE0BC793-F61A-4C96-B64C-F52439E3AEFD}"/>
              </a:ext>
            </a:extLst>
          </p:cNvPr>
          <p:cNvSpPr>
            <a:spLocks xmlns:a="http://schemas.openxmlformats.org/drawingml/2006/main" noGrp="1"/>
          </p:cNvSpPr>
          <p:nvPr/>
        </p:nvSpPr>
        <p:spPr>
          <a:xfrm xmlns:a="http://schemas.openxmlformats.org/drawingml/2006/main">
            <a:off x="723900" y="44577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00" b="1">
                <a:solidFill>
                  <a:srgbClr val="087A7A"/>
                </a:solidFill>
                <a:latin typeface="Consolas"/>
                <a:ea typeface="Consolas"/>
                <a:cs typeface="Consolas"/>
              </a:defRPr>
            </a:pPr>
            <a:r>
              <a:rPr sz="1200" b="1">
                <a:solidFill>
                  <a:srgbClr val="087A7A"/>
                </a:solidFill>
                <a:latin typeface="Consolas"/>
                <a:ea typeface="Consolas"/>
                <a:cs typeface="Consolas"/>
              </a:rPr>
              <a:t>03</a:t>
            </a:r>
          </a:p>
        </p:txBody>
      </p:sp>
      <p:sp>
        <p:nvSpPr>
          <p:cNvPr id="35" name="v16-s9-title-03">
            <a:extLst xmlns:a="http://schemas.openxmlformats.org/drawingml/2006/main">
              <a:ext uri="{FF2B5EF4-FFF2-40B4-BE49-F238E27FC236}">
                <a16:creationId xmlns:a16="http://schemas.microsoft.com/office/drawing/2014/main" id="{D7064FBC-8C21-4AC2-A712-E1CD413D3D8F}"/>
              </a:ext>
            </a:extLst>
          </p:cNvPr>
          <p:cNvSpPr>
            <a:spLocks xmlns:a="http://schemas.openxmlformats.org/drawingml/2006/main" noGrp="1"/>
          </p:cNvSpPr>
          <p:nvPr/>
        </p:nvSpPr>
        <p:spPr>
          <a:xfrm xmlns:a="http://schemas.openxmlformats.org/drawingml/2006/main">
            <a:off x="1295400" y="44291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0A2434"/>
                </a:solidFill>
                <a:latin typeface="Arial"/>
                <a:ea typeface="Arial"/>
                <a:cs typeface="Arial"/>
              </a:defRPr>
            </a:pPr>
            <a:r>
              <a:rPr sz="1400" b="1">
                <a:solidFill>
                  <a:srgbClr val="0A2434"/>
                </a:solidFill>
                <a:latin typeface="Arial"/>
              </a:rPr>
              <a:t>03 · TRUST &amp; 3D CHIPLETS</a:t>
            </a:r>
          </a:p>
        </p:txBody>
      </p:sp>
      <p:sp>
        <p:nvSpPr>
          <p:cNvPr id="36" name="v16-s9-body-03">
            <a:extLst xmlns:a="http://schemas.openxmlformats.org/drawingml/2006/main">
              <a:ext uri="{FF2B5EF4-FFF2-40B4-BE49-F238E27FC236}">
                <a16:creationId xmlns:a16="http://schemas.microsoft.com/office/drawing/2014/main" id="{80C2D48E-B527-42B6-87B4-7D972D46C0A0}"/>
              </a:ext>
            </a:extLst>
          </p:cNvPr>
          <p:cNvSpPr>
            <a:spLocks xmlns:a="http://schemas.openxmlformats.org/drawingml/2006/main" noGrp="1"/>
          </p:cNvSpPr>
          <p:nvPr/>
        </p:nvSpPr>
        <p:spPr>
          <a:xfrm xmlns:a="http://schemas.openxmlformats.org/drawingml/2006/main">
            <a:off x="1295400" y="4743450"/>
            <a:ext cx="3638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0">
                <a:solidFill>
                  <a:srgbClr val="385365"/>
                </a:solidFill>
                <a:latin typeface="Arial"/>
                <a:ea typeface="Arial"/>
                <a:cs typeface="Arial"/>
              </a:defRPr>
            </a:pPr>
            <a:r>
              <a:rPr sz="1150" b="0">
                <a:solidFill>
                  <a:srgbClr val="385365"/>
                </a:solidFill>
                <a:latin typeface="Arial"/>
              </a:rPr>
              <a:t>Caliptra RoT + UCIe 3D SoIC on-die KGD attestation</a:t>
            </a:r>
          </a:p>
        </p:txBody>
      </p:sp>
      <p:sp>
        <p:nvSpPr>
          <p:cNvPr id="37" name="v16-s9-brief-shadow">
            <a:extLst xmlns:a="http://schemas.openxmlformats.org/drawingml/2006/main">
              <a:ext uri="{FF2B5EF4-FFF2-40B4-BE49-F238E27FC236}">
                <a16:creationId xmlns:a16="http://schemas.microsoft.com/office/drawing/2014/main" id="{EDDCD1A1-FC08-45A9-A86E-645FA2FBC280}"/>
              </a:ext>
            </a:extLst>
          </p:cNvPr>
          <p:cNvSpPr>
            <a:spLocks xmlns:a="http://schemas.openxmlformats.org/drawingml/2006/main" noGrp="1"/>
          </p:cNvSpPr>
          <p:nvPr/>
        </p:nvSpPr>
        <p:spPr>
          <a:xfrm xmlns:a="http://schemas.openxmlformats.org/drawingml/2006/main">
            <a:off x="5915025" y="2162175"/>
            <a:ext cx="5448300" cy="3048000"/>
          </a:xfrm>
          <a:prstGeom xmlns:a="http://schemas.openxmlformats.org/drawingml/2006/main" prst="roundRect">
            <a:avLst>
              <a:gd name="adj" fmla="val 281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8" name="v16-s9-brief">
            <a:extLst xmlns:a="http://schemas.openxmlformats.org/drawingml/2006/main">
              <a:ext uri="{FF2B5EF4-FFF2-40B4-BE49-F238E27FC236}">
                <a16:creationId xmlns:a16="http://schemas.microsoft.com/office/drawing/2014/main" id="{A1B3C10C-8045-4345-A8FC-1EF00378543B}"/>
              </a:ext>
            </a:extLst>
          </p:cNvPr>
          <p:cNvSpPr>
            <a:spLocks xmlns:a="http://schemas.openxmlformats.org/drawingml/2006/main" noGrp="1"/>
          </p:cNvSpPr>
          <p:nvPr/>
        </p:nvSpPr>
        <p:spPr>
          <a:xfrm xmlns:a="http://schemas.openxmlformats.org/drawingml/2006/main">
            <a:off x="5886450" y="2114550"/>
            <a:ext cx="5448300" cy="3048000"/>
          </a:xfrm>
          <a:prstGeom xmlns:a="http://schemas.openxmlformats.org/drawingml/2006/main" prst="roundRect">
            <a:avLst>
              <a:gd name="adj" fmla="val 2813"/>
            </a:avLst>
          </a:prstGeom>
          <a:solidFill xmlns:a="http://schemas.openxmlformats.org/drawingml/2006/main">
            <a:srgbClr val="FFFFFF"/>
          </a:solidFill>
          <a:ln xmlns:a="http://schemas.openxmlformats.org/drawingml/2006/main" w="10478">
            <a:solidFill>
              <a:srgbClr val="C9D6DA"/>
            </a:solidFill>
            <a:prstDash val="solid"/>
          </a:ln>
        </p:spPr>
        <p:txBody xmlns:a="http://schemas.openxmlformats.org/drawingml/2006/main">
          <a:bodyPr/>
          <a:p/>
        </p:txBody>
      </p:sp>
      <p:sp>
        <p:nvSpPr>
          <p:cNvPr id="39" name="v16-s9-brief-accent">
            <a:extLst xmlns:a="http://schemas.openxmlformats.org/drawingml/2006/main">
              <a:ext uri="{FF2B5EF4-FFF2-40B4-BE49-F238E27FC236}">
                <a16:creationId xmlns:a16="http://schemas.microsoft.com/office/drawing/2014/main" id="{DEEA6B64-634B-42CE-B20E-84C32CAE278B}"/>
              </a:ext>
            </a:extLst>
          </p:cNvPr>
          <p:cNvSpPr>
            <a:spLocks xmlns:a="http://schemas.openxmlformats.org/drawingml/2006/main" noGrp="1"/>
          </p:cNvSpPr>
          <p:nvPr/>
        </p:nvSpPr>
        <p:spPr>
          <a:xfrm xmlns:a="http://schemas.openxmlformats.org/drawingml/2006/main">
            <a:off x="5886450" y="2114550"/>
            <a:ext cx="66675" cy="3048000"/>
          </a:xfrm>
          <a:prstGeom xmlns:a="http://schemas.openxmlformats.org/drawingml/2006/main" prst="roundRect">
            <a:avLst>
              <a:gd name="adj" fmla="val 42857"/>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40" name="v16-s9-contract-label">
            <a:extLst xmlns:a="http://schemas.openxmlformats.org/drawingml/2006/main">
              <a:ext uri="{FF2B5EF4-FFF2-40B4-BE49-F238E27FC236}">
                <a16:creationId xmlns:a16="http://schemas.microsoft.com/office/drawing/2014/main" id="{E22E6D16-FDE1-49BC-ADAB-26E571DE948B}"/>
              </a:ext>
            </a:extLst>
          </p:cNvPr>
          <p:cNvSpPr>
            <a:spLocks xmlns:a="http://schemas.openxmlformats.org/drawingml/2006/main" noGrp="1"/>
          </p:cNvSpPr>
          <p:nvPr/>
        </p:nvSpPr>
        <p:spPr>
          <a:xfrm xmlns:a="http://schemas.openxmlformats.org/drawingml/2006/main">
            <a:off x="6172200" y="2305050"/>
            <a:ext cx="476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50" b="1">
                <a:solidFill>
                  <a:srgbClr val="8A521E"/>
                </a:solidFill>
                <a:latin typeface="Consolas"/>
                <a:ea typeface="Consolas"/>
                <a:cs typeface="Consolas"/>
              </a:defRPr>
            </a:pPr>
            <a:r>
              <a:rPr sz="950" b="1">
                <a:solidFill>
                  <a:srgbClr val="8A521E"/>
                </a:solidFill>
                <a:latin typeface="Consolas"/>
                <a:ea typeface="Consolas"/>
                <a:cs typeface="Consolas"/>
              </a:rPr>
              <a:t>ONE-PAGE QUALIFICATION CONTRACT</a:t>
            </a:r>
          </a:p>
        </p:txBody>
      </p:sp>
      <p:sp>
        <p:nvSpPr>
          <p:cNvPr id="41" name="v16-s9-contract-title">
            <a:extLst xmlns:a="http://schemas.openxmlformats.org/drawingml/2006/main">
              <a:ext uri="{FF2B5EF4-FFF2-40B4-BE49-F238E27FC236}">
                <a16:creationId xmlns:a16="http://schemas.microsoft.com/office/drawing/2014/main" id="{BB2463B0-BEF2-4E17-BC62-DA36A48BE703}"/>
              </a:ext>
            </a:extLst>
          </p:cNvPr>
          <p:cNvSpPr>
            <a:spLocks xmlns:a="http://schemas.openxmlformats.org/drawingml/2006/main" noGrp="1"/>
          </p:cNvSpPr>
          <p:nvPr/>
        </p:nvSpPr>
        <p:spPr>
          <a:xfrm xmlns:a="http://schemas.openxmlformats.org/drawingml/2006/main">
            <a:off x="6172200" y="264795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Every brief binds the opportunity to one real program</a:t>
            </a:r>
          </a:p>
        </p:txBody>
      </p:sp>
      <p:sp>
        <p:nvSpPr>
          <p:cNvPr id="42" name="v16-s9-dot-0">
            <a:extLst xmlns:a="http://schemas.openxmlformats.org/drawingml/2006/main">
              <a:ext uri="{FF2B5EF4-FFF2-40B4-BE49-F238E27FC236}">
                <a16:creationId xmlns:a16="http://schemas.microsoft.com/office/drawing/2014/main" id="{EF7C3AFA-AF06-4905-A65D-4BBA5660B6F0}"/>
              </a:ext>
            </a:extLst>
          </p:cNvPr>
          <p:cNvSpPr>
            <a:spLocks xmlns:a="http://schemas.openxmlformats.org/drawingml/2006/main" noGrp="1"/>
          </p:cNvSpPr>
          <p:nvPr/>
        </p:nvSpPr>
        <p:spPr>
          <a:xfrm xmlns:a="http://schemas.openxmlformats.org/drawingml/2006/main">
            <a:off x="6172200" y="3400425"/>
            <a:ext cx="85725" cy="85725"/>
          </a:xfrm>
          <a:prstGeom xmlns:a="http://schemas.openxmlformats.org/drawingml/2006/main" prst="roundRect">
            <a:avLst>
              <a:gd name="adj" fmla="val 50000"/>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43" name="v16-s9-field-0">
            <a:extLst xmlns:a="http://schemas.openxmlformats.org/drawingml/2006/main">
              <a:ext uri="{FF2B5EF4-FFF2-40B4-BE49-F238E27FC236}">
                <a16:creationId xmlns:a16="http://schemas.microsoft.com/office/drawing/2014/main" id="{BB680993-49C8-4A0A-8B72-BDC4F7642E19}"/>
              </a:ext>
            </a:extLst>
          </p:cNvPr>
          <p:cNvSpPr>
            <a:spLocks xmlns:a="http://schemas.openxmlformats.org/drawingml/2006/main" noGrp="1"/>
          </p:cNvSpPr>
          <p:nvPr/>
        </p:nvSpPr>
        <p:spPr>
          <a:xfrm xmlns:a="http://schemas.openxmlformats.org/drawingml/2006/main">
            <a:off x="6381750" y="331470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1">
                <a:solidFill>
                  <a:srgbClr val="385365"/>
                </a:solidFill>
                <a:latin typeface="Arial"/>
                <a:ea typeface="Arial"/>
                <a:cs typeface="Arial"/>
              </a:defRPr>
            </a:pPr>
            <a:r>
              <a:rPr sz="1440" b="1">
                <a:solidFill>
                  <a:srgbClr val="385365"/>
                </a:solidFill>
                <a:latin typeface="Arial"/>
                <a:ea typeface="Arial"/>
                <a:cs typeface="Arial"/>
              </a:rPr>
              <a:t>Named program + device boundary</a:t>
            </a:r>
          </a:p>
        </p:txBody>
      </p:sp>
      <p:sp>
        <p:nvSpPr>
          <p:cNvPr id="44" name="v16-s9-dot-1">
            <a:extLst xmlns:a="http://schemas.openxmlformats.org/drawingml/2006/main">
              <a:ext uri="{FF2B5EF4-FFF2-40B4-BE49-F238E27FC236}">
                <a16:creationId xmlns:a16="http://schemas.microsoft.com/office/drawing/2014/main" id="{8CBC073D-D873-47F1-BD3C-96C25F80E3DC}"/>
              </a:ext>
            </a:extLst>
          </p:cNvPr>
          <p:cNvSpPr>
            <a:spLocks xmlns:a="http://schemas.openxmlformats.org/drawingml/2006/main" noGrp="1"/>
          </p:cNvSpPr>
          <p:nvPr/>
        </p:nvSpPr>
        <p:spPr>
          <a:xfrm xmlns:a="http://schemas.openxmlformats.org/drawingml/2006/main">
            <a:off x="6172200" y="3686175"/>
            <a:ext cx="85725" cy="85725"/>
          </a:xfrm>
          <a:prstGeom xmlns:a="http://schemas.openxmlformats.org/drawingml/2006/main" prst="roundRect">
            <a:avLst>
              <a:gd name="adj" fmla="val 50000"/>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45" name="v16-s9-field-1">
            <a:extLst xmlns:a="http://schemas.openxmlformats.org/drawingml/2006/main">
              <a:ext uri="{FF2B5EF4-FFF2-40B4-BE49-F238E27FC236}">
                <a16:creationId xmlns:a16="http://schemas.microsoft.com/office/drawing/2014/main" id="{9106AA2E-BF98-43AC-9417-A6446648096D}"/>
              </a:ext>
            </a:extLst>
          </p:cNvPr>
          <p:cNvSpPr>
            <a:spLocks xmlns:a="http://schemas.openxmlformats.org/drawingml/2006/main" noGrp="1"/>
          </p:cNvSpPr>
          <p:nvPr/>
        </p:nvSpPr>
        <p:spPr>
          <a:xfrm xmlns:a="http://schemas.openxmlformats.org/drawingml/2006/main">
            <a:off x="6381750" y="360045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State owner + payload + bit budget</a:t>
            </a:r>
          </a:p>
        </p:txBody>
      </p:sp>
      <p:sp>
        <p:nvSpPr>
          <p:cNvPr id="46" name="v16-s9-dot-2">
            <a:extLst xmlns:a="http://schemas.openxmlformats.org/drawingml/2006/main">
              <a:ext uri="{FF2B5EF4-FFF2-40B4-BE49-F238E27FC236}">
                <a16:creationId xmlns:a16="http://schemas.microsoft.com/office/drawing/2014/main" id="{E867FD48-7BDC-461C-B9EA-7EEDB0BB6D96}"/>
              </a:ext>
            </a:extLst>
          </p:cNvPr>
          <p:cNvSpPr>
            <a:spLocks xmlns:a="http://schemas.openxmlformats.org/drawingml/2006/main" noGrp="1"/>
          </p:cNvSpPr>
          <p:nvPr/>
        </p:nvSpPr>
        <p:spPr>
          <a:xfrm xmlns:a="http://schemas.openxmlformats.org/drawingml/2006/main">
            <a:off x="6172200" y="3971925"/>
            <a:ext cx="85725" cy="8572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47" name="v16-s9-field-2">
            <a:extLst xmlns:a="http://schemas.openxmlformats.org/drawingml/2006/main">
              <a:ext uri="{FF2B5EF4-FFF2-40B4-BE49-F238E27FC236}">
                <a16:creationId xmlns:a16="http://schemas.microsoft.com/office/drawing/2014/main" id="{DBA7DB15-1C51-452A-8C24-C439215C2047}"/>
              </a:ext>
            </a:extLst>
          </p:cNvPr>
          <p:cNvSpPr>
            <a:spLocks xmlns:a="http://schemas.openxmlformats.org/drawingml/2006/main" noGrp="1"/>
          </p:cNvSpPr>
          <p:nvPr/>
        </p:nvSpPr>
        <p:spPr>
          <a:xfrm xmlns:a="http://schemas.openxmlformats.org/drawingml/2006/main">
            <a:off x="6381750" y="388620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Write cadence + retention + recovery</a:t>
            </a:r>
          </a:p>
        </p:txBody>
      </p:sp>
      <p:sp>
        <p:nvSpPr>
          <p:cNvPr id="48" name="v16-s9-dot-3">
            <a:extLst xmlns:a="http://schemas.openxmlformats.org/drawingml/2006/main">
              <a:ext uri="{FF2B5EF4-FFF2-40B4-BE49-F238E27FC236}">
                <a16:creationId xmlns:a16="http://schemas.microsoft.com/office/drawing/2014/main" id="{5663F97E-8505-4995-8BF7-BEB1E383B9B4}"/>
              </a:ext>
            </a:extLst>
          </p:cNvPr>
          <p:cNvSpPr>
            <a:spLocks xmlns:a="http://schemas.openxmlformats.org/drawingml/2006/main" noGrp="1"/>
          </p:cNvSpPr>
          <p:nvPr/>
        </p:nvSpPr>
        <p:spPr>
          <a:xfrm xmlns:a="http://schemas.openxmlformats.org/drawingml/2006/main">
            <a:off x="6172200" y="4257675"/>
            <a:ext cx="85725" cy="8572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49" name="v16-s9-field-3">
            <a:extLst xmlns:a="http://schemas.openxmlformats.org/drawingml/2006/main">
              <a:ext uri="{FF2B5EF4-FFF2-40B4-BE49-F238E27FC236}">
                <a16:creationId xmlns:a16="http://schemas.microsoft.com/office/drawing/2014/main" id="{C281D407-A7E0-40D4-B653-0C9C29141E2C}"/>
              </a:ext>
            </a:extLst>
          </p:cNvPr>
          <p:cNvSpPr>
            <a:spLocks xmlns:a="http://schemas.openxmlformats.org/drawingml/2006/main" noGrp="1"/>
          </p:cNvSpPr>
          <p:nvPr/>
        </p:nvSpPr>
        <p:spPr>
          <a:xfrm xmlns:a="http://schemas.openxmlformats.org/drawingml/2006/main">
            <a:off x="6381750" y="417195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Node + I/O + program supply / path</a:t>
            </a:r>
          </a:p>
        </p:txBody>
      </p:sp>
      <p:sp>
        <p:nvSpPr>
          <p:cNvPr id="50" name="v16-s9-dot-4">
            <a:extLst xmlns:a="http://schemas.openxmlformats.org/drawingml/2006/main">
              <a:ext uri="{FF2B5EF4-FFF2-40B4-BE49-F238E27FC236}">
                <a16:creationId xmlns:a16="http://schemas.microsoft.com/office/drawing/2014/main" id="{F331B7C3-BE4F-454D-942B-DE6FE2868A75}"/>
              </a:ext>
            </a:extLst>
          </p:cNvPr>
          <p:cNvSpPr>
            <a:spLocks xmlns:a="http://schemas.openxmlformats.org/drawingml/2006/main" noGrp="1"/>
          </p:cNvSpPr>
          <p:nvPr/>
        </p:nvSpPr>
        <p:spPr>
          <a:xfrm xmlns:a="http://schemas.openxmlformats.org/drawingml/2006/main">
            <a:off x="6172200" y="4543425"/>
            <a:ext cx="85725" cy="85725"/>
          </a:xfrm>
          <a:prstGeom xmlns:a="http://schemas.openxmlformats.org/drawingml/2006/main" prst="roundRect">
            <a:avLst>
              <a:gd name="adj" fmla="val 50000"/>
            </a:avLst>
          </a:prstGeom>
          <a:solidFill xmlns:a="http://schemas.openxmlformats.org/drawingml/2006/main">
            <a:srgbClr val="2B9D7A"/>
          </a:solidFill>
          <a:ln xmlns:a="http://schemas.openxmlformats.org/drawingml/2006/main" w="0">
            <a:noFill/>
            <a:prstDash val="solid"/>
          </a:ln>
        </p:spPr>
        <p:txBody xmlns:a="http://schemas.openxmlformats.org/drawingml/2006/main">
          <a:bodyPr/>
          <a:p/>
        </p:txBody>
      </p:sp>
      <p:sp>
        <p:nvSpPr>
          <p:cNvPr id="51" name="v16-s9-field-4">
            <a:extLst xmlns:a="http://schemas.openxmlformats.org/drawingml/2006/main">
              <a:ext uri="{FF2B5EF4-FFF2-40B4-BE49-F238E27FC236}">
                <a16:creationId xmlns:a16="http://schemas.microsoft.com/office/drawing/2014/main" id="{FE1ED30F-CFE7-4BF1-820C-B4497A70A682}"/>
              </a:ext>
            </a:extLst>
          </p:cNvPr>
          <p:cNvSpPr>
            <a:spLocks xmlns:a="http://schemas.openxmlformats.org/drawingml/2006/main" noGrp="1"/>
          </p:cNvSpPr>
          <p:nvPr/>
        </p:nvSpPr>
        <p:spPr>
          <a:xfrm xmlns:a="http://schemas.openxmlformats.org/drawingml/2006/main">
            <a:off x="6381750" y="445770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Interface + security / reliability need</a:t>
            </a:r>
          </a:p>
        </p:txBody>
      </p:sp>
      <p:sp>
        <p:nvSpPr>
          <p:cNvPr id="52" name="v16-s9-dot-5">
            <a:extLst xmlns:a="http://schemas.openxmlformats.org/drawingml/2006/main">
              <a:ext uri="{FF2B5EF4-FFF2-40B4-BE49-F238E27FC236}">
                <a16:creationId xmlns:a16="http://schemas.microsoft.com/office/drawing/2014/main" id="{E59B720C-E7FD-40F9-955E-13E56D36B873}"/>
              </a:ext>
            </a:extLst>
          </p:cNvPr>
          <p:cNvSpPr>
            <a:spLocks xmlns:a="http://schemas.openxmlformats.org/drawingml/2006/main" noGrp="1"/>
          </p:cNvSpPr>
          <p:nvPr/>
        </p:nvSpPr>
        <p:spPr>
          <a:xfrm xmlns:a="http://schemas.openxmlformats.org/drawingml/2006/main">
            <a:off x="6172200" y="4829175"/>
            <a:ext cx="85725" cy="85725"/>
          </a:xfrm>
          <a:prstGeom xmlns:a="http://schemas.openxmlformats.org/drawingml/2006/main" prst="roundRect">
            <a:avLst>
              <a:gd name="adj" fmla="val 50000"/>
            </a:avLst>
          </a:prstGeom>
          <a:solidFill xmlns:a="http://schemas.openxmlformats.org/drawingml/2006/main">
            <a:srgbClr val="2B9D7A"/>
          </a:solidFill>
          <a:ln xmlns:a="http://schemas.openxmlformats.org/drawingml/2006/main" w="0">
            <a:noFill/>
            <a:prstDash val="solid"/>
          </a:ln>
        </p:spPr>
        <p:txBody xmlns:a="http://schemas.openxmlformats.org/drawingml/2006/main">
          <a:bodyPr/>
          <a:p/>
        </p:txBody>
      </p:sp>
      <p:sp>
        <p:nvSpPr>
          <p:cNvPr id="53" name="v16-s9-field-5">
            <a:extLst xmlns:a="http://schemas.openxmlformats.org/drawingml/2006/main">
              <a:ext uri="{FF2B5EF4-FFF2-40B4-BE49-F238E27FC236}">
                <a16:creationId xmlns:a16="http://schemas.microsoft.com/office/drawing/2014/main" id="{FB332303-5566-4525-BFC7-9FE64E343DF7}"/>
              </a:ext>
            </a:extLst>
          </p:cNvPr>
          <p:cNvSpPr>
            <a:spLocks xmlns:a="http://schemas.openxmlformats.org/drawingml/2006/main" noGrp="1"/>
          </p:cNvSpPr>
          <p:nvPr/>
        </p:nvSpPr>
        <p:spPr>
          <a:xfrm xmlns:a="http://schemas.openxmlformats.org/drawingml/2006/main">
            <a:off x="6381750" y="474345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1">
                <a:solidFill>
                  <a:srgbClr val="385365"/>
                </a:solidFill>
                <a:latin typeface="Arial"/>
                <a:ea typeface="Arial"/>
                <a:cs typeface="Arial"/>
              </a:defRPr>
            </a:pPr>
            <a:r>
              <a:rPr sz="1440" b="1">
                <a:solidFill>
                  <a:srgbClr val="385365"/>
                </a:solidFill>
                <a:latin typeface="Arial"/>
                <a:ea typeface="Arial"/>
                <a:cs typeface="Arial"/>
              </a:rPr>
              <a:t>Candidate Synopsys offer + potential unit definition</a:t>
            </a:r>
          </a:p>
        </p:txBody>
      </p:sp>
      <p:sp>
        <p:nvSpPr>
          <p:cNvPr id="54" name="v16-s9-boundary">
            <a:extLst xmlns:a="http://schemas.openxmlformats.org/drawingml/2006/main">
              <a:ext uri="{FF2B5EF4-FFF2-40B4-BE49-F238E27FC236}">
                <a16:creationId xmlns:a16="http://schemas.microsoft.com/office/drawing/2014/main" id="{83834936-84C2-4A14-8EB9-3909D1385EF1}"/>
              </a:ext>
            </a:extLst>
          </p:cNvPr>
          <p:cNvSpPr>
            <a:spLocks xmlns:a="http://schemas.openxmlformats.org/drawingml/2006/main" noGrp="1"/>
          </p:cNvSpPr>
          <p:nvPr/>
        </p:nvSpPr>
        <p:spPr>
          <a:xfrm xmlns:a="http://schemas.openxmlformats.org/drawingml/2006/main">
            <a:off x="514350" y="5562600"/>
            <a:ext cx="10820400" cy="571500"/>
          </a:xfrm>
          <a:prstGeom xmlns:a="http://schemas.openxmlformats.org/drawingml/2006/main" prst="roundRect">
            <a:avLst>
              <a:gd name="adj" fmla="val 13333"/>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55" name="v16-s9-boundary-text">
            <a:extLst xmlns:a="http://schemas.openxmlformats.org/drawingml/2006/main">
              <a:ext uri="{FF2B5EF4-FFF2-40B4-BE49-F238E27FC236}">
                <a16:creationId xmlns:a16="http://schemas.microsoft.com/office/drawing/2014/main" id="{EEB532A9-15B2-49D0-AA69-8016FBEA6877}"/>
              </a:ext>
            </a:extLst>
          </p:cNvPr>
          <p:cNvSpPr>
            <a:spLocks xmlns:a="http://schemas.openxmlformats.org/drawingml/2006/main" noGrp="1"/>
          </p:cNvSpPr>
          <p:nvPr/>
        </p:nvSpPr>
        <p:spPr>
          <a:xfrm xmlns:a="http://schemas.openxmlformats.org/drawingml/2006/main">
            <a:off x="685800" y="56578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20" b="1">
                <a:solidFill>
                  <a:srgbClr val="FFFFFF"/>
                </a:solidFill>
                <a:latin typeface="Arial"/>
                <a:ea typeface="Arial"/>
                <a:cs typeface="Arial"/>
              </a:defRPr>
            </a:pPr>
            <a:r>
              <a:rPr sz="1520" b="1">
                <a:solidFill>
                  <a:srgbClr val="FFFFFF"/>
                </a:solidFill>
                <a:latin typeface="Arial"/>
                <a:ea typeface="Arial"/>
                <a:cs typeface="Arial"/>
              </a:rPr>
              <a:t>No pricing, staffing, forecast or business-model decision is requested</a:t>
            </a:r>
          </a:p>
        </p:txBody>
      </p:sp>
    </p:spTree>
    <p:extLst>
      <p:ext uri="{BB962C8B-B14F-4D97-AF65-F5344CB8AC3E}">
        <p14:creationId xmlns:p14="http://schemas.microsoft.com/office/powerpoint/2010/main" val="857473056"/>
      </p:ext>
    </p:extLst>
  </p:cSld>
</p:sld>
</file>

<file path=ppt/slides/slide13.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63" name="v16-bg-10">
            <a:extLst xmlns:a="http://schemas.openxmlformats.org/drawingml/2006/main">
              <a:ext uri="{FF2B5EF4-FFF2-40B4-BE49-F238E27FC236}">
                <a16:creationId xmlns:a16="http://schemas.microsoft.com/office/drawing/2014/main" id="{63527BDA-D697-4B58-8A52-397986695B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0">
            <a:extLst xmlns:a="http://schemas.openxmlformats.org/drawingml/2006/main">
              <a:ext uri="{FF2B5EF4-FFF2-40B4-BE49-F238E27FC236}">
                <a16:creationId xmlns:a16="http://schemas.microsoft.com/office/drawing/2014/main" id="{9E1D520D-14FA-4D2D-8FCB-D94C28C14B0A}"/>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0">
            <a:extLst xmlns:a="http://schemas.openxmlformats.org/drawingml/2006/main">
              <a:ext uri="{FF2B5EF4-FFF2-40B4-BE49-F238E27FC236}">
                <a16:creationId xmlns:a16="http://schemas.microsoft.com/office/drawing/2014/main" id="{A2807719-FAD2-4874-B096-9AB11AABB3D6}"/>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A · EVIDENCE CEILING</a:t>
            </a:r>
          </a:p>
        </p:txBody>
      </p:sp>
      <p:sp>
        <p:nvSpPr>
          <p:cNvPr id="4" name="v16-title-10">
            <a:extLst xmlns:a="http://schemas.openxmlformats.org/drawingml/2006/main">
              <a:ext uri="{FF2B5EF4-FFF2-40B4-BE49-F238E27FC236}">
                <a16:creationId xmlns:a16="http://schemas.microsoft.com/office/drawing/2014/main" id="{52311516-0044-4487-AB2B-B016C167D0D9}"/>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Public Requirement ≠ Synopsys Fit ≠ Design Win ≠ Shipment</a:t>
            </a:r>
          </a:p>
        </p:txBody>
      </p:sp>
      <p:sp>
        <p:nvSpPr>
          <p:cNvPr id="5" name="v16-subtitle-10">
            <a:extLst xmlns:a="http://schemas.openxmlformats.org/drawingml/2006/main">
              <a:ext uri="{FF2B5EF4-FFF2-40B4-BE49-F238E27FC236}">
                <a16:creationId xmlns:a16="http://schemas.microsoft.com/office/drawing/2014/main" id="{925D23CA-AB8E-4582-BE7F-89F1A6E3CABA}"/>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Six distinct stages prevent a public fact from becoming a commercial claim</a:t>
            </a:r>
          </a:p>
        </p:txBody>
      </p:sp>
      <p:sp>
        <p:nvSpPr>
          <p:cNvPr id="6" name="motif-line-0">
            <a:extLst xmlns:a="http://schemas.openxmlformats.org/drawingml/2006/main">
              <a:ext uri="{FF2B5EF4-FFF2-40B4-BE49-F238E27FC236}">
                <a16:creationId xmlns:a16="http://schemas.microsoft.com/office/drawing/2014/main" id="{B9859C8E-22EA-4B66-8CF4-456E92096B27}"/>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4C596416-7EED-4E5E-BACF-60884E2A1EA5}"/>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12AF5D0E-15EB-441A-8528-C7FFE531DD5A}"/>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32FDDABF-BE47-4EFB-9AEA-6F8954904905}"/>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D985E467-A884-4864-82A6-CDA8D8EC3D60}"/>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FEF5F8FB-B7F8-4A73-A166-79FF87FADD88}"/>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4A658944-CA9E-4A1C-B7F9-3A09BEA045C3}"/>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E4290C42-7839-4932-A92C-488018138310}"/>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39270745-8412-46CB-8C79-0755D8C7921A}"/>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2DDF1550-0291-4BD8-839E-0CAC2D27A156}"/>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0">
            <a:extLst xmlns:a="http://schemas.openxmlformats.org/drawingml/2006/main">
              <a:ext uri="{FF2B5EF4-FFF2-40B4-BE49-F238E27FC236}">
                <a16:creationId xmlns:a16="http://schemas.microsoft.com/office/drawing/2014/main" id="{3B7EE56B-A864-49AC-8958-A4C192479FE3}"/>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0">
            <a:extLst xmlns:a="http://schemas.openxmlformats.org/drawingml/2006/main">
              <a:ext uri="{FF2B5EF4-FFF2-40B4-BE49-F238E27FC236}">
                <a16:creationId xmlns:a16="http://schemas.microsoft.com/office/drawing/2014/main" id="{D86EB8F8-944A-4576-814D-908C077440D7}"/>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0">
            <a:extLst xmlns:a="http://schemas.openxmlformats.org/drawingml/2006/main">
              <a:ext uri="{FF2B5EF4-FFF2-40B4-BE49-F238E27FC236}">
                <a16:creationId xmlns:a16="http://schemas.microsoft.com/office/drawing/2014/main" id="{17CB2CB4-C709-4B0E-AF23-101DCF92D432}"/>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13</a:t>
            </a:r>
          </a:p>
        </p:txBody>
      </p:sp>
      <p:sp>
        <p:nvSpPr>
          <p:cNvPr id="19" name="v16-s10-01-shadow">
            <a:extLst xmlns:a="http://schemas.openxmlformats.org/drawingml/2006/main">
              <a:ext uri="{FF2B5EF4-FFF2-40B4-BE49-F238E27FC236}">
                <a16:creationId xmlns:a16="http://schemas.microsoft.com/office/drawing/2014/main" id="{16C03F77-DDD6-4B7F-AB1A-088D4678224F}"/>
              </a:ext>
            </a:extLst>
          </p:cNvPr>
          <p:cNvSpPr>
            <a:spLocks xmlns:a="http://schemas.openxmlformats.org/drawingml/2006/main" noGrp="1"/>
          </p:cNvSpPr>
          <p:nvPr/>
        </p:nvSpPr>
        <p:spPr>
          <a:xfrm xmlns:a="http://schemas.openxmlformats.org/drawingml/2006/main">
            <a:off x="542925" y="223837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0-01">
            <a:extLst xmlns:a="http://schemas.openxmlformats.org/drawingml/2006/main">
              <a:ext uri="{FF2B5EF4-FFF2-40B4-BE49-F238E27FC236}">
                <a16:creationId xmlns:a16="http://schemas.microsoft.com/office/drawing/2014/main" id="{92E08137-5BEB-426A-BBC6-21D3DCCA1912}"/>
              </a:ext>
            </a:extLst>
          </p:cNvPr>
          <p:cNvSpPr>
            <a:spLocks xmlns:a="http://schemas.openxmlformats.org/drawingml/2006/main" noGrp="1"/>
          </p:cNvSpPr>
          <p:nvPr/>
        </p:nvSpPr>
        <p:spPr>
          <a:xfrm xmlns:a="http://schemas.openxmlformats.org/drawingml/2006/main">
            <a:off x="514350" y="2190750"/>
            <a:ext cx="3200400" cy="1200150"/>
          </a:xfrm>
          <a:prstGeom xmlns:a="http://schemas.openxmlformats.org/drawingml/2006/main" prst="roundRect">
            <a:avLst>
              <a:gd name="adj" fmla="val 6349"/>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0-01-top">
            <a:extLst xmlns:a="http://schemas.openxmlformats.org/drawingml/2006/main">
              <a:ext uri="{FF2B5EF4-FFF2-40B4-BE49-F238E27FC236}">
                <a16:creationId xmlns:a16="http://schemas.microsoft.com/office/drawing/2014/main" id="{0031A9FE-9EF9-4949-948A-11E45AE46EA5}"/>
              </a:ext>
            </a:extLst>
          </p:cNvPr>
          <p:cNvSpPr>
            <a:spLocks xmlns:a="http://schemas.openxmlformats.org/drawingml/2006/main" noGrp="1"/>
          </p:cNvSpPr>
          <p:nvPr/>
        </p:nvSpPr>
        <p:spPr>
          <a:xfrm xmlns:a="http://schemas.openxmlformats.org/drawingml/2006/main">
            <a:off x="514350" y="2190750"/>
            <a:ext cx="32004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0-02-shadow">
            <a:extLst xmlns:a="http://schemas.openxmlformats.org/drawingml/2006/main">
              <a:ext uri="{FF2B5EF4-FFF2-40B4-BE49-F238E27FC236}">
                <a16:creationId xmlns:a16="http://schemas.microsoft.com/office/drawing/2014/main" id="{972FC0FC-C0C1-4822-B05A-D205178FBAF3}"/>
              </a:ext>
            </a:extLst>
          </p:cNvPr>
          <p:cNvSpPr>
            <a:spLocks xmlns:a="http://schemas.openxmlformats.org/drawingml/2006/main" noGrp="1"/>
          </p:cNvSpPr>
          <p:nvPr/>
        </p:nvSpPr>
        <p:spPr>
          <a:xfrm xmlns:a="http://schemas.openxmlformats.org/drawingml/2006/main">
            <a:off x="4124325" y="223837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3" name="v16-s10-02">
            <a:extLst xmlns:a="http://schemas.openxmlformats.org/drawingml/2006/main">
              <a:ext uri="{FF2B5EF4-FFF2-40B4-BE49-F238E27FC236}">
                <a16:creationId xmlns:a16="http://schemas.microsoft.com/office/drawing/2014/main" id="{4015C9B1-39DF-41BD-8C9A-C91578B32806}"/>
              </a:ext>
            </a:extLst>
          </p:cNvPr>
          <p:cNvSpPr>
            <a:spLocks xmlns:a="http://schemas.openxmlformats.org/drawingml/2006/main" noGrp="1"/>
          </p:cNvSpPr>
          <p:nvPr/>
        </p:nvSpPr>
        <p:spPr>
          <a:xfrm xmlns:a="http://schemas.openxmlformats.org/drawingml/2006/main">
            <a:off x="4095750" y="2190750"/>
            <a:ext cx="3200400" cy="1200150"/>
          </a:xfrm>
          <a:prstGeom xmlns:a="http://schemas.openxmlformats.org/drawingml/2006/main" prst="roundRect">
            <a:avLst>
              <a:gd name="adj" fmla="val 6349"/>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4" name="v16-s10-02-top">
            <a:extLst xmlns:a="http://schemas.openxmlformats.org/drawingml/2006/main">
              <a:ext uri="{FF2B5EF4-FFF2-40B4-BE49-F238E27FC236}">
                <a16:creationId xmlns:a16="http://schemas.microsoft.com/office/drawing/2014/main" id="{F9D6C628-54E4-4C0E-B80E-EE442921BE8B}"/>
              </a:ext>
            </a:extLst>
          </p:cNvPr>
          <p:cNvSpPr>
            <a:spLocks xmlns:a="http://schemas.openxmlformats.org/drawingml/2006/main" noGrp="1"/>
          </p:cNvSpPr>
          <p:nvPr/>
        </p:nvSpPr>
        <p:spPr>
          <a:xfrm xmlns:a="http://schemas.openxmlformats.org/drawingml/2006/main">
            <a:off x="4095750" y="2190750"/>
            <a:ext cx="32004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5" name="v16-s10-03-shadow">
            <a:extLst xmlns:a="http://schemas.openxmlformats.org/drawingml/2006/main">
              <a:ext uri="{FF2B5EF4-FFF2-40B4-BE49-F238E27FC236}">
                <a16:creationId xmlns:a16="http://schemas.microsoft.com/office/drawing/2014/main" id="{DEA33625-3A5E-4F1B-996B-8F2D40354185}"/>
              </a:ext>
            </a:extLst>
          </p:cNvPr>
          <p:cNvSpPr>
            <a:spLocks xmlns:a="http://schemas.openxmlformats.org/drawingml/2006/main" noGrp="1"/>
          </p:cNvSpPr>
          <p:nvPr/>
        </p:nvSpPr>
        <p:spPr>
          <a:xfrm xmlns:a="http://schemas.openxmlformats.org/drawingml/2006/main">
            <a:off x="7705725" y="223837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10-03">
            <a:extLst xmlns:a="http://schemas.openxmlformats.org/drawingml/2006/main">
              <a:ext uri="{FF2B5EF4-FFF2-40B4-BE49-F238E27FC236}">
                <a16:creationId xmlns:a16="http://schemas.microsoft.com/office/drawing/2014/main" id="{4AB11F70-3507-42A6-ADAC-70654148CEAD}"/>
              </a:ext>
            </a:extLst>
          </p:cNvPr>
          <p:cNvSpPr>
            <a:spLocks xmlns:a="http://schemas.openxmlformats.org/drawingml/2006/main" noGrp="1"/>
          </p:cNvSpPr>
          <p:nvPr/>
        </p:nvSpPr>
        <p:spPr>
          <a:xfrm xmlns:a="http://schemas.openxmlformats.org/drawingml/2006/main">
            <a:off x="7677150" y="2190750"/>
            <a:ext cx="3200400" cy="1200150"/>
          </a:xfrm>
          <a:prstGeom xmlns:a="http://schemas.openxmlformats.org/drawingml/2006/main" prst="roundRect">
            <a:avLst>
              <a:gd name="adj" fmla="val 6349"/>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7" name="v16-s10-03-top">
            <a:extLst xmlns:a="http://schemas.openxmlformats.org/drawingml/2006/main">
              <a:ext uri="{FF2B5EF4-FFF2-40B4-BE49-F238E27FC236}">
                <a16:creationId xmlns:a16="http://schemas.microsoft.com/office/drawing/2014/main" id="{CC4F90E9-2227-4500-ABAE-CDB5B6EB9E28}"/>
              </a:ext>
            </a:extLst>
          </p:cNvPr>
          <p:cNvSpPr>
            <a:spLocks xmlns:a="http://schemas.openxmlformats.org/drawingml/2006/main" noGrp="1"/>
          </p:cNvSpPr>
          <p:nvPr/>
        </p:nvSpPr>
        <p:spPr>
          <a:xfrm xmlns:a="http://schemas.openxmlformats.org/drawingml/2006/main">
            <a:off x="7677150" y="2190750"/>
            <a:ext cx="32004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8" name="v16-s10-04-shadow">
            <a:extLst xmlns:a="http://schemas.openxmlformats.org/drawingml/2006/main">
              <a:ext uri="{FF2B5EF4-FFF2-40B4-BE49-F238E27FC236}">
                <a16:creationId xmlns:a16="http://schemas.microsoft.com/office/drawing/2014/main" id="{FC80D6DD-ADAA-4C53-8125-9AF9ADDF6B93}"/>
              </a:ext>
            </a:extLst>
          </p:cNvPr>
          <p:cNvSpPr>
            <a:spLocks xmlns:a="http://schemas.openxmlformats.org/drawingml/2006/main" noGrp="1"/>
          </p:cNvSpPr>
          <p:nvPr/>
        </p:nvSpPr>
        <p:spPr>
          <a:xfrm xmlns:a="http://schemas.openxmlformats.org/drawingml/2006/main">
            <a:off x="542925" y="389572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9" name="v16-s10-04">
            <a:extLst xmlns:a="http://schemas.openxmlformats.org/drawingml/2006/main">
              <a:ext uri="{FF2B5EF4-FFF2-40B4-BE49-F238E27FC236}">
                <a16:creationId xmlns:a16="http://schemas.microsoft.com/office/drawing/2014/main" id="{9E0AB753-5FAC-4EFE-9476-285CDE5483B5}"/>
              </a:ext>
            </a:extLst>
          </p:cNvPr>
          <p:cNvSpPr>
            <a:spLocks xmlns:a="http://schemas.openxmlformats.org/drawingml/2006/main" noGrp="1"/>
          </p:cNvSpPr>
          <p:nvPr/>
        </p:nvSpPr>
        <p:spPr>
          <a:xfrm xmlns:a="http://schemas.openxmlformats.org/drawingml/2006/main">
            <a:off x="514350" y="3848100"/>
            <a:ext cx="3200400" cy="1200150"/>
          </a:xfrm>
          <a:prstGeom xmlns:a="http://schemas.openxmlformats.org/drawingml/2006/main" prst="roundRect">
            <a:avLst>
              <a:gd name="adj" fmla="val 6349"/>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0" name="v16-s10-04-top">
            <a:extLst xmlns:a="http://schemas.openxmlformats.org/drawingml/2006/main">
              <a:ext uri="{FF2B5EF4-FFF2-40B4-BE49-F238E27FC236}">
                <a16:creationId xmlns:a16="http://schemas.microsoft.com/office/drawing/2014/main" id="{538B97E0-B491-4F47-B8A1-049B20E31380}"/>
              </a:ext>
            </a:extLst>
          </p:cNvPr>
          <p:cNvSpPr>
            <a:spLocks xmlns:a="http://schemas.openxmlformats.org/drawingml/2006/main" noGrp="1"/>
          </p:cNvSpPr>
          <p:nvPr/>
        </p:nvSpPr>
        <p:spPr>
          <a:xfrm xmlns:a="http://schemas.openxmlformats.org/drawingml/2006/main">
            <a:off x="514350" y="38481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31" name="v16-s10-05-shadow">
            <a:extLst xmlns:a="http://schemas.openxmlformats.org/drawingml/2006/main">
              <a:ext uri="{FF2B5EF4-FFF2-40B4-BE49-F238E27FC236}">
                <a16:creationId xmlns:a16="http://schemas.microsoft.com/office/drawing/2014/main" id="{FBE8105B-5F04-4D9B-9D78-DF09A6D20EF5}"/>
              </a:ext>
            </a:extLst>
          </p:cNvPr>
          <p:cNvSpPr>
            <a:spLocks xmlns:a="http://schemas.openxmlformats.org/drawingml/2006/main" noGrp="1"/>
          </p:cNvSpPr>
          <p:nvPr/>
        </p:nvSpPr>
        <p:spPr>
          <a:xfrm xmlns:a="http://schemas.openxmlformats.org/drawingml/2006/main">
            <a:off x="4124325" y="389572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10-05">
            <a:extLst xmlns:a="http://schemas.openxmlformats.org/drawingml/2006/main">
              <a:ext uri="{FF2B5EF4-FFF2-40B4-BE49-F238E27FC236}">
                <a16:creationId xmlns:a16="http://schemas.microsoft.com/office/drawing/2014/main" id="{35192CB5-5B9B-44F2-941E-CD6DACFFF1D4}"/>
              </a:ext>
            </a:extLst>
          </p:cNvPr>
          <p:cNvSpPr>
            <a:spLocks xmlns:a="http://schemas.openxmlformats.org/drawingml/2006/main" noGrp="1"/>
          </p:cNvSpPr>
          <p:nvPr/>
        </p:nvSpPr>
        <p:spPr>
          <a:xfrm xmlns:a="http://schemas.openxmlformats.org/drawingml/2006/main">
            <a:off x="4095750" y="3848100"/>
            <a:ext cx="3200400" cy="1200150"/>
          </a:xfrm>
          <a:prstGeom xmlns:a="http://schemas.openxmlformats.org/drawingml/2006/main" prst="roundRect">
            <a:avLst>
              <a:gd name="adj" fmla="val 6349"/>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3" name="v16-s10-05-top">
            <a:extLst xmlns:a="http://schemas.openxmlformats.org/drawingml/2006/main">
              <a:ext uri="{FF2B5EF4-FFF2-40B4-BE49-F238E27FC236}">
                <a16:creationId xmlns:a16="http://schemas.microsoft.com/office/drawing/2014/main" id="{102DC766-137F-465C-8AE2-5872E94DCFF0}"/>
              </a:ext>
            </a:extLst>
          </p:cNvPr>
          <p:cNvSpPr>
            <a:spLocks xmlns:a="http://schemas.openxmlformats.org/drawingml/2006/main" noGrp="1"/>
          </p:cNvSpPr>
          <p:nvPr/>
        </p:nvSpPr>
        <p:spPr>
          <a:xfrm xmlns:a="http://schemas.openxmlformats.org/drawingml/2006/main">
            <a:off x="4095750" y="38481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34" name="v16-s10-06-shadow">
            <a:extLst xmlns:a="http://schemas.openxmlformats.org/drawingml/2006/main">
              <a:ext uri="{FF2B5EF4-FFF2-40B4-BE49-F238E27FC236}">
                <a16:creationId xmlns:a16="http://schemas.microsoft.com/office/drawing/2014/main" id="{1C8C4333-E424-4FD3-A307-C156AA2A3E41}"/>
              </a:ext>
            </a:extLst>
          </p:cNvPr>
          <p:cNvSpPr>
            <a:spLocks xmlns:a="http://schemas.openxmlformats.org/drawingml/2006/main" noGrp="1"/>
          </p:cNvSpPr>
          <p:nvPr/>
        </p:nvSpPr>
        <p:spPr>
          <a:xfrm xmlns:a="http://schemas.openxmlformats.org/drawingml/2006/main">
            <a:off x="7705725" y="389572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5" name="v16-s10-06">
            <a:extLst xmlns:a="http://schemas.openxmlformats.org/drawingml/2006/main">
              <a:ext uri="{FF2B5EF4-FFF2-40B4-BE49-F238E27FC236}">
                <a16:creationId xmlns:a16="http://schemas.microsoft.com/office/drawing/2014/main" id="{19A26CCE-C62E-4125-897F-4059D45264DF}"/>
              </a:ext>
            </a:extLst>
          </p:cNvPr>
          <p:cNvSpPr>
            <a:spLocks xmlns:a="http://schemas.openxmlformats.org/drawingml/2006/main" noGrp="1"/>
          </p:cNvSpPr>
          <p:nvPr/>
        </p:nvSpPr>
        <p:spPr>
          <a:xfrm xmlns:a="http://schemas.openxmlformats.org/drawingml/2006/main">
            <a:off x="7677150" y="3848100"/>
            <a:ext cx="3200400" cy="1200150"/>
          </a:xfrm>
          <a:prstGeom xmlns:a="http://schemas.openxmlformats.org/drawingml/2006/main" prst="roundRect">
            <a:avLst>
              <a:gd name="adj" fmla="val 6349"/>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6" name="v16-s10-06-top">
            <a:extLst xmlns:a="http://schemas.openxmlformats.org/drawingml/2006/main">
              <a:ext uri="{FF2B5EF4-FFF2-40B4-BE49-F238E27FC236}">
                <a16:creationId xmlns:a16="http://schemas.microsoft.com/office/drawing/2014/main" id="{646FCCDF-8F55-4263-A37E-F566F2F29FAB}"/>
              </a:ext>
            </a:extLst>
          </p:cNvPr>
          <p:cNvSpPr>
            <a:spLocks xmlns:a="http://schemas.openxmlformats.org/drawingml/2006/main" noGrp="1"/>
          </p:cNvSpPr>
          <p:nvPr/>
        </p:nvSpPr>
        <p:spPr>
          <a:xfrm xmlns:a="http://schemas.openxmlformats.org/drawingml/2006/main">
            <a:off x="7677150" y="38481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cxnSp>
        <p:nvCxnSpPr>
          <p:cNvPr id="99" name=""/>
          <p:cNvCxnSpPr>
            <a:stCxn xmlns:a="http://schemas.openxmlformats.org/drawingml/2006/main" id="20" idx="3"/>
            <a:endCxn xmlns:a="http://schemas.openxmlformats.org/drawingml/2006/main" id="23" idx="1"/>
          </p:cNvCxnSpPr>
          <p:nvPr/>
        </p:nvCxnSpPr>
        <p:spPr>
          <a:xfrm xmlns:a="http://schemas.openxmlformats.org/drawingml/2006/main">
            <a:off x="3714750" y="2790825"/>
            <a:ext cx="381000" cy="0"/>
          </a:xfrm>
          <a:prstGeom xmlns:a="http://schemas.openxmlformats.org/drawingml/2006/main" prst="straightConnector1">
            <a:avLst/>
          </a:prstGeom>
          <a:ln xmlns:a="http://schemas.openxmlformats.org/drawingml/2006/main" w="19050" cap="rnd">
            <a:solidFill>
              <a:srgbClr val="087A7A"/>
            </a:solidFill>
            <a:prstDash val="solid"/>
            <a:round/>
            <a:tailEnd type="arrow" w="sm" len="sm"/>
          </a:ln>
        </p:spPr>
      </p:cxnSp>
      <p:cxnSp>
        <p:nvCxnSpPr>
          <p:cNvPr id="100" name=""/>
          <p:cNvCxnSpPr>
            <a:stCxn xmlns:a="http://schemas.openxmlformats.org/drawingml/2006/main" id="23" idx="3"/>
            <a:endCxn xmlns:a="http://schemas.openxmlformats.org/drawingml/2006/main" id="26" idx="1"/>
          </p:cNvCxnSpPr>
          <p:nvPr/>
        </p:nvCxnSpPr>
        <p:spPr>
          <a:xfrm xmlns:a="http://schemas.openxmlformats.org/drawingml/2006/main">
            <a:off x="7296150" y="2790825"/>
            <a:ext cx="381000" cy="0"/>
          </a:xfrm>
          <a:prstGeom xmlns:a="http://schemas.openxmlformats.org/drawingml/2006/main" prst="straightConnector1">
            <a:avLst/>
          </a:prstGeom>
          <a:ln xmlns:a="http://schemas.openxmlformats.org/drawingml/2006/main" w="19050" cap="rnd">
            <a:solidFill>
              <a:srgbClr val="2B9D7A"/>
            </a:solidFill>
            <a:prstDash val="dash"/>
            <a:round/>
            <a:tailEnd type="arrow" w="sm" len="sm"/>
          </a:ln>
        </p:spPr>
      </p:cxnSp>
      <p:cxnSp>
        <p:nvCxnSpPr>
          <p:cNvPr id="101" name=""/>
          <p:cNvCxnSpPr>
            <a:stCxn xmlns:a="http://schemas.openxmlformats.org/drawingml/2006/main" id="26" idx="2"/>
            <a:endCxn xmlns:a="http://schemas.openxmlformats.org/drawingml/2006/main" id="29" idx="0"/>
          </p:cNvCxnSpPr>
          <p:nvPr/>
        </p:nvCxnSpPr>
        <p:spPr>
          <a:xfrm xmlns:a="http://schemas.openxmlformats.org/drawingml/2006/main" flipH="1">
            <a:off x="2114550" y="3390900"/>
            <a:ext cx="7162800" cy="457200"/>
          </a:xfrm>
          <a:prstGeom xmlns:a="http://schemas.openxmlformats.org/drawingml/2006/main" prst="bentConnector4">
            <a:avLst>
              <a:gd name="adj1" fmla="val 0"/>
              <a:gd name="adj2" fmla="val 50000"/>
            </a:avLst>
          </a:prstGeom>
          <a:ln xmlns:a="http://schemas.openxmlformats.org/drawingml/2006/main" w="19050" cap="rnd">
            <a:solidFill>
              <a:srgbClr val="C78A4B"/>
            </a:solidFill>
            <a:prstDash val="dash"/>
            <a:round/>
            <a:tailEnd type="arrow" w="sm" len="sm"/>
          </a:ln>
        </p:spPr>
      </p:cxnSp>
      <p:cxnSp>
        <p:nvCxnSpPr>
          <p:cNvPr id="102" name=""/>
          <p:cNvCxnSpPr>
            <a:stCxn xmlns:a="http://schemas.openxmlformats.org/drawingml/2006/main" id="29" idx="3"/>
            <a:endCxn xmlns:a="http://schemas.openxmlformats.org/drawingml/2006/main" id="32" idx="1"/>
          </p:cNvCxnSpPr>
          <p:nvPr/>
        </p:nvCxnSpPr>
        <p:spPr>
          <a:xfrm xmlns:a="http://schemas.openxmlformats.org/drawingml/2006/main">
            <a:off x="3714750" y="4448175"/>
            <a:ext cx="3810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cxnSp>
        <p:nvCxnSpPr>
          <p:cNvPr id="103" name=""/>
          <p:cNvCxnSpPr>
            <a:stCxn xmlns:a="http://schemas.openxmlformats.org/drawingml/2006/main" id="32" idx="3"/>
            <a:endCxn xmlns:a="http://schemas.openxmlformats.org/drawingml/2006/main" id="35" idx="1"/>
          </p:cNvCxnSpPr>
          <p:nvPr/>
        </p:nvCxnSpPr>
        <p:spPr>
          <a:xfrm xmlns:a="http://schemas.openxmlformats.org/drawingml/2006/main">
            <a:off x="7296150" y="4448175"/>
            <a:ext cx="3810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sp>
        <p:nvSpPr>
          <p:cNvPr id="42" name="v16-s10-01-eyebrow">
            <a:extLst xmlns:a="http://schemas.openxmlformats.org/drawingml/2006/main">
              <a:ext uri="{FF2B5EF4-FFF2-40B4-BE49-F238E27FC236}">
                <a16:creationId xmlns:a16="http://schemas.microsoft.com/office/drawing/2014/main" id="{30372377-C8F3-41C9-A9B8-2F05BC6C7E98}"/>
              </a:ext>
            </a:extLst>
          </p:cNvPr>
          <p:cNvSpPr>
            <a:spLocks xmlns:a="http://schemas.openxmlformats.org/drawingml/2006/main" noGrp="1"/>
          </p:cNvSpPr>
          <p:nvPr/>
        </p:nvSpPr>
        <p:spPr>
          <a:xfrm xmlns:a="http://schemas.openxmlformats.org/drawingml/2006/main">
            <a:off x="676275" y="233362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01</a:t>
            </a:r>
          </a:p>
        </p:txBody>
      </p:sp>
      <p:sp>
        <p:nvSpPr>
          <p:cNvPr id="43" name="v16-s10-01-title">
            <a:extLst xmlns:a="http://schemas.openxmlformats.org/drawingml/2006/main">
              <a:ext uri="{FF2B5EF4-FFF2-40B4-BE49-F238E27FC236}">
                <a16:creationId xmlns:a16="http://schemas.microsoft.com/office/drawing/2014/main" id="{C4C6DAB0-E5B9-410F-B7B2-8063DA3CB3C3}"/>
              </a:ext>
            </a:extLst>
          </p:cNvPr>
          <p:cNvSpPr>
            <a:spLocks xmlns:a="http://schemas.openxmlformats.org/drawingml/2006/main" noGrp="1"/>
          </p:cNvSpPr>
          <p:nvPr/>
        </p:nvSpPr>
        <p:spPr>
          <a:xfrm xmlns:a="http://schemas.openxmlformats.org/drawingml/2006/main">
            <a:off x="676275" y="255270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REQUIREMENT</a:t>
            </a:r>
          </a:p>
        </p:txBody>
      </p:sp>
      <p:sp>
        <p:nvSpPr>
          <p:cNvPr id="44" name="v16-s10-01-body">
            <a:extLst xmlns:a="http://schemas.openxmlformats.org/drawingml/2006/main">
              <a:ext uri="{FF2B5EF4-FFF2-40B4-BE49-F238E27FC236}">
                <a16:creationId xmlns:a16="http://schemas.microsoft.com/office/drawing/2014/main" id="{09F29620-2E24-4A3C-B082-5FB931673882}"/>
              </a:ext>
            </a:extLst>
          </p:cNvPr>
          <p:cNvSpPr>
            <a:spLocks xmlns:a="http://schemas.openxmlformats.org/drawingml/2006/main" noGrp="1"/>
          </p:cNvSpPr>
          <p:nvPr/>
        </p:nvSpPr>
        <p:spPr>
          <a:xfrm xmlns:a="http://schemas.openxmlformats.org/drawingml/2006/main">
            <a:off x="676275" y="285750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Standard or customer need</a:t>
            </a:r>
          </a:p>
        </p:txBody>
      </p:sp>
      <p:sp>
        <p:nvSpPr>
          <p:cNvPr id="45" name="v16-s10-02-eyebrow">
            <a:extLst xmlns:a="http://schemas.openxmlformats.org/drawingml/2006/main">
              <a:ext uri="{FF2B5EF4-FFF2-40B4-BE49-F238E27FC236}">
                <a16:creationId xmlns:a16="http://schemas.microsoft.com/office/drawing/2014/main" id="{98EE2140-6F95-480F-A696-C02B2952F7D9}"/>
              </a:ext>
            </a:extLst>
          </p:cNvPr>
          <p:cNvSpPr>
            <a:spLocks xmlns:a="http://schemas.openxmlformats.org/drawingml/2006/main" noGrp="1"/>
          </p:cNvSpPr>
          <p:nvPr/>
        </p:nvSpPr>
        <p:spPr>
          <a:xfrm xmlns:a="http://schemas.openxmlformats.org/drawingml/2006/main">
            <a:off x="4257675" y="233362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02</a:t>
            </a:r>
          </a:p>
        </p:txBody>
      </p:sp>
      <p:sp>
        <p:nvSpPr>
          <p:cNvPr id="46" name="v16-s10-02-title">
            <a:extLst xmlns:a="http://schemas.openxmlformats.org/drawingml/2006/main">
              <a:ext uri="{FF2B5EF4-FFF2-40B4-BE49-F238E27FC236}">
                <a16:creationId xmlns:a16="http://schemas.microsoft.com/office/drawing/2014/main" id="{46B91E3A-6489-4065-A384-DF3B12685665}"/>
              </a:ext>
            </a:extLst>
          </p:cNvPr>
          <p:cNvSpPr>
            <a:spLocks xmlns:a="http://schemas.openxmlformats.org/drawingml/2006/main" noGrp="1"/>
          </p:cNvSpPr>
          <p:nvPr/>
        </p:nvSpPr>
        <p:spPr>
          <a:xfrm xmlns:a="http://schemas.openxmlformats.org/drawingml/2006/main">
            <a:off x="4257675" y="255270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DISCLOSURE</a:t>
            </a:r>
          </a:p>
        </p:txBody>
      </p:sp>
      <p:sp>
        <p:nvSpPr>
          <p:cNvPr id="47" name="v16-s10-02-body">
            <a:extLst xmlns:a="http://schemas.openxmlformats.org/drawingml/2006/main">
              <a:ext uri="{FF2B5EF4-FFF2-40B4-BE49-F238E27FC236}">
                <a16:creationId xmlns:a16="http://schemas.microsoft.com/office/drawing/2014/main" id="{89E96D6C-9FF2-4118-8748-362CA3225E06}"/>
              </a:ext>
            </a:extLst>
          </p:cNvPr>
          <p:cNvSpPr>
            <a:spLocks xmlns:a="http://schemas.openxmlformats.org/drawingml/2006/main" noGrp="1"/>
          </p:cNvSpPr>
          <p:nvPr/>
        </p:nvSpPr>
        <p:spPr>
          <a:xfrm xmlns:a="http://schemas.openxmlformats.org/drawingml/2006/main">
            <a:off x="4257675" y="285750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Named external implementation</a:t>
            </a:r>
          </a:p>
        </p:txBody>
      </p:sp>
      <p:sp>
        <p:nvSpPr>
          <p:cNvPr id="48" name="v16-s10-03-eyebrow">
            <a:extLst xmlns:a="http://schemas.openxmlformats.org/drawingml/2006/main">
              <a:ext uri="{FF2B5EF4-FFF2-40B4-BE49-F238E27FC236}">
                <a16:creationId xmlns:a16="http://schemas.microsoft.com/office/drawing/2014/main" id="{87FF429E-1069-4D75-AA62-32468EED518D}"/>
              </a:ext>
            </a:extLst>
          </p:cNvPr>
          <p:cNvSpPr>
            <a:spLocks xmlns:a="http://schemas.openxmlformats.org/drawingml/2006/main" noGrp="1"/>
          </p:cNvSpPr>
          <p:nvPr/>
        </p:nvSpPr>
        <p:spPr>
          <a:xfrm xmlns:a="http://schemas.openxmlformats.org/drawingml/2006/main">
            <a:off x="7839075" y="233362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03</a:t>
            </a:r>
          </a:p>
        </p:txBody>
      </p:sp>
      <p:sp>
        <p:nvSpPr>
          <p:cNvPr id="49" name="v16-s10-03-title">
            <a:extLst xmlns:a="http://schemas.openxmlformats.org/drawingml/2006/main">
              <a:ext uri="{FF2B5EF4-FFF2-40B4-BE49-F238E27FC236}">
                <a16:creationId xmlns:a16="http://schemas.microsoft.com/office/drawing/2014/main" id="{3F887368-D0F4-4AEC-834F-A68E716B4742}"/>
              </a:ext>
            </a:extLst>
          </p:cNvPr>
          <p:cNvSpPr>
            <a:spLocks xmlns:a="http://schemas.openxmlformats.org/drawingml/2006/main" noGrp="1"/>
          </p:cNvSpPr>
          <p:nvPr/>
        </p:nvSpPr>
        <p:spPr>
          <a:xfrm xmlns:a="http://schemas.openxmlformats.org/drawingml/2006/main">
            <a:off x="7839075" y="255270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SYNOPSYS FIT</a:t>
            </a:r>
          </a:p>
        </p:txBody>
      </p:sp>
      <p:sp>
        <p:nvSpPr>
          <p:cNvPr id="50" name="v16-s10-03-body">
            <a:extLst xmlns:a="http://schemas.openxmlformats.org/drawingml/2006/main">
              <a:ext uri="{FF2B5EF4-FFF2-40B4-BE49-F238E27FC236}">
                <a16:creationId xmlns:a16="http://schemas.microsoft.com/office/drawing/2014/main" id="{A5C0D20B-A831-49DA-8222-6C809BA6E96A}"/>
              </a:ext>
            </a:extLst>
          </p:cNvPr>
          <p:cNvSpPr>
            <a:spLocks xmlns:a="http://schemas.openxmlformats.org/drawingml/2006/main" noGrp="1"/>
          </p:cNvSpPr>
          <p:nvPr/>
        </p:nvSpPr>
        <p:spPr>
          <a:xfrm xmlns:a="http://schemas.openxmlformats.org/drawingml/2006/main">
            <a:off x="7839075" y="285750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Target-bound candidate proof</a:t>
            </a:r>
          </a:p>
        </p:txBody>
      </p:sp>
      <p:sp>
        <p:nvSpPr>
          <p:cNvPr id="51" name="v16-s10-04-eyebrow">
            <a:extLst xmlns:a="http://schemas.openxmlformats.org/drawingml/2006/main">
              <a:ext uri="{FF2B5EF4-FFF2-40B4-BE49-F238E27FC236}">
                <a16:creationId xmlns:a16="http://schemas.microsoft.com/office/drawing/2014/main" id="{EBDB713E-7DED-4757-A42B-6E1BABFA60DF}"/>
              </a:ext>
            </a:extLst>
          </p:cNvPr>
          <p:cNvSpPr>
            <a:spLocks xmlns:a="http://schemas.openxmlformats.org/drawingml/2006/main" noGrp="1"/>
          </p:cNvSpPr>
          <p:nvPr/>
        </p:nvSpPr>
        <p:spPr>
          <a:xfrm xmlns:a="http://schemas.openxmlformats.org/drawingml/2006/main">
            <a:off x="676275" y="39909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04</a:t>
            </a:r>
          </a:p>
        </p:txBody>
      </p:sp>
      <p:sp>
        <p:nvSpPr>
          <p:cNvPr id="52" name="v16-s10-04-title">
            <a:extLst xmlns:a="http://schemas.openxmlformats.org/drawingml/2006/main">
              <a:ext uri="{FF2B5EF4-FFF2-40B4-BE49-F238E27FC236}">
                <a16:creationId xmlns:a16="http://schemas.microsoft.com/office/drawing/2014/main" id="{8994DA5D-88E7-4928-91FB-069716B5A3AF}"/>
              </a:ext>
            </a:extLst>
          </p:cNvPr>
          <p:cNvSpPr>
            <a:spLocks xmlns:a="http://schemas.openxmlformats.org/drawingml/2006/main" noGrp="1"/>
          </p:cNvSpPr>
          <p:nvPr/>
        </p:nvSpPr>
        <p:spPr>
          <a:xfrm xmlns:a="http://schemas.openxmlformats.org/drawingml/2006/main">
            <a:off x="676275" y="421005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CUSTOMER DESIGN WIN</a:t>
            </a:r>
          </a:p>
        </p:txBody>
      </p:sp>
      <p:sp>
        <p:nvSpPr>
          <p:cNvPr id="53" name="v16-s10-04-body">
            <a:extLst xmlns:a="http://schemas.openxmlformats.org/drawingml/2006/main">
              <a:ext uri="{FF2B5EF4-FFF2-40B4-BE49-F238E27FC236}">
                <a16:creationId xmlns:a16="http://schemas.microsoft.com/office/drawing/2014/main" id="{D30B00AF-8010-43BA-86E0-1E8730F9007A}"/>
              </a:ext>
            </a:extLst>
          </p:cNvPr>
          <p:cNvSpPr>
            <a:spLocks xmlns:a="http://schemas.openxmlformats.org/drawingml/2006/main" noGrp="1"/>
          </p:cNvSpPr>
          <p:nvPr/>
        </p:nvSpPr>
        <p:spPr>
          <a:xfrm xmlns:a="http://schemas.openxmlformats.org/drawingml/2006/main">
            <a:off x="676275" y="451485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Commercial selection verified</a:t>
            </a:r>
          </a:p>
        </p:txBody>
      </p:sp>
      <p:sp>
        <p:nvSpPr>
          <p:cNvPr id="54" name="v16-s10-05-eyebrow">
            <a:extLst xmlns:a="http://schemas.openxmlformats.org/drawingml/2006/main">
              <a:ext uri="{FF2B5EF4-FFF2-40B4-BE49-F238E27FC236}">
                <a16:creationId xmlns:a16="http://schemas.microsoft.com/office/drawing/2014/main" id="{289DD185-40FC-434D-8E6A-67E1FE48F636}"/>
              </a:ext>
            </a:extLst>
          </p:cNvPr>
          <p:cNvSpPr>
            <a:spLocks xmlns:a="http://schemas.openxmlformats.org/drawingml/2006/main" noGrp="1"/>
          </p:cNvSpPr>
          <p:nvPr/>
        </p:nvSpPr>
        <p:spPr>
          <a:xfrm xmlns:a="http://schemas.openxmlformats.org/drawingml/2006/main">
            <a:off x="4257675" y="39909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05</a:t>
            </a:r>
          </a:p>
        </p:txBody>
      </p:sp>
      <p:sp>
        <p:nvSpPr>
          <p:cNvPr id="55" name="v16-s10-05-title">
            <a:extLst xmlns:a="http://schemas.openxmlformats.org/drawingml/2006/main">
              <a:ext uri="{FF2B5EF4-FFF2-40B4-BE49-F238E27FC236}">
                <a16:creationId xmlns:a16="http://schemas.microsoft.com/office/drawing/2014/main" id="{7A442085-4BBC-40DD-B95E-867C5C6AABB6}"/>
              </a:ext>
            </a:extLst>
          </p:cNvPr>
          <p:cNvSpPr>
            <a:spLocks xmlns:a="http://schemas.openxmlformats.org/drawingml/2006/main" noGrp="1"/>
          </p:cNvSpPr>
          <p:nvPr/>
        </p:nvSpPr>
        <p:spPr>
          <a:xfrm xmlns:a="http://schemas.openxmlformats.org/drawingml/2006/main">
            <a:off x="4257675" y="421005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CUSTOMER SHIPMENT</a:t>
            </a:r>
          </a:p>
        </p:txBody>
      </p:sp>
      <p:sp>
        <p:nvSpPr>
          <p:cNvPr id="56" name="v16-s10-05-body">
            <a:extLst xmlns:a="http://schemas.openxmlformats.org/drawingml/2006/main">
              <a:ext uri="{FF2B5EF4-FFF2-40B4-BE49-F238E27FC236}">
                <a16:creationId xmlns:a16="http://schemas.microsoft.com/office/drawing/2014/main" id="{A0CF1A5A-F7D7-44D7-9E1A-FDD747660F52}"/>
              </a:ext>
            </a:extLst>
          </p:cNvPr>
          <p:cNvSpPr>
            <a:spLocks xmlns:a="http://schemas.openxmlformats.org/drawingml/2006/main" noGrp="1"/>
          </p:cNvSpPr>
          <p:nvPr/>
        </p:nvSpPr>
        <p:spPr>
          <a:xfrm xmlns:a="http://schemas.openxmlformats.org/drawingml/2006/main">
            <a:off x="4257675" y="451485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Qualified product ships</a:t>
            </a:r>
          </a:p>
        </p:txBody>
      </p:sp>
      <p:sp>
        <p:nvSpPr>
          <p:cNvPr id="57" name="v16-s10-06-eyebrow">
            <a:extLst xmlns:a="http://schemas.openxmlformats.org/drawingml/2006/main">
              <a:ext uri="{FF2B5EF4-FFF2-40B4-BE49-F238E27FC236}">
                <a16:creationId xmlns:a16="http://schemas.microsoft.com/office/drawing/2014/main" id="{C9AF382B-2C36-4CE1-8685-B3E987B71749}"/>
              </a:ext>
            </a:extLst>
          </p:cNvPr>
          <p:cNvSpPr>
            <a:spLocks xmlns:a="http://schemas.openxmlformats.org/drawingml/2006/main" noGrp="1"/>
          </p:cNvSpPr>
          <p:nvPr/>
        </p:nvSpPr>
        <p:spPr>
          <a:xfrm xmlns:a="http://schemas.openxmlformats.org/drawingml/2006/main">
            <a:off x="7839075" y="39909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06</a:t>
            </a:r>
          </a:p>
        </p:txBody>
      </p:sp>
      <p:sp>
        <p:nvSpPr>
          <p:cNvPr id="58" name="v16-s10-06-title">
            <a:extLst xmlns:a="http://schemas.openxmlformats.org/drawingml/2006/main">
              <a:ext uri="{FF2B5EF4-FFF2-40B4-BE49-F238E27FC236}">
                <a16:creationId xmlns:a16="http://schemas.microsoft.com/office/drawing/2014/main" id="{2B8C3DE6-309E-49B9-AC4D-E9BF369FE41D}"/>
              </a:ext>
            </a:extLst>
          </p:cNvPr>
          <p:cNvSpPr>
            <a:spLocks xmlns:a="http://schemas.openxmlformats.org/drawingml/2006/main" noGrp="1"/>
          </p:cNvSpPr>
          <p:nvPr/>
        </p:nvSpPr>
        <p:spPr>
          <a:xfrm xmlns:a="http://schemas.openxmlformats.org/drawingml/2006/main">
            <a:off x="7839075" y="421005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ROYALTY</a:t>
            </a:r>
          </a:p>
        </p:txBody>
      </p:sp>
      <p:sp>
        <p:nvSpPr>
          <p:cNvPr id="59" name="v16-s10-06-body">
            <a:extLst xmlns:a="http://schemas.openxmlformats.org/drawingml/2006/main">
              <a:ext uri="{FF2B5EF4-FFF2-40B4-BE49-F238E27FC236}">
                <a16:creationId xmlns:a16="http://schemas.microsoft.com/office/drawing/2014/main" id="{6F5CDD51-475A-42E1-A9FB-ECBD10C4286A}"/>
              </a:ext>
            </a:extLst>
          </p:cNvPr>
          <p:cNvSpPr>
            <a:spLocks xmlns:a="http://schemas.openxmlformats.org/drawingml/2006/main" noGrp="1"/>
          </p:cNvSpPr>
          <p:nvPr/>
        </p:nvSpPr>
        <p:spPr>
          <a:xfrm xmlns:a="http://schemas.openxmlformats.org/drawingml/2006/main">
            <a:off x="7839075" y="451485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Shipment + applicable terms</a:t>
            </a:r>
          </a:p>
        </p:txBody>
      </p:sp>
      <p:sp>
        <p:nvSpPr>
          <p:cNvPr id="60" name="v16-s10-boundary">
            <a:extLst xmlns:a="http://schemas.openxmlformats.org/drawingml/2006/main">
              <a:ext uri="{FF2B5EF4-FFF2-40B4-BE49-F238E27FC236}">
                <a16:creationId xmlns:a16="http://schemas.microsoft.com/office/drawing/2014/main" id="{C27E80AA-845B-41A4-94D9-5D2BAF08CD96}"/>
              </a:ext>
            </a:extLst>
          </p:cNvPr>
          <p:cNvSpPr>
            <a:spLocks xmlns:a="http://schemas.openxmlformats.org/drawingml/2006/main" noGrp="1"/>
          </p:cNvSpPr>
          <p:nvPr/>
        </p:nvSpPr>
        <p:spPr>
          <a:xfrm xmlns:a="http://schemas.openxmlformats.org/drawingml/2006/main">
            <a:off x="514350" y="5467350"/>
            <a:ext cx="10820400" cy="666750"/>
          </a:xfrm>
          <a:prstGeom xmlns:a="http://schemas.openxmlformats.org/drawingml/2006/main" prst="roundRect">
            <a:avLst>
              <a:gd name="adj" fmla="val 11429"/>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61" name="v16-s10-boundary-label">
            <a:extLst xmlns:a="http://schemas.openxmlformats.org/drawingml/2006/main">
              <a:ext uri="{FF2B5EF4-FFF2-40B4-BE49-F238E27FC236}">
                <a16:creationId xmlns:a16="http://schemas.microsoft.com/office/drawing/2014/main" id="{BA6E24AA-7CBD-4A72-8304-A2FAE4D02A8C}"/>
              </a:ext>
            </a:extLst>
          </p:cNvPr>
          <p:cNvSpPr>
            <a:spLocks xmlns:a="http://schemas.openxmlformats.org/drawingml/2006/main" noGrp="1"/>
          </p:cNvSpPr>
          <p:nvPr/>
        </p:nvSpPr>
        <p:spPr>
          <a:xfrm xmlns:a="http://schemas.openxmlformats.org/drawingml/2006/main">
            <a:off x="685800" y="5562600"/>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71ECE3"/>
                </a:solidFill>
                <a:latin typeface="Consolas"/>
                <a:ea typeface="Consolas"/>
                <a:cs typeface="Consolas"/>
              </a:defRPr>
            </a:pPr>
            <a:r>
              <a:rPr sz="920" b="1">
                <a:solidFill>
                  <a:srgbClr val="71ECE3"/>
                </a:solidFill>
                <a:latin typeface="Consolas"/>
                <a:ea typeface="Consolas"/>
                <a:cs typeface="Consolas"/>
              </a:rPr>
              <a:t>CURRENT DECK BOUNDARY</a:t>
            </a:r>
          </a:p>
        </p:txBody>
      </p:sp>
      <p:sp>
        <p:nvSpPr>
          <p:cNvPr id="62" name="v16-s10-boundary-text">
            <a:extLst xmlns:a="http://schemas.openxmlformats.org/drawingml/2006/main">
              <a:ext uri="{FF2B5EF4-FFF2-40B4-BE49-F238E27FC236}">
                <a16:creationId xmlns:a16="http://schemas.microsoft.com/office/drawing/2014/main" id="{35DD3DC1-2873-4C8B-81A7-9FDA24CB445D}"/>
              </a:ext>
            </a:extLst>
          </p:cNvPr>
          <p:cNvSpPr>
            <a:spLocks xmlns:a="http://schemas.openxmlformats.org/drawingml/2006/main" noGrp="1"/>
          </p:cNvSpPr>
          <p:nvPr/>
        </p:nvSpPr>
        <p:spPr>
          <a:xfrm xmlns:a="http://schemas.openxmlformats.org/drawingml/2006/main">
            <a:off x="685800" y="5743575"/>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20" b="1">
                <a:solidFill>
                  <a:srgbClr val="FFFFFF"/>
                </a:solidFill>
                <a:latin typeface="Arial"/>
                <a:ea typeface="Arial"/>
                <a:cs typeface="Arial"/>
              </a:defRPr>
            </a:pPr>
            <a:r>
              <a:rPr sz="1520" b="1">
                <a:solidFill>
                  <a:srgbClr val="FFFFFF"/>
                </a:solidFill>
                <a:latin typeface="Arial"/>
                <a:ea typeface="Arial"/>
                <a:cs typeface="Arial"/>
              </a:rPr>
              <a:t>Qualification authorization advances Stage 03 only</a:t>
            </a:r>
          </a:p>
        </p:txBody>
      </p:sp>
    </p:spTree>
    <p:extLst>
      <p:ext uri="{BB962C8B-B14F-4D97-AF65-F5344CB8AC3E}">
        <p14:creationId xmlns:p14="http://schemas.microsoft.com/office/powerpoint/2010/main" val="692434701"/>
      </p:ext>
    </p:extLst>
  </p:cSld>
</p:sld>
</file>

<file path=ppt/slides/slide14.xml><?xml version="1.0" encoding="utf-8"?>
<p:sld xmlns:p="http://schemas.openxmlformats.org/presentationml/2006/main">
  <p:cSld>
    <p:bg>
      <p:bgPr>
        <a:solidFill xmlns:a="http://schemas.openxmlformats.org/drawingml/2006/main">
          <a:srgbClr val="F3F7F8"/>
        </a:solidFill>
      </p:bgPr>
    </p:bg>
    <p:spTree>
      <p:nvGrpSpPr>
        <p:cNvPr id="1" name=""/>
        <p:cNvGrpSpPr/>
        <p:nvPr/>
      </p:nvGrpSpPr>
      <p:grpSpPr>
        <a:xfrm xmlns:a="http://schemas.openxmlformats.org/drawingml/2006/main"/>
      </p:grpSpPr>
      <p:sp>
        <p:nvSpPr>
          <p:cNvPr id="46" name="v16-bg-11">
            <a:extLst xmlns:a="http://schemas.openxmlformats.org/drawingml/2006/main">
              <a:ext uri="{FF2B5EF4-FFF2-40B4-BE49-F238E27FC236}">
                <a16:creationId xmlns:a16="http://schemas.microsoft.com/office/drawing/2014/main" id="{43B428F4-2793-463B-958A-F9984AE642F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1">
            <a:extLst xmlns:a="http://schemas.openxmlformats.org/drawingml/2006/main">
              <a:ext uri="{FF2B5EF4-FFF2-40B4-BE49-F238E27FC236}">
                <a16:creationId xmlns:a16="http://schemas.microsoft.com/office/drawing/2014/main" id="{4B3A09FE-FEDD-4CD9-8633-CA576795363E}"/>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1">
            <a:extLst xmlns:a="http://schemas.openxmlformats.org/drawingml/2006/main">
              <a:ext uri="{FF2B5EF4-FFF2-40B4-BE49-F238E27FC236}">
                <a16:creationId xmlns:a16="http://schemas.microsoft.com/office/drawing/2014/main" id="{CB2A983D-C70E-46B8-97C3-A1C56B57FE99}"/>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B · SOURCE LEDGER</a:t>
            </a:r>
          </a:p>
        </p:txBody>
      </p:sp>
      <p:sp>
        <p:nvSpPr>
          <p:cNvPr id="4" name="v16-title-11">
            <a:extLst xmlns:a="http://schemas.openxmlformats.org/drawingml/2006/main">
              <a:ext uri="{FF2B5EF4-FFF2-40B4-BE49-F238E27FC236}">
                <a16:creationId xmlns:a16="http://schemas.microsoft.com/office/drawing/2014/main" id="{E720FE59-D997-4B75-B829-799F0F794C50}"/>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2800" b="1">
                <a:solidFill>
                  <a:srgbClr val="0A2434"/>
                </a:solidFill>
                <a:latin typeface="Arial"/>
              </a:rPr>
              <a:t>DDR5, AI Power, TSMC IoT &amp; 3D Chiplet Source Ledger</a:t>
            </a:r>
          </a:p>
        </p:txBody>
      </p:sp>
      <p:sp>
        <p:nvSpPr>
          <p:cNvPr id="5" name="v16-subtitle-11">
            <a:extLst xmlns:a="http://schemas.openxmlformats.org/drawingml/2006/main">
              <a:ext uri="{FF2B5EF4-FFF2-40B4-BE49-F238E27FC236}">
                <a16:creationId xmlns:a16="http://schemas.microsoft.com/office/drawing/2014/main" id="{9CC7AEAA-6920-4DBF-8F9A-D354E5AB47ED}"/>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rPr>
              <a:t>Explicit public contracts bound every semiconductor qualification opportunity</a:t>
            </a:r>
          </a:p>
        </p:txBody>
      </p:sp>
      <p:sp>
        <p:nvSpPr>
          <p:cNvPr id="6" name="motif-line-0">
            <a:extLst xmlns:a="http://schemas.openxmlformats.org/drawingml/2006/main">
              <a:ext uri="{FF2B5EF4-FFF2-40B4-BE49-F238E27FC236}">
                <a16:creationId xmlns:a16="http://schemas.microsoft.com/office/drawing/2014/main" id="{284BA8F9-97EC-48B7-A567-A145207E54E7}"/>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0DB3C271-5401-40B0-A706-0EE446B5E7C1}"/>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C49F0A44-21EF-4534-BE3E-2BDFE1AAFB29}"/>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C011F7EF-10FD-4949-A85E-DD8224BDB80E}"/>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019F2965-C3FB-4015-9112-134D8373C771}"/>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195DD1F6-EA91-4B89-89E2-DAD004BC81BC}"/>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36796DCC-7F7E-46B8-9E1E-00EEB1BE1BC6}"/>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27432881-ADE5-4EA0-9D67-77D0AAFA4E0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D52123E8-F4EC-466F-B53F-ABF7E111283B}"/>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3ABC9823-8E78-4E64-9F5D-FE7CA2AAA1A5}"/>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1">
            <a:extLst xmlns:a="http://schemas.openxmlformats.org/drawingml/2006/main">
              <a:ext uri="{FF2B5EF4-FFF2-40B4-BE49-F238E27FC236}">
                <a16:creationId xmlns:a16="http://schemas.microsoft.com/office/drawing/2014/main" id="{02F20E73-7D98-4521-BFBF-08EB5BBC0F5E}"/>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1">
            <a:extLst xmlns:a="http://schemas.openxmlformats.org/drawingml/2006/main">
              <a:ext uri="{FF2B5EF4-FFF2-40B4-BE49-F238E27FC236}">
                <a16:creationId xmlns:a16="http://schemas.microsoft.com/office/drawing/2014/main" id="{B23237B4-8F05-490D-B5A5-35A837CB9648}"/>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1">
            <a:extLst xmlns:a="http://schemas.openxmlformats.org/drawingml/2006/main">
              <a:ext uri="{FF2B5EF4-FFF2-40B4-BE49-F238E27FC236}">
                <a16:creationId xmlns:a16="http://schemas.microsoft.com/office/drawing/2014/main" id="{620498D8-87A4-4968-A0E2-7E8C6D200127}"/>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14</a:t>
            </a:r>
          </a:p>
        </p:txBody>
      </p:sp>
      <p:sp>
        <p:nvSpPr>
          <p:cNvPr id="19" name="v16-s11-h-0">
            <a:extLst xmlns:a="http://schemas.openxmlformats.org/drawingml/2006/main">
              <a:ext uri="{FF2B5EF4-FFF2-40B4-BE49-F238E27FC236}">
                <a16:creationId xmlns:a16="http://schemas.microsoft.com/office/drawing/2014/main" id="{DC83CC48-9E7C-4DBA-B0D0-F60EA21793DF}"/>
              </a:ext>
            </a:extLst>
          </p:cNvPr>
          <p:cNvSpPr>
            <a:spLocks xmlns:a="http://schemas.openxmlformats.org/drawingml/2006/main" noGrp="1"/>
          </p:cNvSpPr>
          <p:nvPr/>
        </p:nvSpPr>
        <p:spPr>
          <a:xfrm xmlns:a="http://schemas.openxmlformats.org/drawingml/2006/main">
            <a:off x="514350" y="20574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SOCKET</a:t>
            </a:r>
          </a:p>
        </p:txBody>
      </p:sp>
      <p:sp>
        <p:nvSpPr>
          <p:cNvPr id="20" name="v16-s11-h-1">
            <a:extLst xmlns:a="http://schemas.openxmlformats.org/drawingml/2006/main">
              <a:ext uri="{FF2B5EF4-FFF2-40B4-BE49-F238E27FC236}">
                <a16:creationId xmlns:a16="http://schemas.microsoft.com/office/drawing/2014/main" id="{8DF03EC9-240C-49C3-A32D-1FD23DDBC43D}"/>
              </a:ext>
            </a:extLst>
          </p:cNvPr>
          <p:cNvSpPr>
            <a:spLocks xmlns:a="http://schemas.openxmlformats.org/drawingml/2006/main" noGrp="1"/>
          </p:cNvSpPr>
          <p:nvPr/>
        </p:nvSpPr>
        <p:spPr>
          <a:xfrm xmlns:a="http://schemas.openxmlformats.org/drawingml/2006/main">
            <a:off x="2095500" y="2057400"/>
            <a:ext cx="3009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PUBLIC SOURCE</a:t>
            </a:r>
          </a:p>
        </p:txBody>
      </p:sp>
      <p:sp>
        <p:nvSpPr>
          <p:cNvPr id="21" name="v16-s11-h-2">
            <a:extLst xmlns:a="http://schemas.openxmlformats.org/drawingml/2006/main">
              <a:ext uri="{FF2B5EF4-FFF2-40B4-BE49-F238E27FC236}">
                <a16:creationId xmlns:a16="http://schemas.microsoft.com/office/drawing/2014/main" id="{1F7DA1EB-CEC1-4CF2-B223-15A0A58D6D67}"/>
              </a:ext>
            </a:extLst>
          </p:cNvPr>
          <p:cNvSpPr>
            <a:spLocks xmlns:a="http://schemas.openxmlformats.org/drawingml/2006/main" noGrp="1"/>
          </p:cNvSpPr>
          <p:nvPr/>
        </p:nvSpPr>
        <p:spPr>
          <a:xfrm xmlns:a="http://schemas.openxmlformats.org/drawingml/2006/main">
            <a:off x="5257800" y="2057400"/>
            <a:ext cx="304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PERSISTENT STATE</a:t>
            </a:r>
          </a:p>
        </p:txBody>
      </p:sp>
      <p:sp>
        <p:nvSpPr>
          <p:cNvPr id="22" name="v16-s11-h-3">
            <a:extLst xmlns:a="http://schemas.openxmlformats.org/drawingml/2006/main">
              <a:ext uri="{FF2B5EF4-FFF2-40B4-BE49-F238E27FC236}">
                <a16:creationId xmlns:a16="http://schemas.microsoft.com/office/drawing/2014/main" id="{0026F52B-5917-4CF6-870A-2BBDB327168A}"/>
              </a:ext>
            </a:extLst>
          </p:cNvPr>
          <p:cNvSpPr>
            <a:spLocks xmlns:a="http://schemas.openxmlformats.org/drawingml/2006/main" noGrp="1"/>
          </p:cNvSpPr>
          <p:nvPr/>
        </p:nvSpPr>
        <p:spPr>
          <a:xfrm xmlns:a="http://schemas.openxmlformats.org/drawingml/2006/main">
            <a:off x="8458200" y="2057400"/>
            <a:ext cx="2724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OPEN QUALIFICATION</a:t>
            </a:r>
          </a:p>
        </p:txBody>
      </p:sp>
      <p:sp>
        <p:nvSpPr>
          <p:cNvPr id="23" name="v16-s11-rule">
            <a:extLst xmlns:a="http://schemas.openxmlformats.org/drawingml/2006/main">
              <a:ext uri="{FF2B5EF4-FFF2-40B4-BE49-F238E27FC236}">
                <a16:creationId xmlns:a16="http://schemas.microsoft.com/office/drawing/2014/main" id="{6FA75FF7-BB7D-4417-8D94-783818B6DA91}"/>
              </a:ext>
            </a:extLst>
          </p:cNvPr>
          <p:cNvSpPr>
            <a:spLocks xmlns:a="http://schemas.openxmlformats.org/drawingml/2006/main" noGrp="1"/>
          </p:cNvSpPr>
          <p:nvPr/>
        </p:nvSpPr>
        <p:spPr>
          <a:xfrm xmlns:a="http://schemas.openxmlformats.org/drawingml/2006/main">
            <a:off x="514350" y="2324100"/>
            <a:ext cx="10820400" cy="19050"/>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24" name="v16-s11-row-0">
            <a:extLst xmlns:a="http://schemas.openxmlformats.org/drawingml/2006/main">
              <a:ext uri="{FF2B5EF4-FFF2-40B4-BE49-F238E27FC236}">
                <a16:creationId xmlns:a16="http://schemas.microsoft.com/office/drawing/2014/main" id="{3F45DC08-B6BA-44D7-999E-C6C0D27B3058}"/>
              </a:ext>
            </a:extLst>
          </p:cNvPr>
          <p:cNvSpPr>
            <a:spLocks xmlns:a="http://schemas.openxmlformats.org/drawingml/2006/main" noGrp="1"/>
          </p:cNvSpPr>
          <p:nvPr/>
        </p:nvSpPr>
        <p:spPr>
          <a:xfrm xmlns:a="http://schemas.openxmlformats.org/drawingml/2006/main">
            <a:off x="514350" y="2419350"/>
            <a:ext cx="10820400" cy="685800"/>
          </a:xfrm>
          <a:prstGeom xmlns:a="http://schemas.openxmlformats.org/drawingml/2006/main" prst="roundRect">
            <a:avLst>
              <a:gd name="adj" fmla="val 6944"/>
            </a:avLst>
          </a:prstGeom>
          <a:solidFill xmlns:a="http://schemas.openxmlformats.org/drawingml/2006/main">
            <a:srgbClr val="FFFFFF"/>
          </a:solidFill>
          <a:ln xmlns:a="http://schemas.openxmlformats.org/drawingml/2006/main" w="6668">
            <a:solidFill>
              <a:srgbClr val="C9D6DA"/>
            </a:solidFill>
            <a:prstDash val="solid"/>
          </a:ln>
        </p:spPr>
        <p:txBody xmlns:a="http://schemas.openxmlformats.org/drawingml/2006/main">
          <a:bodyPr/>
          <a:p/>
        </p:txBody>
      </p:sp>
      <p:sp>
        <p:nvSpPr>
          <p:cNvPr id="25" name="v16-s11-c-0-0">
            <a:extLst xmlns:a="http://schemas.openxmlformats.org/drawingml/2006/main">
              <a:ext uri="{FF2B5EF4-FFF2-40B4-BE49-F238E27FC236}">
                <a16:creationId xmlns:a16="http://schemas.microsoft.com/office/drawing/2014/main" id="{2375CEF0-BD2D-42FA-9C59-D64869154BDE}"/>
              </a:ext>
            </a:extLst>
          </p:cNvPr>
          <p:cNvSpPr>
            <a:spLocks xmlns:a="http://schemas.openxmlformats.org/drawingml/2006/main" noGrp="1"/>
          </p:cNvSpPr>
          <p:nvPr/>
        </p:nvSpPr>
        <p:spPr>
          <a:xfrm xmlns:a="http://schemas.openxmlformats.org/drawingml/2006/main">
            <a:off x="628650" y="25812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DDR5 PMIC</a:t>
            </a:r>
          </a:p>
        </p:txBody>
      </p:sp>
      <p:sp>
        <p:nvSpPr>
          <p:cNvPr id="26" name="v16-s11-c-0-1">
            <a:extLst xmlns:a="http://schemas.openxmlformats.org/drawingml/2006/main">
              <a:ext uri="{FF2B5EF4-FFF2-40B4-BE49-F238E27FC236}">
                <a16:creationId xmlns:a16="http://schemas.microsoft.com/office/drawing/2014/main" id="{F3ABC91F-8999-45A3-B717-6ADBC5397DE4}"/>
              </a:ext>
            </a:extLst>
          </p:cNvPr>
          <p:cNvSpPr>
            <a:spLocks xmlns:a="http://schemas.openxmlformats.org/drawingml/2006/main" noGrp="1"/>
          </p:cNvSpPr>
          <p:nvPr/>
        </p:nvSpPr>
        <p:spPr>
          <a:xfrm xmlns:a="http://schemas.openxmlformats.org/drawingml/2006/main">
            <a:off x="2209800" y="25146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420" b="1">
                <a:solidFill>
                  <a:srgbClr val="385365"/>
                </a:solidFill>
                <a:latin typeface="Arial"/>
                <a:ea typeface="Arial"/>
                <a:cs typeface="Arial"/>
              </a:rPr>
              <a:t>Renesas RRG5322x-A20</a:t>
            </a:r>
          </a:p>
        </p:txBody>
      </p:sp>
      <p:sp>
        <p:nvSpPr>
          <p:cNvPr id="27" name="v16-s11-c-0-2">
            <a:extLst xmlns:a="http://schemas.openxmlformats.org/drawingml/2006/main">
              <a:ext uri="{FF2B5EF4-FFF2-40B4-BE49-F238E27FC236}">
                <a16:creationId xmlns:a16="http://schemas.microsoft.com/office/drawing/2014/main" id="{4C92FE6C-8928-4B0E-AB83-CBE8C7767B27}"/>
              </a:ext>
            </a:extLst>
          </p:cNvPr>
          <p:cNvSpPr>
            <a:spLocks xmlns:a="http://schemas.openxmlformats.org/drawingml/2006/main" noGrp="1"/>
          </p:cNvSpPr>
          <p:nvPr/>
        </p:nvSpPr>
        <p:spPr>
          <a:xfrm xmlns:a="http://schemas.openxmlformats.org/drawingml/2006/main">
            <a:off x="5372100" y="25146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MTP · sequencing · persistent error-log registers</a:t>
            </a:r>
          </a:p>
        </p:txBody>
      </p:sp>
      <p:sp>
        <p:nvSpPr>
          <p:cNvPr id="28" name="v16-s11-c-0-3">
            <a:extLst xmlns:a="http://schemas.openxmlformats.org/drawingml/2006/main">
              <a:ext uri="{FF2B5EF4-FFF2-40B4-BE49-F238E27FC236}">
                <a16:creationId xmlns:a16="http://schemas.microsoft.com/office/drawing/2014/main" id="{E51D7BFF-F5FE-4089-B6F3-1959A0DFDD11}"/>
              </a:ext>
            </a:extLst>
          </p:cNvPr>
          <p:cNvSpPr>
            <a:spLocks xmlns:a="http://schemas.openxmlformats.org/drawingml/2006/main" noGrp="1"/>
          </p:cNvSpPr>
          <p:nvPr/>
        </p:nvSpPr>
        <p:spPr>
          <a:xfrm xmlns:a="http://schemas.openxmlformats.org/drawingml/2006/main">
            <a:off x="8572500" y="25146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Target payload · writes · node / I/O · program path</a:t>
            </a:r>
          </a:p>
        </p:txBody>
      </p:sp>
      <p:sp>
        <p:nvSpPr>
          <p:cNvPr id="29" name="v16-s11-row-1">
            <a:extLst xmlns:a="http://schemas.openxmlformats.org/drawingml/2006/main">
              <a:ext uri="{FF2B5EF4-FFF2-40B4-BE49-F238E27FC236}">
                <a16:creationId xmlns:a16="http://schemas.microsoft.com/office/drawing/2014/main" id="{E0177142-33B1-4B4A-9ABF-F3C137EDC157}"/>
              </a:ext>
            </a:extLst>
          </p:cNvPr>
          <p:cNvSpPr>
            <a:spLocks xmlns:a="http://schemas.openxmlformats.org/drawingml/2006/main" noGrp="1"/>
          </p:cNvSpPr>
          <p:nvPr/>
        </p:nvSpPr>
        <p:spPr>
          <a:xfrm xmlns:a="http://schemas.openxmlformats.org/drawingml/2006/main">
            <a:off x="514350" y="3219450"/>
            <a:ext cx="10820400" cy="685800"/>
          </a:xfrm>
          <a:prstGeom xmlns:a="http://schemas.openxmlformats.org/drawingml/2006/main" prst="roundRect">
            <a:avLst>
              <a:gd name="adj" fmla="val 6944"/>
            </a:avLst>
          </a:prstGeom>
          <a:solidFill xmlns:a="http://schemas.openxmlformats.org/drawingml/2006/main">
            <a:srgbClr val="ECF2F4"/>
          </a:solidFill>
          <a:ln xmlns:a="http://schemas.openxmlformats.org/drawingml/2006/main" w="6668">
            <a:solidFill>
              <a:srgbClr val="C9D6DA"/>
            </a:solidFill>
            <a:prstDash val="solid"/>
          </a:ln>
        </p:spPr>
        <p:txBody xmlns:a="http://schemas.openxmlformats.org/drawingml/2006/main">
          <a:bodyPr/>
          <a:p/>
        </p:txBody>
      </p:sp>
      <p:sp>
        <p:nvSpPr>
          <p:cNvPr id="30" name="v16-s11-c-1-0">
            <a:extLst xmlns:a="http://schemas.openxmlformats.org/drawingml/2006/main">
              <a:ext uri="{FF2B5EF4-FFF2-40B4-BE49-F238E27FC236}">
                <a16:creationId xmlns:a16="http://schemas.microsoft.com/office/drawing/2014/main" id="{AEEC63D9-7874-4026-BF57-6AD76233B788}"/>
              </a:ext>
            </a:extLst>
          </p:cNvPr>
          <p:cNvSpPr>
            <a:spLocks xmlns:a="http://schemas.openxmlformats.org/drawingml/2006/main" noGrp="1"/>
          </p:cNvSpPr>
          <p:nvPr/>
        </p:nvSpPr>
        <p:spPr>
          <a:xfrm xmlns:a="http://schemas.openxmlformats.org/drawingml/2006/main">
            <a:off x="628650" y="33813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SPD Hub</a:t>
            </a:r>
          </a:p>
        </p:txBody>
      </p:sp>
      <p:sp>
        <p:nvSpPr>
          <p:cNvPr id="31" name="v16-s11-c-1-1">
            <a:extLst xmlns:a="http://schemas.openxmlformats.org/drawingml/2006/main">
              <a:ext uri="{FF2B5EF4-FFF2-40B4-BE49-F238E27FC236}">
                <a16:creationId xmlns:a16="http://schemas.microsoft.com/office/drawing/2014/main" id="{ECE03534-B2A6-4D9A-8447-3C4E01530447}"/>
              </a:ext>
            </a:extLst>
          </p:cNvPr>
          <p:cNvSpPr>
            <a:spLocks xmlns:a="http://schemas.openxmlformats.org/drawingml/2006/main" noGrp="1"/>
          </p:cNvSpPr>
          <p:nvPr/>
        </p:nvSpPr>
        <p:spPr>
          <a:xfrm xmlns:a="http://schemas.openxmlformats.org/drawingml/2006/main">
            <a:off x="2209800" y="33147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420" b="1">
                <a:solidFill>
                  <a:srgbClr val="385365"/>
                </a:solidFill>
                <a:latin typeface="Arial"/>
                <a:ea typeface="Arial"/>
                <a:cs typeface="Arial"/>
              </a:rPr>
              <a:t>Renesas SPD5118 / Montage M88SPD5118</a:t>
            </a:r>
          </a:p>
        </p:txBody>
      </p:sp>
      <p:sp>
        <p:nvSpPr>
          <p:cNvPr id="32" name="v16-s11-c-1-2">
            <a:extLst xmlns:a="http://schemas.openxmlformats.org/drawingml/2006/main">
              <a:ext uri="{FF2B5EF4-FFF2-40B4-BE49-F238E27FC236}">
                <a16:creationId xmlns:a16="http://schemas.microsoft.com/office/drawing/2014/main" id="{DD28B672-DBF0-48A9-A5CF-02D8AD756A71}"/>
              </a:ext>
            </a:extLst>
          </p:cNvPr>
          <p:cNvSpPr>
            <a:spLocks xmlns:a="http://schemas.openxmlformats.org/drawingml/2006/main" noGrp="1"/>
          </p:cNvSpPr>
          <p:nvPr/>
        </p:nvSpPr>
        <p:spPr>
          <a:xfrm xmlns:a="http://schemas.openxmlformats.org/drawingml/2006/main">
            <a:off x="5372100" y="33147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1024-byte / 8-Kbit protected EEPROM blocks</a:t>
            </a:r>
          </a:p>
        </p:txBody>
      </p:sp>
      <p:sp>
        <p:nvSpPr>
          <p:cNvPr id="33" name="v16-s11-c-1-3">
            <a:extLst xmlns:a="http://schemas.openxmlformats.org/drawingml/2006/main">
              <a:ext uri="{FF2B5EF4-FFF2-40B4-BE49-F238E27FC236}">
                <a16:creationId xmlns:a16="http://schemas.microsoft.com/office/drawing/2014/main" id="{72346C82-60FE-464B-B4C3-0662353DD3BC}"/>
              </a:ext>
            </a:extLst>
          </p:cNvPr>
          <p:cNvSpPr>
            <a:spLocks xmlns:a="http://schemas.openxmlformats.org/drawingml/2006/main" noGrp="1"/>
          </p:cNvSpPr>
          <p:nvPr/>
        </p:nvSpPr>
        <p:spPr>
          <a:xfrm xmlns:a="http://schemas.openxmlformats.org/drawingml/2006/main">
            <a:off x="8572500" y="33147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Named module · owner · endurance · recovery</a:t>
            </a:r>
          </a:p>
        </p:txBody>
      </p:sp>
      <p:sp>
        <p:nvSpPr>
          <p:cNvPr id="34" name="v16-s11-row-2">
            <a:extLst xmlns:a="http://schemas.openxmlformats.org/drawingml/2006/main">
              <a:ext uri="{FF2B5EF4-FFF2-40B4-BE49-F238E27FC236}">
                <a16:creationId xmlns:a16="http://schemas.microsoft.com/office/drawing/2014/main" id="{2A387D63-5798-4EB0-A8C7-2A53518FA0A3}"/>
              </a:ext>
            </a:extLst>
          </p:cNvPr>
          <p:cNvSpPr>
            <a:spLocks xmlns:a="http://schemas.openxmlformats.org/drawingml/2006/main" noGrp="1"/>
          </p:cNvSpPr>
          <p:nvPr/>
        </p:nvSpPr>
        <p:spPr>
          <a:xfrm xmlns:a="http://schemas.openxmlformats.org/drawingml/2006/main">
            <a:off x="514350" y="4019550"/>
            <a:ext cx="10820400" cy="685800"/>
          </a:xfrm>
          <a:prstGeom xmlns:a="http://schemas.openxmlformats.org/drawingml/2006/main" prst="roundRect">
            <a:avLst>
              <a:gd name="adj" fmla="val 6944"/>
            </a:avLst>
          </a:prstGeom>
          <a:solidFill xmlns:a="http://schemas.openxmlformats.org/drawingml/2006/main">
            <a:srgbClr val="FFFFFF"/>
          </a:solidFill>
          <a:ln xmlns:a="http://schemas.openxmlformats.org/drawingml/2006/main" w="6668">
            <a:solidFill>
              <a:srgbClr val="C9D6DA"/>
            </a:solidFill>
            <a:prstDash val="solid"/>
          </a:ln>
        </p:spPr>
        <p:txBody xmlns:a="http://schemas.openxmlformats.org/drawingml/2006/main">
          <a:bodyPr/>
          <a:p/>
        </p:txBody>
      </p:sp>
      <p:sp>
        <p:nvSpPr>
          <p:cNvPr id="35" name="v16-s11-c-2-0">
            <a:extLst xmlns:a="http://schemas.openxmlformats.org/drawingml/2006/main">
              <a:ext uri="{FF2B5EF4-FFF2-40B4-BE49-F238E27FC236}">
                <a16:creationId xmlns:a16="http://schemas.microsoft.com/office/drawing/2014/main" id="{23B72E81-D67D-49EF-9A9E-1ECCAF1F9912}"/>
              </a:ext>
            </a:extLst>
          </p:cNvPr>
          <p:cNvSpPr>
            <a:spLocks xmlns:a="http://schemas.openxmlformats.org/drawingml/2006/main" noGrp="1"/>
          </p:cNvSpPr>
          <p:nvPr/>
        </p:nvSpPr>
        <p:spPr>
          <a:xfrm xmlns:a="http://schemas.openxmlformats.org/drawingml/2006/main">
            <a:off x="628650" y="41814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AI power</a:t>
            </a:r>
          </a:p>
        </p:txBody>
      </p:sp>
      <p:sp>
        <p:nvSpPr>
          <p:cNvPr id="36" name="v16-s11-c-2-1">
            <a:extLst xmlns:a="http://schemas.openxmlformats.org/drawingml/2006/main">
              <a:ext uri="{FF2B5EF4-FFF2-40B4-BE49-F238E27FC236}">
                <a16:creationId xmlns:a16="http://schemas.microsoft.com/office/drawing/2014/main" id="{4EBA08E8-ED80-4470-9037-F4300E51ED45}"/>
              </a:ext>
            </a:extLst>
          </p:cNvPr>
          <p:cNvSpPr>
            <a:spLocks xmlns:a="http://schemas.openxmlformats.org/drawingml/2006/main" noGrp="1"/>
          </p:cNvSpPr>
          <p:nvPr/>
        </p:nvSpPr>
        <p:spPr>
          <a:xfrm xmlns:a="http://schemas.openxmlformats.org/drawingml/2006/main">
            <a:off x="2209800" y="41148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500" b="1">
                <a:solidFill>
                  <a:srgbClr val="0A2434"/>
                </a:solidFill>
                <a:latin typeface="Arial"/>
              </a:rPr>
              <a:t>Infineon XDPE1C284A / TSMC 22ULL-N4e</a:t>
            </a:r>
          </a:p>
        </p:txBody>
      </p:sp>
      <p:sp>
        <p:nvSpPr>
          <p:cNvPr id="37" name="v16-s11-c-2-2">
            <a:extLst xmlns:a="http://schemas.openxmlformats.org/drawingml/2006/main">
              <a:ext uri="{FF2B5EF4-FFF2-40B4-BE49-F238E27FC236}">
                <a16:creationId xmlns:a16="http://schemas.microsoft.com/office/drawing/2014/main" id="{60CEB816-3F48-4981-A854-9D5755BA2663}"/>
              </a:ext>
            </a:extLst>
          </p:cNvPr>
          <p:cNvSpPr>
            <a:spLocks xmlns:a="http://schemas.openxmlformats.org/drawingml/2006/main" noGrp="1"/>
          </p:cNvSpPr>
          <p:nvPr/>
        </p:nvSpPr>
        <p:spPr>
          <a:xfrm xmlns:a="http://schemas.openxmlformats.org/drawingml/2006/main">
            <a:off x="5372100" y="41148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Internal NVM in controller + pure-logic OTP Code Core</a:t>
            </a:r>
          </a:p>
        </p:txBody>
      </p:sp>
      <p:sp>
        <p:nvSpPr>
          <p:cNvPr id="38" name="v16-s11-c-2-3">
            <a:extLst xmlns:a="http://schemas.openxmlformats.org/drawingml/2006/main">
              <a:ext uri="{FF2B5EF4-FFF2-40B4-BE49-F238E27FC236}">
                <a16:creationId xmlns:a16="http://schemas.microsoft.com/office/drawing/2014/main" id="{A06AB7E3-AFAA-47E2-B41E-63A7EF796B59}"/>
              </a:ext>
            </a:extLst>
          </p:cNvPr>
          <p:cNvSpPr>
            <a:spLocks xmlns:a="http://schemas.openxmlformats.org/drawingml/2006/main" noGrp="1"/>
          </p:cNvSpPr>
          <p:nvPr/>
        </p:nvSpPr>
        <p:spPr>
          <a:xfrm xmlns:a="http://schemas.openxmlformats.org/drawingml/2006/main">
            <a:off x="8572500" y="41148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0.5V VDD · indirection patch tables · Synopsys fit</a:t>
            </a:r>
          </a:p>
        </p:txBody>
      </p:sp>
      <p:sp>
        <p:nvSpPr>
          <p:cNvPr id="39" name="v16-s11-row-3">
            <a:extLst xmlns:a="http://schemas.openxmlformats.org/drawingml/2006/main">
              <a:ext uri="{FF2B5EF4-FFF2-40B4-BE49-F238E27FC236}">
                <a16:creationId xmlns:a16="http://schemas.microsoft.com/office/drawing/2014/main" id="{13664C95-5C76-4FF5-8E27-E77F6DBD250C}"/>
              </a:ext>
            </a:extLst>
          </p:cNvPr>
          <p:cNvSpPr>
            <a:spLocks xmlns:a="http://schemas.openxmlformats.org/drawingml/2006/main" noGrp="1"/>
          </p:cNvSpPr>
          <p:nvPr/>
        </p:nvSpPr>
        <p:spPr>
          <a:xfrm xmlns:a="http://schemas.openxmlformats.org/drawingml/2006/main">
            <a:off x="514350" y="4819650"/>
            <a:ext cx="10820400" cy="685800"/>
          </a:xfrm>
          <a:prstGeom xmlns:a="http://schemas.openxmlformats.org/drawingml/2006/main" prst="roundRect">
            <a:avLst>
              <a:gd name="adj" fmla="val 6944"/>
            </a:avLst>
          </a:prstGeom>
          <a:solidFill xmlns:a="http://schemas.openxmlformats.org/drawingml/2006/main">
            <a:srgbClr val="ECF2F4"/>
          </a:solidFill>
          <a:ln xmlns:a="http://schemas.openxmlformats.org/drawingml/2006/main" w="6668">
            <a:solidFill>
              <a:srgbClr val="C9D6DA"/>
            </a:solidFill>
            <a:prstDash val="solid"/>
          </a:ln>
        </p:spPr>
        <p:txBody xmlns:a="http://schemas.openxmlformats.org/drawingml/2006/main">
          <a:bodyPr/>
          <a:p/>
        </p:txBody>
      </p:sp>
      <p:sp>
        <p:nvSpPr>
          <p:cNvPr id="40" name="v16-s11-c-3-0">
            <a:extLst xmlns:a="http://schemas.openxmlformats.org/drawingml/2006/main">
              <a:ext uri="{FF2B5EF4-FFF2-40B4-BE49-F238E27FC236}">
                <a16:creationId xmlns:a16="http://schemas.microsoft.com/office/drawing/2014/main" id="{1127B5A2-16E0-4366-98E9-AE22762C9CF7}"/>
              </a:ext>
            </a:extLst>
          </p:cNvPr>
          <p:cNvSpPr>
            <a:spLocks xmlns:a="http://schemas.openxmlformats.org/drawingml/2006/main" noGrp="1"/>
          </p:cNvSpPr>
          <p:nvPr/>
        </p:nvSpPr>
        <p:spPr>
          <a:xfrm xmlns:a="http://schemas.openxmlformats.org/drawingml/2006/main">
            <a:off x="628650" y="49815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AI power</a:t>
            </a:r>
          </a:p>
        </p:txBody>
      </p:sp>
      <p:sp>
        <p:nvSpPr>
          <p:cNvPr id="41" name="v16-s11-c-3-1">
            <a:extLst xmlns:a="http://schemas.openxmlformats.org/drawingml/2006/main">
              <a:ext uri="{FF2B5EF4-FFF2-40B4-BE49-F238E27FC236}">
                <a16:creationId xmlns:a16="http://schemas.microsoft.com/office/drawing/2014/main" id="{2A64EC09-5153-42B8-A0ED-B4D799498D21}"/>
              </a:ext>
            </a:extLst>
          </p:cNvPr>
          <p:cNvSpPr>
            <a:spLocks xmlns:a="http://schemas.openxmlformats.org/drawingml/2006/main" noGrp="1"/>
          </p:cNvSpPr>
          <p:nvPr/>
        </p:nvSpPr>
        <p:spPr>
          <a:xfrm xmlns:a="http://schemas.openxmlformats.org/drawingml/2006/main">
            <a:off x="2209800" y="49149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500" b="1">
                <a:solidFill>
                  <a:srgbClr val="0A2434"/>
                </a:solidFill>
                <a:latin typeface="Arial"/>
              </a:rPr>
              <a:t>UCIe 1.3 / OCP SPDM / NIST SP 800-208</a:t>
            </a:r>
          </a:p>
        </p:txBody>
      </p:sp>
      <p:sp>
        <p:nvSpPr>
          <p:cNvPr id="42" name="v16-s11-c-3-2">
            <a:extLst xmlns:a="http://schemas.openxmlformats.org/drawingml/2006/main">
              <a:ext uri="{FF2B5EF4-FFF2-40B4-BE49-F238E27FC236}">
                <a16:creationId xmlns:a16="http://schemas.microsoft.com/office/drawing/2014/main" id="{88CB22C6-18F5-4B11-81C7-028638C78A0B}"/>
              </a:ext>
            </a:extLst>
          </p:cNvPr>
          <p:cNvSpPr>
            <a:spLocks xmlns:a="http://schemas.openxmlformats.org/drawingml/2006/main" noGrp="1"/>
          </p:cNvSpPr>
          <p:nvPr/>
        </p:nvSpPr>
        <p:spPr>
          <a:xfrm xmlns:a="http://schemas.openxmlformats.org/drawingml/2006/main">
            <a:off x="5372100" y="49149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Die-to-Die hardware RoT + 32-byte LMS root hash</a:t>
            </a:r>
          </a:p>
        </p:txBody>
      </p:sp>
      <p:sp>
        <p:nvSpPr>
          <p:cNvPr id="43" name="v16-s11-c-3-3">
            <a:extLst xmlns:a="http://schemas.openxmlformats.org/drawingml/2006/main">
              <a:ext uri="{FF2B5EF4-FFF2-40B4-BE49-F238E27FC236}">
                <a16:creationId xmlns:a16="http://schemas.microsoft.com/office/drawing/2014/main" id="{3BF9EE6D-C7E8-4DED-8F02-0C6F9DB4EFCA}"/>
              </a:ext>
            </a:extLst>
          </p:cNvPr>
          <p:cNvSpPr>
            <a:spLocks xmlns:a="http://schemas.openxmlformats.org/drawingml/2006/main" noGrp="1"/>
          </p:cNvSpPr>
          <p:nvPr/>
        </p:nvSpPr>
        <p:spPr>
          <a:xfrm xmlns:a="http://schemas.openxmlformats.org/drawingml/2006/main">
            <a:off x="8572500" y="49149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Pre-bond KGD test key · OTS anti-rollback counter</a:t>
            </a:r>
          </a:p>
        </p:txBody>
      </p:sp>
      <p:sp>
        <p:nvSpPr>
          <p:cNvPr id="44" name="v16-s11-ceiling">
            <a:extLst xmlns:a="http://schemas.openxmlformats.org/drawingml/2006/main">
              <a:ext uri="{FF2B5EF4-FFF2-40B4-BE49-F238E27FC236}">
                <a16:creationId xmlns:a16="http://schemas.microsoft.com/office/drawing/2014/main" id="{EB767CA5-D2DB-4128-8567-F584DF620A09}"/>
              </a:ext>
            </a:extLst>
          </p:cNvPr>
          <p:cNvSpPr>
            <a:spLocks xmlns:a="http://schemas.openxmlformats.org/drawingml/2006/main" noGrp="1"/>
          </p:cNvSpPr>
          <p:nvPr/>
        </p:nvSpPr>
        <p:spPr>
          <a:xfrm xmlns:a="http://schemas.openxmlformats.org/drawingml/2006/main">
            <a:off x="514350" y="5810250"/>
            <a:ext cx="10820400" cy="323850"/>
          </a:xfrm>
          <a:prstGeom xmlns:a="http://schemas.openxmlformats.org/drawingml/2006/main" prst="roundRect">
            <a:avLst>
              <a:gd name="adj" fmla="val 23529"/>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5" name="v16-s11-ceiling-text">
            <a:extLst xmlns:a="http://schemas.openxmlformats.org/drawingml/2006/main">
              <a:ext uri="{FF2B5EF4-FFF2-40B4-BE49-F238E27FC236}">
                <a16:creationId xmlns:a16="http://schemas.microsoft.com/office/drawing/2014/main" id="{654714D4-B1E7-4B2C-9B02-0B351C769836}"/>
              </a:ext>
            </a:extLst>
          </p:cNvPr>
          <p:cNvSpPr>
            <a:spLocks xmlns:a="http://schemas.openxmlformats.org/drawingml/2006/main" noGrp="1"/>
          </p:cNvSpPr>
          <p:nvPr/>
        </p:nvSpPr>
        <p:spPr>
          <a:xfrm xmlns:a="http://schemas.openxmlformats.org/drawingml/2006/main">
            <a:off x="685800" y="5905500"/>
            <a:ext cx="10477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380" b="1">
                <a:solidFill>
                  <a:srgbClr val="FFFFFF"/>
                </a:solidFill>
                <a:latin typeface="Arial"/>
                <a:ea typeface="Arial"/>
                <a:cs typeface="Arial"/>
              </a:defRPr>
            </a:pPr>
            <a:r>
              <a:rPr sz="1380" b="1">
                <a:solidFill>
                  <a:srgbClr val="FFFFFF"/>
                </a:solidFill>
                <a:latin typeface="Arial"/>
                <a:ea typeface="Arial"/>
                <a:cs typeface="Arial"/>
              </a:rPr>
              <a:t>Named product evidence establishes an application socket—not Synopsys adoption</a:t>
            </a:r>
          </a:p>
        </p:txBody>
      </p:sp>
    </p:spTree>
    <p:extLst>
      <p:ext uri="{BB962C8B-B14F-4D97-AF65-F5344CB8AC3E}">
        <p14:creationId xmlns:p14="http://schemas.microsoft.com/office/powerpoint/2010/main" val="798295915"/>
      </p:ext>
    </p:extLst>
  </p:cSld>
</p:sld>
</file>

<file path=ppt/slides/slide15.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42" name="v16-bg-12">
            <a:extLst xmlns:a="http://schemas.openxmlformats.org/drawingml/2006/main">
              <a:ext uri="{FF2B5EF4-FFF2-40B4-BE49-F238E27FC236}">
                <a16:creationId xmlns:a16="http://schemas.microsoft.com/office/drawing/2014/main" id="{672F3374-26B2-40FB-9605-FFC2E44CF1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2">
            <a:extLst xmlns:a="http://schemas.openxmlformats.org/drawingml/2006/main">
              <a:ext uri="{FF2B5EF4-FFF2-40B4-BE49-F238E27FC236}">
                <a16:creationId xmlns:a16="http://schemas.microsoft.com/office/drawing/2014/main" id="{BA32EF2C-1521-48B9-A52A-C968AE7B0C21}"/>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2">
            <a:extLst xmlns:a="http://schemas.openxmlformats.org/drawingml/2006/main">
              <a:ext uri="{FF2B5EF4-FFF2-40B4-BE49-F238E27FC236}">
                <a16:creationId xmlns:a16="http://schemas.microsoft.com/office/drawing/2014/main" id="{020D8467-093C-447C-83C9-0EC79FCDC593}"/>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C · TRUST / SERVICE LEDGER</a:t>
            </a:r>
          </a:p>
        </p:txBody>
      </p:sp>
      <p:sp>
        <p:nvSpPr>
          <p:cNvPr id="4" name="v16-title-12">
            <a:extLst xmlns:a="http://schemas.openxmlformats.org/drawingml/2006/main">
              <a:ext uri="{FF2B5EF4-FFF2-40B4-BE49-F238E27FC236}">
                <a16:creationId xmlns:a16="http://schemas.microsoft.com/office/drawing/2014/main" id="{B1AE4223-3587-492B-934D-4D5408C5FD40}"/>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Persistent Semantics Are Explicit;</a:t>
            </a:r>
          </a:p>
          <a:p xmlns:a="http://schemas.openxmlformats.org/drawingml/2006/main">
            <a:pPr>
              <a:spcBef>
                <a:spcPts val="0"/>
              </a:spcBef>
              <a:spcAft>
                <a:spcPts val="200"/>
              </a:spcAft>
            </a:pPr>
            <a:r>
              <a:rPr sz="2700" b="1">
                <a:solidFill>
                  <a:srgbClr val="0A2434"/>
                </a:solidFill>
                <a:latin typeface="Arial"/>
              </a:rPr>
              <a:t>Implementation Technology Remains Bounded</a:t>
            </a:r>
          </a:p>
        </p:txBody>
      </p:sp>
      <p:sp>
        <p:nvSpPr>
          <p:cNvPr id="5" name="v16-subtitle-12">
            <a:extLst xmlns:a="http://schemas.openxmlformats.org/drawingml/2006/main">
              <a:ext uri="{FF2B5EF4-FFF2-40B4-BE49-F238E27FC236}">
                <a16:creationId xmlns:a16="http://schemas.microsoft.com/office/drawing/2014/main" id="{078847E4-8F86-4E6E-A9E8-68CFE0805C5E}"/>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Read every standard at the level it actually proves</a:t>
            </a:r>
          </a:p>
        </p:txBody>
      </p:sp>
      <p:sp>
        <p:nvSpPr>
          <p:cNvPr id="6" name="motif-line-0">
            <a:extLst xmlns:a="http://schemas.openxmlformats.org/drawingml/2006/main">
              <a:ext uri="{FF2B5EF4-FFF2-40B4-BE49-F238E27FC236}">
                <a16:creationId xmlns:a16="http://schemas.microsoft.com/office/drawing/2014/main" id="{622D26F7-77FF-48B9-A38F-7E679E52DCF4}"/>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D3137A6B-31EA-4E12-A1FA-005939018AC3}"/>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4391BD81-4009-4659-B464-AF8E525B0E17}"/>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AF476087-A7C0-41CF-BAE9-A5749C4F546E}"/>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8006323F-534C-4D98-BBBF-FAC804E28085}"/>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688308A1-3D73-4019-A7E2-333B9A6F4709}"/>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676218A3-7BA8-4EA4-91A1-2D0C698AE4B8}"/>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3C43B557-D8DA-43BB-9682-BD8F078F772F}"/>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DF65FFE2-5BF9-4DEE-8166-E636CBDC2AFD}"/>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06C2C31A-E491-4FAF-8A91-5B80E427F8FC}"/>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2">
            <a:extLst xmlns:a="http://schemas.openxmlformats.org/drawingml/2006/main">
              <a:ext uri="{FF2B5EF4-FFF2-40B4-BE49-F238E27FC236}">
                <a16:creationId xmlns:a16="http://schemas.microsoft.com/office/drawing/2014/main" id="{CA73A04E-E96B-4122-B3C9-4C439433E586}"/>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2">
            <a:extLst xmlns:a="http://schemas.openxmlformats.org/drawingml/2006/main">
              <a:ext uri="{FF2B5EF4-FFF2-40B4-BE49-F238E27FC236}">
                <a16:creationId xmlns:a16="http://schemas.microsoft.com/office/drawing/2014/main" id="{A4EBC065-B2B0-4287-BB7B-AE81A3C4AE10}"/>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2">
            <a:extLst xmlns:a="http://schemas.openxmlformats.org/drawingml/2006/main">
              <a:ext uri="{FF2B5EF4-FFF2-40B4-BE49-F238E27FC236}">
                <a16:creationId xmlns:a16="http://schemas.microsoft.com/office/drawing/2014/main" id="{5BCDEF00-D9A9-478F-97D4-EE836B16C162}"/>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15</a:t>
            </a:r>
          </a:p>
        </p:txBody>
      </p:sp>
      <p:sp>
        <p:nvSpPr>
          <p:cNvPr id="19" name="v16-s12-entry-0-shadow">
            <a:extLst xmlns:a="http://schemas.openxmlformats.org/drawingml/2006/main">
              <a:ext uri="{FF2B5EF4-FFF2-40B4-BE49-F238E27FC236}">
                <a16:creationId xmlns:a16="http://schemas.microsoft.com/office/drawing/2014/main" id="{C9FACFDE-7123-4E64-A268-E4E01133E66B}"/>
              </a:ext>
            </a:extLst>
          </p:cNvPr>
          <p:cNvSpPr>
            <a:spLocks xmlns:a="http://schemas.openxmlformats.org/drawingml/2006/main" noGrp="1"/>
          </p:cNvSpPr>
          <p:nvPr/>
        </p:nvSpPr>
        <p:spPr>
          <a:xfrm xmlns:a="http://schemas.openxmlformats.org/drawingml/2006/main">
            <a:off x="542925" y="2143125"/>
            <a:ext cx="10820400" cy="914400"/>
          </a:xfrm>
          <a:prstGeom xmlns:a="http://schemas.openxmlformats.org/drawingml/2006/main" prst="roundRect">
            <a:avLst>
              <a:gd name="adj" fmla="val 937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2-entry-0">
            <a:extLst xmlns:a="http://schemas.openxmlformats.org/drawingml/2006/main">
              <a:ext uri="{FF2B5EF4-FFF2-40B4-BE49-F238E27FC236}">
                <a16:creationId xmlns:a16="http://schemas.microsoft.com/office/drawing/2014/main" id="{FFB7435F-B8B0-4D31-A224-843B77AADA21}"/>
              </a:ext>
            </a:extLst>
          </p:cNvPr>
          <p:cNvSpPr>
            <a:spLocks xmlns:a="http://schemas.openxmlformats.org/drawingml/2006/main" noGrp="1"/>
          </p:cNvSpPr>
          <p:nvPr/>
        </p:nvSpPr>
        <p:spPr>
          <a:xfrm xmlns:a="http://schemas.openxmlformats.org/drawingml/2006/main">
            <a:off x="514350" y="2095500"/>
            <a:ext cx="10820400" cy="914400"/>
          </a:xfrm>
          <a:prstGeom xmlns:a="http://schemas.openxmlformats.org/drawingml/2006/main" prst="roundRect">
            <a:avLst>
              <a:gd name="adj" fmla="val 9375"/>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2-entry-0-accent">
            <a:extLst xmlns:a="http://schemas.openxmlformats.org/drawingml/2006/main">
              <a:ext uri="{FF2B5EF4-FFF2-40B4-BE49-F238E27FC236}">
                <a16:creationId xmlns:a16="http://schemas.microsoft.com/office/drawing/2014/main" id="{0CAF143A-48BE-4BBD-8349-A68D1ED09A7B}"/>
              </a:ext>
            </a:extLst>
          </p:cNvPr>
          <p:cNvSpPr>
            <a:spLocks xmlns:a="http://schemas.openxmlformats.org/drawingml/2006/main" noGrp="1"/>
          </p:cNvSpPr>
          <p:nvPr/>
        </p:nvSpPr>
        <p:spPr>
          <a:xfrm xmlns:a="http://schemas.openxmlformats.org/drawingml/2006/main">
            <a:off x="514350" y="2095500"/>
            <a:ext cx="66675" cy="914400"/>
          </a:xfrm>
          <a:prstGeom xmlns:a="http://schemas.openxmlformats.org/drawingml/2006/main" prst="roundRect">
            <a:avLst>
              <a:gd name="adj" fmla="val 42857"/>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2-tag-0">
            <a:extLst xmlns:a="http://schemas.openxmlformats.org/drawingml/2006/main">
              <a:ext uri="{FF2B5EF4-FFF2-40B4-BE49-F238E27FC236}">
                <a16:creationId xmlns:a16="http://schemas.microsoft.com/office/drawing/2014/main" id="{C7DF0EAE-05E8-4CD9-B834-B94A12673C55}"/>
              </a:ext>
            </a:extLst>
          </p:cNvPr>
          <p:cNvSpPr>
            <a:spLocks xmlns:a="http://schemas.openxmlformats.org/drawingml/2006/main" noGrp="1"/>
          </p:cNvSpPr>
          <p:nvPr/>
        </p:nvSpPr>
        <p:spPr>
          <a:xfrm xmlns:a="http://schemas.openxmlformats.org/drawingml/2006/main">
            <a:off x="762000" y="224790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176B5C"/>
                </a:solidFill>
                <a:latin typeface="Consolas"/>
              </a:rPr>
              <a:t>OAI-OAM + NIST SP 800-208 PQC</a:t>
            </a:r>
          </a:p>
        </p:txBody>
      </p:sp>
      <p:sp>
        <p:nvSpPr>
          <p:cNvPr id="23" name="v16-s12-title-0">
            <a:extLst xmlns:a="http://schemas.openxmlformats.org/drawingml/2006/main">
              <a:ext uri="{FF2B5EF4-FFF2-40B4-BE49-F238E27FC236}">
                <a16:creationId xmlns:a16="http://schemas.microsoft.com/office/drawing/2014/main" id="{D9813997-F74E-448B-9BF4-3F709372A10F}"/>
              </a:ext>
            </a:extLst>
          </p:cNvPr>
          <p:cNvSpPr>
            <a:spLocks xmlns:a="http://schemas.openxmlformats.org/drawingml/2006/main" noGrp="1"/>
          </p:cNvSpPr>
          <p:nvPr/>
        </p:nvSpPr>
        <p:spPr>
          <a:xfrm xmlns:a="http://schemas.openxmlformats.org/drawingml/2006/main">
            <a:off x="762000" y="2514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620" b="1">
                <a:solidFill>
                  <a:srgbClr val="0A2434"/>
                </a:solidFill>
                <a:latin typeface="Arial"/>
                <a:ea typeface="Arial"/>
                <a:cs typeface="Arial"/>
              </a:defRPr>
            </a:pPr>
            <a:r>
              <a:rPr sz="1700" b="1">
                <a:solidFill>
                  <a:srgbClr val="0A2434"/>
                </a:solidFill>
                <a:latin typeface="Arial"/>
              </a:rPr>
              <a:t>Immutable RoT · SVN · LMS state counter</a:t>
            </a:r>
          </a:p>
        </p:txBody>
      </p:sp>
      <p:sp>
        <p:nvSpPr>
          <p:cNvPr id="24" name="v16-s12-proof-0">
            <a:extLst xmlns:a="http://schemas.openxmlformats.org/drawingml/2006/main">
              <a:ext uri="{FF2B5EF4-FFF2-40B4-BE49-F238E27FC236}">
                <a16:creationId xmlns:a16="http://schemas.microsoft.com/office/drawing/2014/main" id="{BAB97E39-9AE2-4907-B174-F52485BAB45D}"/>
              </a:ext>
            </a:extLst>
          </p:cNvPr>
          <p:cNvSpPr>
            <a:spLocks xmlns:a="http://schemas.openxmlformats.org/drawingml/2006/main" noGrp="1"/>
          </p:cNvSpPr>
          <p:nvPr/>
        </p:nvSpPr>
        <p:spPr>
          <a:xfrm xmlns:a="http://schemas.openxmlformats.org/drawingml/2006/main">
            <a:off x="3943350" y="22669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0">
                <a:solidFill>
                  <a:srgbClr val="385365"/>
                </a:solidFill>
                <a:latin typeface="Arial"/>
                <a:ea typeface="Arial"/>
                <a:cs typeface="Arial"/>
              </a:defRPr>
            </a:pPr>
            <a:r>
              <a:rPr sz="1400" b="0">
                <a:solidFill>
                  <a:srgbClr val="385365"/>
                </a:solidFill>
                <a:latin typeface="Arial"/>
              </a:rPr>
              <a:t>AntiFuse irreversible burn blocks OTS key reuse; 32B root hash in OTP</a:t>
            </a:r>
          </a:p>
        </p:txBody>
      </p:sp>
      <p:sp>
        <p:nvSpPr>
          <p:cNvPr id="25" name="v16-s12-limit-0">
            <a:extLst xmlns:a="http://schemas.openxmlformats.org/drawingml/2006/main">
              <a:ext uri="{FF2B5EF4-FFF2-40B4-BE49-F238E27FC236}">
                <a16:creationId xmlns:a16="http://schemas.microsoft.com/office/drawing/2014/main" id="{7C60BECA-332B-4F78-B30A-74842A2BE356}"/>
              </a:ext>
            </a:extLst>
          </p:cNvPr>
          <p:cNvSpPr>
            <a:spLocks xmlns:a="http://schemas.openxmlformats.org/drawingml/2006/main" noGrp="1"/>
          </p:cNvSpPr>
          <p:nvPr/>
        </p:nvSpPr>
        <p:spPr>
          <a:xfrm xmlns:a="http://schemas.openxmlformats.org/drawingml/2006/main">
            <a:off x="7924800" y="226695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1">
                <a:solidFill>
                  <a:srgbClr val="0A2434"/>
                </a:solidFill>
                <a:latin typeface="Arial"/>
                <a:ea typeface="Arial"/>
                <a:cs typeface="Arial"/>
              </a:defRPr>
            </a:pPr>
            <a:r>
              <a:rPr sz="1420" b="1">
                <a:solidFill>
                  <a:srgbClr val="0A2434"/>
                </a:solidFill>
                <a:latin typeface="Arial"/>
                <a:ea typeface="Arial"/>
                <a:cs typeface="Arial"/>
              </a:rPr>
              <a:t>No supplier, macro, design win or volume is selected</a:t>
            </a:r>
          </a:p>
        </p:txBody>
      </p:sp>
      <p:sp>
        <p:nvSpPr>
          <p:cNvPr id="26" name="v16-s12-entry-1-shadow">
            <a:extLst xmlns:a="http://schemas.openxmlformats.org/drawingml/2006/main">
              <a:ext uri="{FF2B5EF4-FFF2-40B4-BE49-F238E27FC236}">
                <a16:creationId xmlns:a16="http://schemas.microsoft.com/office/drawing/2014/main" id="{98B3AAD5-2BBF-459E-A9D0-9DCDC4F9237A}"/>
              </a:ext>
            </a:extLst>
          </p:cNvPr>
          <p:cNvSpPr>
            <a:spLocks xmlns:a="http://schemas.openxmlformats.org/drawingml/2006/main" noGrp="1"/>
          </p:cNvSpPr>
          <p:nvPr/>
        </p:nvSpPr>
        <p:spPr>
          <a:xfrm xmlns:a="http://schemas.openxmlformats.org/drawingml/2006/main">
            <a:off x="542925" y="3267075"/>
            <a:ext cx="10820400" cy="914400"/>
          </a:xfrm>
          <a:prstGeom xmlns:a="http://schemas.openxmlformats.org/drawingml/2006/main" prst="roundRect">
            <a:avLst>
              <a:gd name="adj" fmla="val 937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7" name="v16-s12-entry-1">
            <a:extLst xmlns:a="http://schemas.openxmlformats.org/drawingml/2006/main">
              <a:ext uri="{FF2B5EF4-FFF2-40B4-BE49-F238E27FC236}">
                <a16:creationId xmlns:a16="http://schemas.microsoft.com/office/drawing/2014/main" id="{9A2EDAFE-AFDE-4C28-A731-F2C4DA2E4C2E}"/>
              </a:ext>
            </a:extLst>
          </p:cNvPr>
          <p:cNvSpPr>
            <a:spLocks xmlns:a="http://schemas.openxmlformats.org/drawingml/2006/main" noGrp="1"/>
          </p:cNvSpPr>
          <p:nvPr/>
        </p:nvSpPr>
        <p:spPr>
          <a:xfrm xmlns:a="http://schemas.openxmlformats.org/drawingml/2006/main">
            <a:off x="514350" y="3219450"/>
            <a:ext cx="10820400" cy="914400"/>
          </a:xfrm>
          <a:prstGeom xmlns:a="http://schemas.openxmlformats.org/drawingml/2006/main" prst="roundRect">
            <a:avLst>
              <a:gd name="adj" fmla="val 9375"/>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8" name="v16-s12-entry-1-accent">
            <a:extLst xmlns:a="http://schemas.openxmlformats.org/drawingml/2006/main">
              <a:ext uri="{FF2B5EF4-FFF2-40B4-BE49-F238E27FC236}">
                <a16:creationId xmlns:a16="http://schemas.microsoft.com/office/drawing/2014/main" id="{40AE06C0-7AA9-4264-B9F2-6525E1B10603}"/>
              </a:ext>
            </a:extLst>
          </p:cNvPr>
          <p:cNvSpPr>
            <a:spLocks xmlns:a="http://schemas.openxmlformats.org/drawingml/2006/main" noGrp="1"/>
          </p:cNvSpPr>
          <p:nvPr/>
        </p:nvSpPr>
        <p:spPr>
          <a:xfrm xmlns:a="http://schemas.openxmlformats.org/drawingml/2006/main">
            <a:off x="514350" y="3219450"/>
            <a:ext cx="66675" cy="91440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9" name="v16-s12-tag-1">
            <a:extLst xmlns:a="http://schemas.openxmlformats.org/drawingml/2006/main">
              <a:ext uri="{FF2B5EF4-FFF2-40B4-BE49-F238E27FC236}">
                <a16:creationId xmlns:a16="http://schemas.microsoft.com/office/drawing/2014/main" id="{A05093A3-B37C-44FF-B863-3483AEFF7828}"/>
              </a:ext>
            </a:extLst>
          </p:cNvPr>
          <p:cNvSpPr>
            <a:spLocks xmlns:a="http://schemas.openxmlformats.org/drawingml/2006/main" noGrp="1"/>
          </p:cNvSpPr>
          <p:nvPr/>
        </p:nvSpPr>
        <p:spPr>
          <a:xfrm xmlns:a="http://schemas.openxmlformats.org/drawingml/2006/main">
            <a:off x="762000" y="33718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rPr>
              <a:t>CALIPTRA + AXIADO + UCIE 3D SOIC</a:t>
            </a:r>
          </a:p>
        </p:txBody>
      </p:sp>
      <p:sp>
        <p:nvSpPr>
          <p:cNvPr id="30" name="v16-s12-title-1">
            <a:extLst xmlns:a="http://schemas.openxmlformats.org/drawingml/2006/main">
              <a:ext uri="{FF2B5EF4-FFF2-40B4-BE49-F238E27FC236}">
                <a16:creationId xmlns:a16="http://schemas.microsoft.com/office/drawing/2014/main" id="{C3DF04FD-A10E-4FB7-B4DB-C9921D89670B}"/>
              </a:ext>
            </a:extLst>
          </p:cNvPr>
          <p:cNvSpPr>
            <a:spLocks xmlns:a="http://schemas.openxmlformats.org/drawingml/2006/main" noGrp="1"/>
          </p:cNvSpPr>
          <p:nvPr/>
        </p:nvSpPr>
        <p:spPr>
          <a:xfrm xmlns:a="http://schemas.openxmlformats.org/drawingml/2006/main">
            <a:off x="762000" y="36385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620" b="1">
                <a:solidFill>
                  <a:srgbClr val="0A2434"/>
                </a:solidFill>
                <a:latin typeface="Arial"/>
                <a:ea typeface="Arial"/>
                <a:cs typeface="Arial"/>
              </a:defRPr>
            </a:pPr>
            <a:r>
              <a:rPr sz="1700" b="1">
                <a:solidFill>
                  <a:srgbClr val="0A2434"/>
                </a:solidFill>
                <a:latin typeface="Arial"/>
              </a:rPr>
              <a:t>Persistent fuse fields + PUF + D2D RoT coexist</a:t>
            </a:r>
          </a:p>
        </p:txBody>
      </p:sp>
      <p:sp>
        <p:nvSpPr>
          <p:cNvPr id="31" name="v16-s12-proof-1">
            <a:extLst xmlns:a="http://schemas.openxmlformats.org/drawingml/2006/main">
              <a:ext uri="{FF2B5EF4-FFF2-40B4-BE49-F238E27FC236}">
                <a16:creationId xmlns:a16="http://schemas.microsoft.com/office/drawing/2014/main" id="{A7644072-4C91-4810-A8C7-A61ED1DC7C9A}"/>
              </a:ext>
            </a:extLst>
          </p:cNvPr>
          <p:cNvSpPr>
            <a:spLocks xmlns:a="http://schemas.openxmlformats.org/drawingml/2006/main" noGrp="1"/>
          </p:cNvSpPr>
          <p:nvPr/>
        </p:nvSpPr>
        <p:spPr>
          <a:xfrm xmlns:a="http://schemas.openxmlformats.org/drawingml/2006/main">
            <a:off x="3943350" y="339090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0">
                <a:solidFill>
                  <a:srgbClr val="385365"/>
                </a:solidFill>
                <a:latin typeface="Arial"/>
                <a:ea typeface="Arial"/>
                <a:cs typeface="Arial"/>
              </a:defRPr>
            </a:pPr>
            <a:r>
              <a:rPr sz="1400" b="0">
                <a:solidFill>
                  <a:srgbClr val="385365"/>
                </a:solidFill>
                <a:latin typeface="Arial"/>
              </a:rPr>
              <a:t>PUF does not replace persistent policy, SVN, or chiplet KGD state</a:t>
            </a:r>
          </a:p>
        </p:txBody>
      </p:sp>
      <p:sp>
        <p:nvSpPr>
          <p:cNvPr id="32" name="v16-s12-limit-1">
            <a:extLst xmlns:a="http://schemas.openxmlformats.org/drawingml/2006/main">
              <a:ext uri="{FF2B5EF4-FFF2-40B4-BE49-F238E27FC236}">
                <a16:creationId xmlns:a16="http://schemas.microsoft.com/office/drawing/2014/main" id="{D31BA4E1-38ED-4173-8F98-FE4985185673}"/>
              </a:ext>
            </a:extLst>
          </p:cNvPr>
          <p:cNvSpPr>
            <a:spLocks xmlns:a="http://schemas.openxmlformats.org/drawingml/2006/main" noGrp="1"/>
          </p:cNvSpPr>
          <p:nvPr/>
        </p:nvSpPr>
        <p:spPr>
          <a:xfrm xmlns:a="http://schemas.openxmlformats.org/drawingml/2006/main">
            <a:off x="7924800" y="339090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1">
                <a:solidFill>
                  <a:srgbClr val="0A2434"/>
                </a:solidFill>
                <a:latin typeface="Arial"/>
                <a:ea typeface="Arial"/>
                <a:cs typeface="Arial"/>
              </a:defRPr>
            </a:pPr>
            <a:r>
              <a:rPr sz="1400" b="0">
                <a:solidFill>
                  <a:srgbClr val="385365"/>
                </a:solidFill>
                <a:latin typeface="Arial"/>
              </a:rPr>
              <a:t>PUF does not replace persistent policy, SVN, or chiplet KGD state</a:t>
            </a:r>
          </a:p>
        </p:txBody>
      </p:sp>
      <p:sp>
        <p:nvSpPr>
          <p:cNvPr id="33" name="v16-s12-entry-2-shadow">
            <a:extLst xmlns:a="http://schemas.openxmlformats.org/drawingml/2006/main">
              <a:ext uri="{FF2B5EF4-FFF2-40B4-BE49-F238E27FC236}">
                <a16:creationId xmlns:a16="http://schemas.microsoft.com/office/drawing/2014/main" id="{539651FB-5432-4E6A-95E4-B828D2D57BAA}"/>
              </a:ext>
            </a:extLst>
          </p:cNvPr>
          <p:cNvSpPr>
            <a:spLocks xmlns:a="http://schemas.openxmlformats.org/drawingml/2006/main" noGrp="1"/>
          </p:cNvSpPr>
          <p:nvPr/>
        </p:nvSpPr>
        <p:spPr>
          <a:xfrm xmlns:a="http://schemas.openxmlformats.org/drawingml/2006/main">
            <a:off x="542925" y="4391025"/>
            <a:ext cx="10820400" cy="914400"/>
          </a:xfrm>
          <a:prstGeom xmlns:a="http://schemas.openxmlformats.org/drawingml/2006/main" prst="roundRect">
            <a:avLst>
              <a:gd name="adj" fmla="val 937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4" name="v16-s12-entry-2">
            <a:extLst xmlns:a="http://schemas.openxmlformats.org/drawingml/2006/main">
              <a:ext uri="{FF2B5EF4-FFF2-40B4-BE49-F238E27FC236}">
                <a16:creationId xmlns:a16="http://schemas.microsoft.com/office/drawing/2014/main" id="{9E2DC263-1E04-406C-9985-E5234AB2CFE5}"/>
              </a:ext>
            </a:extLst>
          </p:cNvPr>
          <p:cNvSpPr>
            <a:spLocks xmlns:a="http://schemas.openxmlformats.org/drawingml/2006/main" noGrp="1"/>
          </p:cNvSpPr>
          <p:nvPr/>
        </p:nvSpPr>
        <p:spPr>
          <a:xfrm xmlns:a="http://schemas.openxmlformats.org/drawingml/2006/main">
            <a:off x="514350" y="4343400"/>
            <a:ext cx="10820400" cy="914400"/>
          </a:xfrm>
          <a:prstGeom xmlns:a="http://schemas.openxmlformats.org/drawingml/2006/main" prst="roundRect">
            <a:avLst>
              <a:gd name="adj" fmla="val 9375"/>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5" name="v16-s12-entry-2-accent">
            <a:extLst xmlns:a="http://schemas.openxmlformats.org/drawingml/2006/main">
              <a:ext uri="{FF2B5EF4-FFF2-40B4-BE49-F238E27FC236}">
                <a16:creationId xmlns:a16="http://schemas.microsoft.com/office/drawing/2014/main" id="{5CF30B2D-DDF7-4017-A27E-29ECA3FDE22A}"/>
              </a:ext>
            </a:extLst>
          </p:cNvPr>
          <p:cNvSpPr>
            <a:spLocks xmlns:a="http://schemas.openxmlformats.org/drawingml/2006/main" noGrp="1"/>
          </p:cNvSpPr>
          <p:nvPr/>
        </p:nvSpPr>
        <p:spPr>
          <a:xfrm xmlns:a="http://schemas.openxmlformats.org/drawingml/2006/main">
            <a:off x="514350" y="4343400"/>
            <a:ext cx="66675" cy="914400"/>
          </a:xfrm>
          <a:prstGeom xmlns:a="http://schemas.openxmlformats.org/drawingml/2006/main" prst="roundRect">
            <a:avLst>
              <a:gd name="adj" fmla="val 42857"/>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36" name="v16-s12-tag-2">
            <a:extLst xmlns:a="http://schemas.openxmlformats.org/drawingml/2006/main">
              <a:ext uri="{FF2B5EF4-FFF2-40B4-BE49-F238E27FC236}">
                <a16:creationId xmlns:a16="http://schemas.microsoft.com/office/drawing/2014/main" id="{7E406A65-8218-4DD1-8B87-C9DD730CE462}"/>
              </a:ext>
            </a:extLst>
          </p:cNvPr>
          <p:cNvSpPr>
            <a:spLocks xmlns:a="http://schemas.openxmlformats.org/drawingml/2006/main" noGrp="1"/>
          </p:cNvSpPr>
          <p:nvPr/>
        </p:nvSpPr>
        <p:spPr>
          <a:xfrm xmlns:a="http://schemas.openxmlformats.org/drawingml/2006/main">
            <a:off x="762000" y="449580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ELSFP-CMIS</a:t>
            </a:r>
          </a:p>
        </p:txBody>
      </p:sp>
      <p:sp>
        <p:nvSpPr>
          <p:cNvPr id="37" name="v16-s12-title-2">
            <a:extLst xmlns:a="http://schemas.openxmlformats.org/drawingml/2006/main">
              <a:ext uri="{FF2B5EF4-FFF2-40B4-BE49-F238E27FC236}">
                <a16:creationId xmlns:a16="http://schemas.microsoft.com/office/drawing/2014/main" id="{A053D57A-EE7A-4025-AA67-341217EF5FC6}"/>
              </a:ext>
            </a:extLst>
          </p:cNvPr>
          <p:cNvSpPr>
            <a:spLocks xmlns:a="http://schemas.openxmlformats.org/drawingml/2006/main" noGrp="1"/>
          </p:cNvSpPr>
          <p:nvPr/>
        </p:nvSpPr>
        <p:spPr>
          <a:xfrm xmlns:a="http://schemas.openxmlformats.org/drawingml/2006/main">
            <a:off x="762000" y="4762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620" b="1">
                <a:solidFill>
                  <a:srgbClr val="0A2434"/>
                </a:solidFill>
                <a:latin typeface="Arial"/>
                <a:ea typeface="Arial"/>
                <a:cs typeface="Arial"/>
              </a:defRPr>
            </a:pPr>
            <a:r>
              <a:rPr sz="1620" b="1">
                <a:solidFill>
                  <a:srgbClr val="0A2434"/>
                </a:solidFill>
                <a:latin typeface="Arial"/>
                <a:ea typeface="Arial"/>
                <a:cs typeface="Arial"/>
              </a:rPr>
              <a:t>User NV save / restore is a real state contract</a:t>
            </a:r>
          </a:p>
        </p:txBody>
      </p:sp>
      <p:sp>
        <p:nvSpPr>
          <p:cNvPr id="38" name="v16-s12-proof-2">
            <a:extLst xmlns:a="http://schemas.openxmlformats.org/drawingml/2006/main">
              <a:ext uri="{FF2B5EF4-FFF2-40B4-BE49-F238E27FC236}">
                <a16:creationId xmlns:a16="http://schemas.microsoft.com/office/drawing/2014/main" id="{18121D00-A7EE-43FB-8EE0-D0CB61EF1F0E}"/>
              </a:ext>
            </a:extLst>
          </p:cNvPr>
          <p:cNvSpPr>
            <a:spLocks xmlns:a="http://schemas.openxmlformats.org/drawingml/2006/main" noGrp="1"/>
          </p:cNvSpPr>
          <p:nvPr/>
        </p:nvSpPr>
        <p:spPr>
          <a:xfrm xmlns:a="http://schemas.openxmlformats.org/drawingml/2006/main">
            <a:off x="3943350" y="45148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0">
                <a:solidFill>
                  <a:srgbClr val="385365"/>
                </a:solidFill>
                <a:latin typeface="Arial"/>
                <a:ea typeface="Arial"/>
                <a:cs typeface="Arial"/>
              </a:defRPr>
            </a:pPr>
            <a:r>
              <a:rPr sz="1420" b="0">
                <a:solidFill>
                  <a:srgbClr val="385365"/>
                </a:solidFill>
                <a:latin typeface="Arial"/>
                <a:ea typeface="Arial"/>
                <a:cs typeface="Arial"/>
              </a:rPr>
              <a:t>Lane controls and alarm masks can be saved in two slots with a factory configuration</a:t>
            </a:r>
          </a:p>
        </p:txBody>
      </p:sp>
      <p:sp>
        <p:nvSpPr>
          <p:cNvPr id="39" name="v16-s12-limit-2">
            <a:extLst xmlns:a="http://schemas.openxmlformats.org/drawingml/2006/main">
              <a:ext uri="{FF2B5EF4-FFF2-40B4-BE49-F238E27FC236}">
                <a16:creationId xmlns:a16="http://schemas.microsoft.com/office/drawing/2014/main" id="{4429A8D9-4F7D-4E0E-A66F-BC483593DAAE}"/>
              </a:ext>
            </a:extLst>
          </p:cNvPr>
          <p:cNvSpPr>
            <a:spLocks xmlns:a="http://schemas.openxmlformats.org/drawingml/2006/main" noGrp="1"/>
          </p:cNvSpPr>
          <p:nvPr/>
        </p:nvSpPr>
        <p:spPr>
          <a:xfrm xmlns:a="http://schemas.openxmlformats.org/drawingml/2006/main">
            <a:off x="7924800" y="451485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1">
                <a:solidFill>
                  <a:srgbClr val="0A2434"/>
                </a:solidFill>
                <a:latin typeface="Arial"/>
                <a:ea typeface="Arial"/>
                <a:cs typeface="Arial"/>
              </a:defRPr>
            </a:pPr>
            <a:r>
              <a:rPr sz="1420" b="1">
                <a:solidFill>
                  <a:srgbClr val="0A2434"/>
                </a:solidFill>
                <a:latin typeface="Arial"/>
                <a:ea typeface="Arial"/>
                <a:cs typeface="Arial"/>
              </a:rPr>
              <a:t>Physical NVM implementation is explicitly out of scope</a:t>
            </a:r>
          </a:p>
        </p:txBody>
      </p:sp>
      <p:sp>
        <p:nvSpPr>
          <p:cNvPr id="40" name="v16-s12-rule">
            <a:extLst xmlns:a="http://schemas.openxmlformats.org/drawingml/2006/main">
              <a:ext uri="{FF2B5EF4-FFF2-40B4-BE49-F238E27FC236}">
                <a16:creationId xmlns:a16="http://schemas.microsoft.com/office/drawing/2014/main" id="{FAB18D70-E87B-4D3A-8669-F0ADCB12C139}"/>
              </a:ext>
            </a:extLst>
          </p:cNvPr>
          <p:cNvSpPr>
            <a:spLocks xmlns:a="http://schemas.openxmlformats.org/drawingml/2006/main" noGrp="1"/>
          </p:cNvSpPr>
          <p:nvPr/>
        </p:nvSpPr>
        <p:spPr>
          <a:xfrm xmlns:a="http://schemas.openxmlformats.org/drawingml/2006/main">
            <a:off x="514350" y="5619750"/>
            <a:ext cx="10820400" cy="514350"/>
          </a:xfrm>
          <a:prstGeom xmlns:a="http://schemas.openxmlformats.org/drawingml/2006/main" prst="roundRect">
            <a:avLst>
              <a:gd name="adj" fmla="val 14815"/>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1" name="v16-s12-rule-text">
            <a:extLst xmlns:a="http://schemas.openxmlformats.org/drawingml/2006/main">
              <a:ext uri="{FF2B5EF4-FFF2-40B4-BE49-F238E27FC236}">
                <a16:creationId xmlns:a16="http://schemas.microsoft.com/office/drawing/2014/main" id="{772F0EAB-38FF-43FF-A4D9-E328537D7A7B}"/>
              </a:ext>
            </a:extLst>
          </p:cNvPr>
          <p:cNvSpPr>
            <a:spLocks xmlns:a="http://schemas.openxmlformats.org/drawingml/2006/main" noGrp="1"/>
          </p:cNvSpPr>
          <p:nvPr/>
        </p:nvSpPr>
        <p:spPr>
          <a:xfrm xmlns:a="http://schemas.openxmlformats.org/drawingml/2006/main">
            <a:off x="685800" y="5715000"/>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Requirement → candidate hypothesis uses a dashed arrow until the named target and macro fit are qualified</a:t>
            </a:r>
          </a:p>
        </p:txBody>
      </p:sp>
    </p:spTree>
    <p:extLst>
      <p:ext uri="{BB962C8B-B14F-4D97-AF65-F5344CB8AC3E}">
        <p14:creationId xmlns:p14="http://schemas.microsoft.com/office/powerpoint/2010/main" val="1829846998"/>
      </p:ext>
    </p:extLst>
  </p:cSld>
</p:sld>
</file>

<file path=ppt/slides/slide16.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41" name="v16-bg-13">
            <a:extLst xmlns:a="http://schemas.openxmlformats.org/drawingml/2006/main">
              <a:ext uri="{FF2B5EF4-FFF2-40B4-BE49-F238E27FC236}">
                <a16:creationId xmlns:a16="http://schemas.microsoft.com/office/drawing/2014/main" id="{6CFC6688-8D32-4152-A7BD-DAF458FB4A7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3">
            <a:extLst xmlns:a="http://schemas.openxmlformats.org/drawingml/2006/main">
              <a:ext uri="{FF2B5EF4-FFF2-40B4-BE49-F238E27FC236}">
                <a16:creationId xmlns:a16="http://schemas.microsoft.com/office/drawing/2014/main" id="{CA8A685D-F648-48A2-B325-8530389FC0E3}"/>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3">
            <a:extLst xmlns:a="http://schemas.openxmlformats.org/drawingml/2006/main">
              <a:ext uri="{FF2B5EF4-FFF2-40B4-BE49-F238E27FC236}">
                <a16:creationId xmlns:a16="http://schemas.microsoft.com/office/drawing/2014/main" id="{0276FAC4-78EE-478B-9D3B-1F3BDC317FD1}"/>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D · REPAIR TECHNICAL GATE</a:t>
            </a:r>
          </a:p>
        </p:txBody>
      </p:sp>
      <p:sp>
        <p:nvSpPr>
          <p:cNvPr id="4" name="v16-title-13">
            <a:extLst xmlns:a="http://schemas.openxmlformats.org/drawingml/2006/main">
              <a:ext uri="{FF2B5EF4-FFF2-40B4-BE49-F238E27FC236}">
                <a16:creationId xmlns:a16="http://schemas.microsoft.com/office/drawing/2014/main" id="{46290DF8-5FD8-44E7-953C-60BCEC9E858A}"/>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2700" b="1">
                <a:solidFill>
                  <a:srgbClr val="0A2434"/>
                </a:solidFill>
                <a:latin typeface="Arial"/>
                <a:ea typeface="Arial"/>
                <a:cs typeface="Arial"/>
              </a:defRPr>
            </a:pPr>
            <a:r>
              <a:rPr sz="2700" b="1">
                <a:solidFill>
                  <a:srgbClr val="0A2434"/>
                </a:solidFill>
                <a:latin typeface="Arial"/>
              </a:rPr>
              <a:t>Before Selecting OTP, Name the Repair State</a:t>
            </a:r>
          </a:p>
          <a:p xmlns:a="http://schemas.openxmlformats.org/drawingml/2006/main">
            <a:pPr>
              <a:spcBef>
                <a:spcPts val="0"/>
              </a:spcBef>
              <a:spcAft>
                <a:spcPts val="200"/>
              </a:spcAft>
            </a:pPr>
            <a:r>
              <a:rPr sz="2700" b="1">
                <a:solidFill>
                  <a:srgbClr val="0A2434"/>
                </a:solidFill>
                <a:latin typeface="Arial"/>
              </a:rPr>
              <a:t>and Its Programming Authority</a:t>
            </a:r>
          </a:p>
        </p:txBody>
      </p:sp>
      <p:sp>
        <p:nvSpPr>
          <p:cNvPr id="5" name="v16-subtitle-13">
            <a:extLst xmlns:a="http://schemas.openxmlformats.org/drawingml/2006/main">
              <a:ext uri="{FF2B5EF4-FFF2-40B4-BE49-F238E27FC236}">
                <a16:creationId xmlns:a16="http://schemas.microsoft.com/office/drawing/2014/main" id="{27A8BA26-0390-40A5-A94D-BB68B0C4F021}"/>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HBM and AI SoC repair may share a need—not a universal physical architecture</a:t>
            </a:r>
          </a:p>
        </p:txBody>
      </p:sp>
      <p:sp>
        <p:nvSpPr>
          <p:cNvPr id="6" name="motif-line-0">
            <a:extLst xmlns:a="http://schemas.openxmlformats.org/drawingml/2006/main">
              <a:ext uri="{FF2B5EF4-FFF2-40B4-BE49-F238E27FC236}">
                <a16:creationId xmlns:a16="http://schemas.microsoft.com/office/drawing/2014/main" id="{2E92012C-5020-419B-A276-F770F7F2AF5F}"/>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954722D9-56B5-4AC0-A53D-A464244DD1D2}"/>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0219B078-1BBD-4F9C-A3B0-BA42B5D659CA}"/>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C29CBD6A-C030-4132-82A6-C028C4982450}"/>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2E21AE1A-C833-4C1D-A17F-A8E4D700EA1D}"/>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30160323-0E53-4E0C-B9A9-4415996A029E}"/>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904B62C3-34F7-4EF0-A118-353EAF6C0B8D}"/>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841333EB-39B6-417F-86F2-FE4827EB4F8B}"/>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93BA9E63-6D06-4220-BC36-87CC74C5895B}"/>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F9F50D56-6977-449C-8CEA-72536BD78904}"/>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3">
            <a:extLst xmlns:a="http://schemas.openxmlformats.org/drawingml/2006/main">
              <a:ext uri="{FF2B5EF4-FFF2-40B4-BE49-F238E27FC236}">
                <a16:creationId xmlns:a16="http://schemas.microsoft.com/office/drawing/2014/main" id="{5417E062-6F3F-4525-BB05-3743C9E20A70}"/>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3">
            <a:extLst xmlns:a="http://schemas.openxmlformats.org/drawingml/2006/main">
              <a:ext uri="{FF2B5EF4-FFF2-40B4-BE49-F238E27FC236}">
                <a16:creationId xmlns:a16="http://schemas.microsoft.com/office/drawing/2014/main" id="{8157E9FB-B625-4113-B077-3B188D8ACBBD}"/>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3">
            <a:extLst xmlns:a="http://schemas.openxmlformats.org/drawingml/2006/main">
              <a:ext uri="{FF2B5EF4-FFF2-40B4-BE49-F238E27FC236}">
                <a16:creationId xmlns:a16="http://schemas.microsoft.com/office/drawing/2014/main" id="{04067472-9745-464B-A6D4-CE6E0555B32D}"/>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16</a:t>
            </a:r>
          </a:p>
        </p:txBody>
      </p:sp>
      <p:sp>
        <p:nvSpPr>
          <p:cNvPr id="19" name="v16-s13-evidence-shadow">
            <a:extLst xmlns:a="http://schemas.openxmlformats.org/drawingml/2006/main">
              <a:ext uri="{FF2B5EF4-FFF2-40B4-BE49-F238E27FC236}">
                <a16:creationId xmlns:a16="http://schemas.microsoft.com/office/drawing/2014/main" id="{C623142B-FDED-43AB-8E14-01192F3011C2}"/>
              </a:ext>
            </a:extLst>
          </p:cNvPr>
          <p:cNvSpPr>
            <a:spLocks xmlns:a="http://schemas.openxmlformats.org/drawingml/2006/main" noGrp="1"/>
          </p:cNvSpPr>
          <p:nvPr/>
        </p:nvSpPr>
        <p:spPr>
          <a:xfrm xmlns:a="http://schemas.openxmlformats.org/drawingml/2006/main">
            <a:off x="542925" y="2200275"/>
            <a:ext cx="3429000" cy="3028950"/>
          </a:xfrm>
          <a:prstGeom xmlns:a="http://schemas.openxmlformats.org/drawingml/2006/main" prst="roundRect">
            <a:avLst>
              <a:gd name="adj" fmla="val 2516"/>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3-evidence">
            <a:extLst xmlns:a="http://schemas.openxmlformats.org/drawingml/2006/main">
              <a:ext uri="{FF2B5EF4-FFF2-40B4-BE49-F238E27FC236}">
                <a16:creationId xmlns:a16="http://schemas.microsoft.com/office/drawing/2014/main" id="{55B7C69B-D537-4FBC-82C2-8F61706B7814}"/>
              </a:ext>
            </a:extLst>
          </p:cNvPr>
          <p:cNvSpPr>
            <a:spLocks xmlns:a="http://schemas.openxmlformats.org/drawingml/2006/main" noGrp="1"/>
          </p:cNvSpPr>
          <p:nvPr/>
        </p:nvSpPr>
        <p:spPr>
          <a:xfrm xmlns:a="http://schemas.openxmlformats.org/drawingml/2006/main">
            <a:off x="514350" y="2152650"/>
            <a:ext cx="3429000" cy="3028950"/>
          </a:xfrm>
          <a:prstGeom xmlns:a="http://schemas.openxmlformats.org/drawingml/2006/main" prst="roundRect">
            <a:avLst>
              <a:gd name="adj" fmla="val 2516"/>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3-evidence-top">
            <a:extLst xmlns:a="http://schemas.openxmlformats.org/drawingml/2006/main">
              <a:ext uri="{FF2B5EF4-FFF2-40B4-BE49-F238E27FC236}">
                <a16:creationId xmlns:a16="http://schemas.microsoft.com/office/drawing/2014/main" id="{047C5B67-EDC4-4B60-8A91-C171A1EB25F4}"/>
              </a:ext>
            </a:extLst>
          </p:cNvPr>
          <p:cNvSpPr>
            <a:spLocks xmlns:a="http://schemas.openxmlformats.org/drawingml/2006/main" noGrp="1"/>
          </p:cNvSpPr>
          <p:nvPr/>
        </p:nvSpPr>
        <p:spPr>
          <a:xfrm xmlns:a="http://schemas.openxmlformats.org/drawingml/2006/main">
            <a:off x="514350" y="2152650"/>
            <a:ext cx="3429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3-evidence-eyebrow">
            <a:extLst xmlns:a="http://schemas.openxmlformats.org/drawingml/2006/main">
              <a:ext uri="{FF2B5EF4-FFF2-40B4-BE49-F238E27FC236}">
                <a16:creationId xmlns:a16="http://schemas.microsoft.com/office/drawing/2014/main" id="{19EEFFF1-4C8B-4A9F-AF03-7905E0BAE736}"/>
              </a:ext>
            </a:extLst>
          </p:cNvPr>
          <p:cNvSpPr>
            <a:spLocks xmlns:a="http://schemas.openxmlformats.org/drawingml/2006/main" noGrp="1"/>
          </p:cNvSpPr>
          <p:nvPr/>
        </p:nvSpPr>
        <p:spPr>
          <a:xfrm xmlns:a="http://schemas.openxmlformats.org/drawingml/2006/main">
            <a:off x="676275" y="2295525"/>
            <a:ext cx="3105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WHAT PUBLIC SOURCES ESTABLISH</a:t>
            </a:r>
          </a:p>
        </p:txBody>
      </p:sp>
      <p:sp>
        <p:nvSpPr>
          <p:cNvPr id="23" name="v16-s13-evidence-title">
            <a:extLst xmlns:a="http://schemas.openxmlformats.org/drawingml/2006/main">
              <a:ext uri="{FF2B5EF4-FFF2-40B4-BE49-F238E27FC236}">
                <a16:creationId xmlns:a16="http://schemas.microsoft.com/office/drawing/2014/main" id="{BBF80B0D-7C06-4610-9EFA-DF58D3672714}"/>
              </a:ext>
            </a:extLst>
          </p:cNvPr>
          <p:cNvSpPr>
            <a:spLocks xmlns:a="http://schemas.openxmlformats.org/drawingml/2006/main" noGrp="1"/>
          </p:cNvSpPr>
          <p:nvPr/>
        </p:nvSpPr>
        <p:spPr>
          <a:xfrm xmlns:a="http://schemas.openxmlformats.org/drawingml/2006/main">
            <a:off x="676275" y="2514600"/>
            <a:ext cx="3105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REPAIR STATE</a:t>
            </a:r>
          </a:p>
          <a:p xmlns:a="http://schemas.openxmlformats.org/drawingml/2006/main">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CAN PERSIST</a:t>
            </a:r>
          </a:p>
        </p:txBody>
      </p:sp>
      <p:sp>
        <p:nvSpPr>
          <p:cNvPr id="24" name="v16-s13-evidence-body">
            <a:extLst xmlns:a="http://schemas.openxmlformats.org/drawingml/2006/main">
              <a:ext uri="{FF2B5EF4-FFF2-40B4-BE49-F238E27FC236}">
                <a16:creationId xmlns:a16="http://schemas.microsoft.com/office/drawing/2014/main" id="{663C1AA0-9986-4284-AEA8-C67B0A226D6E}"/>
              </a:ext>
            </a:extLst>
          </p:cNvPr>
          <p:cNvSpPr>
            <a:spLocks xmlns:a="http://schemas.openxmlformats.org/drawingml/2006/main" noGrp="1"/>
          </p:cNvSpPr>
          <p:nvPr/>
        </p:nvSpPr>
        <p:spPr>
          <a:xfrm xmlns:a="http://schemas.openxmlformats.org/drawingml/2006/main">
            <a:off x="676275" y="3143250"/>
            <a:ext cx="310515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AI SoC repair state can exceed 16 Kb</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STAR interfaces repair state to OTP / eFuse</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HBM remap entries can persist in InfoROM</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HBM3 conditions can trigger permanent fuse programming</a:t>
            </a:r>
          </a:p>
        </p:txBody>
      </p:sp>
      <p:sp>
        <p:nvSpPr>
          <p:cNvPr id="25" name="v16-s13-gate-shadow">
            <a:extLst xmlns:a="http://schemas.openxmlformats.org/drawingml/2006/main">
              <a:ext uri="{FF2B5EF4-FFF2-40B4-BE49-F238E27FC236}">
                <a16:creationId xmlns:a16="http://schemas.microsoft.com/office/drawing/2014/main" id="{F5B4123A-DC61-41CB-878A-723082B0B6A0}"/>
              </a:ext>
            </a:extLst>
          </p:cNvPr>
          <p:cNvSpPr>
            <a:spLocks xmlns:a="http://schemas.openxmlformats.org/drawingml/2006/main" noGrp="1"/>
          </p:cNvSpPr>
          <p:nvPr/>
        </p:nvSpPr>
        <p:spPr>
          <a:xfrm xmlns:a="http://schemas.openxmlformats.org/drawingml/2006/main">
            <a:off x="4505325" y="2200275"/>
            <a:ext cx="3429000" cy="3028950"/>
          </a:xfrm>
          <a:prstGeom xmlns:a="http://schemas.openxmlformats.org/drawingml/2006/main" prst="roundRect">
            <a:avLst>
              <a:gd name="adj" fmla="val 2516"/>
            </a:avLst>
          </a:prstGeom>
          <a:solidFill xmlns:a="http://schemas.openxmlformats.org/drawingml/2006/main">
            <a:srgbClr val="04131E"/>
          </a:solidFill>
          <a:ln xmlns:a="http://schemas.openxmlformats.org/drawingml/2006/main" w="0">
            <a:noFill/>
            <a:prstDash val="solid"/>
          </a:ln>
        </p:spPr>
        <p:txBody xmlns:a="http://schemas.openxmlformats.org/drawingml/2006/main">
          <a:bodyPr/>
          <a:p/>
        </p:txBody>
      </p:sp>
      <p:sp>
        <p:nvSpPr>
          <p:cNvPr id="26" name="v16-s13-gate">
            <a:extLst xmlns:a="http://schemas.openxmlformats.org/drawingml/2006/main">
              <a:ext uri="{FF2B5EF4-FFF2-40B4-BE49-F238E27FC236}">
                <a16:creationId xmlns:a16="http://schemas.microsoft.com/office/drawing/2014/main" id="{68AADAAF-13BD-4253-8A0C-38033F9DD403}"/>
              </a:ext>
            </a:extLst>
          </p:cNvPr>
          <p:cNvSpPr>
            <a:spLocks xmlns:a="http://schemas.openxmlformats.org/drawingml/2006/main" noGrp="1"/>
          </p:cNvSpPr>
          <p:nvPr/>
        </p:nvSpPr>
        <p:spPr>
          <a:xfrm xmlns:a="http://schemas.openxmlformats.org/drawingml/2006/main">
            <a:off x="4476750" y="2152650"/>
            <a:ext cx="3429000" cy="3028950"/>
          </a:xfrm>
          <a:prstGeom xmlns:a="http://schemas.openxmlformats.org/drawingml/2006/main" prst="roundRect">
            <a:avLst>
              <a:gd name="adj" fmla="val 2516"/>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27" name="v16-s13-gate-top">
            <a:extLst xmlns:a="http://schemas.openxmlformats.org/drawingml/2006/main">
              <a:ext uri="{FF2B5EF4-FFF2-40B4-BE49-F238E27FC236}">
                <a16:creationId xmlns:a16="http://schemas.microsoft.com/office/drawing/2014/main" id="{7C161C8A-3DAF-4CF5-BCBE-909C60D9FCC2}"/>
              </a:ext>
            </a:extLst>
          </p:cNvPr>
          <p:cNvSpPr>
            <a:spLocks xmlns:a="http://schemas.openxmlformats.org/drawingml/2006/main" noGrp="1"/>
          </p:cNvSpPr>
          <p:nvPr/>
        </p:nvSpPr>
        <p:spPr>
          <a:xfrm xmlns:a="http://schemas.openxmlformats.org/drawingml/2006/main">
            <a:off x="4476750" y="2152650"/>
            <a:ext cx="34290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txBody xmlns:a="http://schemas.openxmlformats.org/drawingml/2006/main">
          <a:bodyPr/>
          <a:p/>
        </p:txBody>
      </p:sp>
      <p:sp>
        <p:nvSpPr>
          <p:cNvPr id="28" name="v16-s13-outcome-shadow">
            <a:extLst xmlns:a="http://schemas.openxmlformats.org/drawingml/2006/main">
              <a:ext uri="{FF2B5EF4-FFF2-40B4-BE49-F238E27FC236}">
                <a16:creationId xmlns:a16="http://schemas.microsoft.com/office/drawing/2014/main" id="{5F2A2E1D-55A0-4D62-9EFF-766DF36C536D}"/>
              </a:ext>
            </a:extLst>
          </p:cNvPr>
          <p:cNvSpPr>
            <a:spLocks xmlns:a="http://schemas.openxmlformats.org/drawingml/2006/main" noGrp="1"/>
          </p:cNvSpPr>
          <p:nvPr/>
        </p:nvSpPr>
        <p:spPr>
          <a:xfrm xmlns:a="http://schemas.openxmlformats.org/drawingml/2006/main">
            <a:off x="8467725" y="2200275"/>
            <a:ext cx="2895600" cy="3028950"/>
          </a:xfrm>
          <a:prstGeom xmlns:a="http://schemas.openxmlformats.org/drawingml/2006/main" prst="roundRect">
            <a:avLst>
              <a:gd name="adj" fmla="val 2632"/>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9" name="v16-s13-outcome">
            <a:extLst xmlns:a="http://schemas.openxmlformats.org/drawingml/2006/main">
              <a:ext uri="{FF2B5EF4-FFF2-40B4-BE49-F238E27FC236}">
                <a16:creationId xmlns:a16="http://schemas.microsoft.com/office/drawing/2014/main" id="{32B139B5-47C2-4836-AD5A-C9BEAEA52AEB}"/>
              </a:ext>
            </a:extLst>
          </p:cNvPr>
          <p:cNvSpPr>
            <a:spLocks xmlns:a="http://schemas.openxmlformats.org/drawingml/2006/main" noGrp="1"/>
          </p:cNvSpPr>
          <p:nvPr/>
        </p:nvSpPr>
        <p:spPr>
          <a:xfrm xmlns:a="http://schemas.openxmlformats.org/drawingml/2006/main">
            <a:off x="8439150" y="2152650"/>
            <a:ext cx="2895600" cy="3028950"/>
          </a:xfrm>
          <a:prstGeom xmlns:a="http://schemas.openxmlformats.org/drawingml/2006/main" prst="roundRect">
            <a:avLst>
              <a:gd name="adj" fmla="val 2632"/>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0" name="v16-s13-outcome-top">
            <a:extLst xmlns:a="http://schemas.openxmlformats.org/drawingml/2006/main">
              <a:ext uri="{FF2B5EF4-FFF2-40B4-BE49-F238E27FC236}">
                <a16:creationId xmlns:a16="http://schemas.microsoft.com/office/drawing/2014/main" id="{977158B9-85E2-4A15-AF50-29EABE4549F6}"/>
              </a:ext>
            </a:extLst>
          </p:cNvPr>
          <p:cNvSpPr>
            <a:spLocks xmlns:a="http://schemas.openxmlformats.org/drawingml/2006/main" noGrp="1"/>
          </p:cNvSpPr>
          <p:nvPr/>
        </p:nvSpPr>
        <p:spPr>
          <a:xfrm xmlns:a="http://schemas.openxmlformats.org/drawingml/2006/main">
            <a:off x="8439150" y="2152650"/>
            <a:ext cx="28956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cxnSp>
        <p:nvCxnSpPr>
          <p:cNvPr id="71" name=""/>
          <p:cNvCxnSpPr>
            <a:stCxn xmlns:a="http://schemas.openxmlformats.org/drawingml/2006/main" id="20" idx="3"/>
            <a:endCxn xmlns:a="http://schemas.openxmlformats.org/drawingml/2006/main" id="26" idx="1"/>
          </p:cNvCxnSpPr>
          <p:nvPr/>
        </p:nvCxnSpPr>
        <p:spPr>
          <a:xfrm xmlns:a="http://schemas.openxmlformats.org/drawingml/2006/main">
            <a:off x="3943350" y="3667125"/>
            <a:ext cx="5334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cxnSp>
        <p:nvCxnSpPr>
          <p:cNvPr id="72" name=""/>
          <p:cNvCxnSpPr>
            <a:stCxn xmlns:a="http://schemas.openxmlformats.org/drawingml/2006/main" id="26" idx="3"/>
            <a:endCxn xmlns:a="http://schemas.openxmlformats.org/drawingml/2006/main" id="29" idx="1"/>
          </p:cNvCxnSpPr>
          <p:nvPr/>
        </p:nvCxnSpPr>
        <p:spPr>
          <a:xfrm xmlns:a="http://schemas.openxmlformats.org/drawingml/2006/main">
            <a:off x="7905750" y="3667125"/>
            <a:ext cx="533400" cy="0"/>
          </a:xfrm>
          <a:prstGeom xmlns:a="http://schemas.openxmlformats.org/drawingml/2006/main" prst="straightConnector1">
            <a:avLst/>
          </a:prstGeom>
          <a:ln xmlns:a="http://schemas.openxmlformats.org/drawingml/2006/main" w="19050" cap="rnd">
            <a:solidFill>
              <a:srgbClr val="2B9D7A"/>
            </a:solidFill>
            <a:prstDash val="dash"/>
            <a:round/>
            <a:tailEnd type="arrow" w="sm" len="sm"/>
          </a:ln>
        </p:spPr>
      </p:cxnSp>
      <p:sp>
        <p:nvSpPr>
          <p:cNvPr id="33" name="v16-s13-gate-eyebrow">
            <a:extLst xmlns:a="http://schemas.openxmlformats.org/drawingml/2006/main">
              <a:ext uri="{FF2B5EF4-FFF2-40B4-BE49-F238E27FC236}">
                <a16:creationId xmlns:a16="http://schemas.microsoft.com/office/drawing/2014/main" id="{18552695-AA10-42D9-A4E1-692D99A2E6E9}"/>
              </a:ext>
            </a:extLst>
          </p:cNvPr>
          <p:cNvSpPr>
            <a:spLocks xmlns:a="http://schemas.openxmlformats.org/drawingml/2006/main" noGrp="1"/>
          </p:cNvSpPr>
          <p:nvPr/>
        </p:nvSpPr>
        <p:spPr>
          <a:xfrm xmlns:a="http://schemas.openxmlformats.org/drawingml/2006/main">
            <a:off x="4638675" y="2295525"/>
            <a:ext cx="3105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CLOSE THE LOCUS</a:t>
            </a:r>
          </a:p>
        </p:txBody>
      </p:sp>
      <p:sp>
        <p:nvSpPr>
          <p:cNvPr id="34" name="v16-s13-gate-title">
            <a:extLst xmlns:a="http://schemas.openxmlformats.org/drawingml/2006/main">
              <a:ext uri="{FF2B5EF4-FFF2-40B4-BE49-F238E27FC236}">
                <a16:creationId xmlns:a16="http://schemas.microsoft.com/office/drawing/2014/main" id="{10135E22-82AA-44A6-B3D5-7D3647F3D3A5}"/>
              </a:ext>
            </a:extLst>
          </p:cNvPr>
          <p:cNvSpPr>
            <a:spLocks xmlns:a="http://schemas.openxmlformats.org/drawingml/2006/main" noGrp="1"/>
          </p:cNvSpPr>
          <p:nvPr/>
        </p:nvSpPr>
        <p:spPr>
          <a:xfrm xmlns:a="http://schemas.openxmlformats.org/drawingml/2006/main">
            <a:off x="4638675" y="251460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FFFFFF"/>
                </a:solidFill>
                <a:latin typeface="Arial"/>
                <a:ea typeface="Arial"/>
                <a:cs typeface="Arial"/>
              </a:defRPr>
            </a:pPr>
            <a:r>
              <a:rPr sz="1900" b="1">
                <a:solidFill>
                  <a:srgbClr val="FFFFFF"/>
                </a:solidFill>
                <a:latin typeface="Arial"/>
                <a:ea typeface="Arial"/>
                <a:cs typeface="Arial"/>
              </a:rPr>
              <a:t>SIX REQUIRED ANSWERS</a:t>
            </a:r>
          </a:p>
        </p:txBody>
      </p:sp>
      <p:sp>
        <p:nvSpPr>
          <p:cNvPr id="35" name="v16-s13-gate-body">
            <a:extLst xmlns:a="http://schemas.openxmlformats.org/drawingml/2006/main">
              <a:ext uri="{FF2B5EF4-FFF2-40B4-BE49-F238E27FC236}">
                <a16:creationId xmlns:a16="http://schemas.microsoft.com/office/drawing/2014/main" id="{D8855F39-D933-4532-8641-7990C8569809}"/>
              </a:ext>
            </a:extLst>
          </p:cNvPr>
          <p:cNvSpPr>
            <a:spLocks xmlns:a="http://schemas.openxmlformats.org/drawingml/2006/main" noGrp="1"/>
          </p:cNvSpPr>
          <p:nvPr/>
        </p:nvSpPr>
        <p:spPr>
          <a:xfrm xmlns:a="http://schemas.openxmlformats.org/drawingml/2006/main">
            <a:off x="4638675" y="2819400"/>
            <a:ext cx="3105150" cy="2228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1  authoritative owner</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2  die / controller / platform location</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3  payload + bit budget</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4  programming rail / pads / current</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5  wafer / package / field authority</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6  recovery + attestation semantics</a:t>
            </a:r>
          </a:p>
        </p:txBody>
      </p:sp>
      <p:sp>
        <p:nvSpPr>
          <p:cNvPr id="36" name="v16-s13-outcome-eyebrow">
            <a:extLst xmlns:a="http://schemas.openxmlformats.org/drawingml/2006/main">
              <a:ext uri="{FF2B5EF4-FFF2-40B4-BE49-F238E27FC236}">
                <a16:creationId xmlns:a16="http://schemas.microsoft.com/office/drawing/2014/main" id="{B3C78679-345D-439F-81E8-D827170A432B}"/>
              </a:ext>
            </a:extLst>
          </p:cNvPr>
          <p:cNvSpPr>
            <a:spLocks xmlns:a="http://schemas.openxmlformats.org/drawingml/2006/main" noGrp="1"/>
          </p:cNvSpPr>
          <p:nvPr/>
        </p:nvSpPr>
        <p:spPr>
          <a:xfrm xmlns:a="http://schemas.openxmlformats.org/drawingml/2006/main">
            <a:off x="8601075" y="2295525"/>
            <a:ext cx="2571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ONLY THEN</a:t>
            </a:r>
          </a:p>
        </p:txBody>
      </p:sp>
      <p:sp>
        <p:nvSpPr>
          <p:cNvPr id="37" name="v16-s13-outcome-title">
            <a:extLst xmlns:a="http://schemas.openxmlformats.org/drawingml/2006/main">
              <a:ext uri="{FF2B5EF4-FFF2-40B4-BE49-F238E27FC236}">
                <a16:creationId xmlns:a16="http://schemas.microsoft.com/office/drawing/2014/main" id="{4F0392B4-447B-4696-B556-F13CFA0E418D}"/>
              </a:ext>
            </a:extLst>
          </p:cNvPr>
          <p:cNvSpPr>
            <a:spLocks xmlns:a="http://schemas.openxmlformats.org/drawingml/2006/main" noGrp="1"/>
          </p:cNvSpPr>
          <p:nvPr/>
        </p:nvSpPr>
        <p:spPr>
          <a:xfrm xmlns:a="http://schemas.openxmlformats.org/drawingml/2006/main">
            <a:off x="8601075" y="2514600"/>
            <a:ext cx="257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QUALIFY</a:t>
            </a:r>
          </a:p>
          <a:p xmlns:a="http://schemas.openxmlformats.org/drawingml/2006/main">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TECHNOLOGY</a:t>
            </a:r>
          </a:p>
        </p:txBody>
      </p:sp>
      <p:sp>
        <p:nvSpPr>
          <p:cNvPr id="38" name="v16-s13-outcome-body">
            <a:extLst xmlns:a="http://schemas.openxmlformats.org/drawingml/2006/main">
              <a:ext uri="{FF2B5EF4-FFF2-40B4-BE49-F238E27FC236}">
                <a16:creationId xmlns:a16="http://schemas.microsoft.com/office/drawing/2014/main" id="{CF10A7A5-76B6-44A1-B08C-504EB521146C}"/>
              </a:ext>
            </a:extLst>
          </p:cNvPr>
          <p:cNvSpPr>
            <a:spLocks xmlns:a="http://schemas.openxmlformats.org/drawingml/2006/main" noGrp="1"/>
          </p:cNvSpPr>
          <p:nvPr/>
        </p:nvSpPr>
        <p:spPr>
          <a:xfrm xmlns:a="http://schemas.openxmlformats.org/drawingml/2006/main">
            <a:off x="8601075" y="3114675"/>
            <a:ext cx="2571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OTP · immutable / monotonic</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constraints fit</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eFuse · density / pads / current</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PPA acceptable</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OTHER NVM · rewrite / payload</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exceeds contract</a:t>
            </a:r>
          </a:p>
        </p:txBody>
      </p:sp>
      <p:sp>
        <p:nvSpPr>
          <p:cNvPr id="39" name="v16-s13-boundary">
            <a:extLst xmlns:a="http://schemas.openxmlformats.org/drawingml/2006/main">
              <a:ext uri="{FF2B5EF4-FFF2-40B4-BE49-F238E27FC236}">
                <a16:creationId xmlns:a16="http://schemas.microsoft.com/office/drawing/2014/main" id="{BAE518AD-7CBD-4990-9732-FFE740DE2F4C}"/>
              </a:ext>
            </a:extLst>
          </p:cNvPr>
          <p:cNvSpPr>
            <a:spLocks xmlns:a="http://schemas.openxmlformats.org/drawingml/2006/main" noGrp="1"/>
          </p:cNvSpPr>
          <p:nvPr/>
        </p:nvSpPr>
        <p:spPr>
          <a:xfrm xmlns:a="http://schemas.openxmlformats.org/drawingml/2006/main">
            <a:off x="514350" y="5562600"/>
            <a:ext cx="10820400" cy="571500"/>
          </a:xfrm>
          <a:prstGeom xmlns:a="http://schemas.openxmlformats.org/drawingml/2006/main" prst="roundRect">
            <a:avLst>
              <a:gd name="adj" fmla="val 13333"/>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0" name="v16-s13-boundary-text">
            <a:extLst xmlns:a="http://schemas.openxmlformats.org/drawingml/2006/main">
              <a:ext uri="{FF2B5EF4-FFF2-40B4-BE49-F238E27FC236}">
                <a16:creationId xmlns:a16="http://schemas.microsoft.com/office/drawing/2014/main" id="{97F7894F-4E35-4F2A-A8C0-F14566860569}"/>
              </a:ext>
            </a:extLst>
          </p:cNvPr>
          <p:cNvSpPr>
            <a:spLocks xmlns:a="http://schemas.openxmlformats.org/drawingml/2006/main" noGrp="1"/>
          </p:cNvSpPr>
          <p:nvPr/>
        </p:nvSpPr>
        <p:spPr>
          <a:xfrm xmlns:a="http://schemas.openxmlformats.org/drawingml/2006/main">
            <a:off x="685800" y="56578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30" b="1">
                <a:solidFill>
                  <a:srgbClr val="FFFFFF"/>
                </a:solidFill>
                <a:latin typeface="Arial"/>
                <a:ea typeface="Arial"/>
                <a:cs typeface="Arial"/>
              </a:defRPr>
            </a:pPr>
            <a:r>
              <a:rPr sz="1530" b="1">
                <a:solidFill>
                  <a:srgbClr val="FFFFFF"/>
                </a:solidFill>
                <a:latin typeface="Arial"/>
                <a:ea typeface="Arial"/>
                <a:cs typeface="Arial"/>
              </a:rPr>
              <a:t>Persistent repair ≠ Base Die–only ≠ Logic Die–only ≠ OTP-only</a:t>
            </a:r>
          </a:p>
        </p:txBody>
      </p:sp>
    </p:spTree>
    <p:extLst>
      <p:ext uri="{BB962C8B-B14F-4D97-AF65-F5344CB8AC3E}">
        <p14:creationId xmlns:p14="http://schemas.microsoft.com/office/powerpoint/2010/main" val="1056388856"/>
      </p:ext>
    </p:extLst>
  </p:cSld>
</p:sld>
</file>

<file path=ppt/slides/slide17.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72" name="v16-bg-14">
            <a:extLst xmlns:a="http://schemas.openxmlformats.org/drawingml/2006/main">
              <a:ext uri="{FF2B5EF4-FFF2-40B4-BE49-F238E27FC236}">
                <a16:creationId xmlns:a16="http://schemas.microsoft.com/office/drawing/2014/main" id="{B423C833-EA28-4E7F-9C84-3B003CCFAA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4">
            <a:extLst xmlns:a="http://schemas.openxmlformats.org/drawingml/2006/main">
              <a:ext uri="{FF2B5EF4-FFF2-40B4-BE49-F238E27FC236}">
                <a16:creationId xmlns:a16="http://schemas.microsoft.com/office/drawing/2014/main" id="{2341F009-E1B5-4541-B136-14A5876BC766}"/>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4">
            <a:extLst xmlns:a="http://schemas.openxmlformats.org/drawingml/2006/main">
              <a:ext uri="{FF2B5EF4-FFF2-40B4-BE49-F238E27FC236}">
                <a16:creationId xmlns:a16="http://schemas.microsoft.com/office/drawing/2014/main" id="{2FDABED7-46F2-4ED8-BFB6-24EB539AAA21}"/>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E · PRODUCT-FIT CONTROL</a:t>
            </a:r>
          </a:p>
        </p:txBody>
      </p:sp>
      <p:sp>
        <p:nvSpPr>
          <p:cNvPr id="4" name="v16-title-14">
            <a:extLst xmlns:a="http://schemas.openxmlformats.org/drawingml/2006/main">
              <a:ext uri="{FF2B5EF4-FFF2-40B4-BE49-F238E27FC236}">
                <a16:creationId xmlns:a16="http://schemas.microsoft.com/office/drawing/2014/main" id="{FF9FF838-9587-485F-A127-5B9A64052707}"/>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spcBef>
                <a:spcPts val="0"/>
              </a:spcBef>
              <a:spcAft>
                <a:spcPts val="200"/>
              </a:spcAft>
              <a:buNone/>
              <a:defRPr sz="3000" b="1">
                <a:solidFill>
                  <a:srgbClr val="0A2434"/>
                </a:solidFill>
                <a:latin typeface="Arial"/>
                <a:ea typeface="Arial"/>
                <a:cs typeface="Arial"/>
              </a:defRPr>
            </a:pPr>
            <a:r>
              <a:rPr sz="3000" b="1">
                <a:solidFill>
                  <a:srgbClr val="0A2434"/>
                </a:solidFill>
                <a:latin typeface="Arial"/>
              </a:rPr>
              <a:t>A Candidate Advances Only When Five Peer Gates Close</a:t>
            </a:r>
          </a:p>
        </p:txBody>
      </p:sp>
      <p:sp>
        <p:nvSpPr>
          <p:cNvPr id="5" name="v16-subtitle-14">
            <a:extLst xmlns:a="http://schemas.openxmlformats.org/drawingml/2006/main">
              <a:ext uri="{FF2B5EF4-FFF2-40B4-BE49-F238E27FC236}">
                <a16:creationId xmlns:a16="http://schemas.microsoft.com/office/drawing/2014/main" id="{E83922F1-06D9-4816-B21B-9A5D1D1935E6}"/>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The gates are parallel evidence requirements—not a serial maturity ladder</a:t>
            </a:r>
          </a:p>
        </p:txBody>
      </p:sp>
      <p:sp>
        <p:nvSpPr>
          <p:cNvPr id="6" name="motif-line-0">
            <a:extLst xmlns:a="http://schemas.openxmlformats.org/drawingml/2006/main">
              <a:ext uri="{FF2B5EF4-FFF2-40B4-BE49-F238E27FC236}">
                <a16:creationId xmlns:a16="http://schemas.microsoft.com/office/drawing/2014/main" id="{3A3ABC7C-2964-44DF-8A7A-43629A81BAC6}"/>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CC4BD9F1-6596-401E-9959-C4215F809FD6}"/>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58A88BBC-7CF3-4419-9C57-61EEBF211530}"/>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713742C1-8F60-4B1A-B3F8-F75A217B4388}"/>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3DBFBEF8-E34F-44DC-A25C-82987AD195E2}"/>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DF5F3EFB-24C6-444B-9095-FAE0C9123DC8}"/>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25C2844C-D208-43E6-A8CF-C24C0E111B88}"/>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D7A10107-C54A-44BD-9A4E-C6FD2DB50937}"/>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5D7ADCDA-0659-443C-9841-C9A78B7CA874}"/>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A3580D84-2AEC-4EED-B128-E37775E6C1E2}"/>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4">
            <a:extLst xmlns:a="http://schemas.openxmlformats.org/drawingml/2006/main">
              <a:ext uri="{FF2B5EF4-FFF2-40B4-BE49-F238E27FC236}">
                <a16:creationId xmlns:a16="http://schemas.microsoft.com/office/drawing/2014/main" id="{B789EDB8-55FC-4077-A0EC-3E091D48422E}"/>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4">
            <a:extLst xmlns:a="http://schemas.openxmlformats.org/drawingml/2006/main">
              <a:ext uri="{FF2B5EF4-FFF2-40B4-BE49-F238E27FC236}">
                <a16:creationId xmlns:a16="http://schemas.microsoft.com/office/drawing/2014/main" id="{67A2AADF-E8C9-456B-8B31-E5ADF0D2C304}"/>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4">
            <a:extLst xmlns:a="http://schemas.openxmlformats.org/drawingml/2006/main">
              <a:ext uri="{FF2B5EF4-FFF2-40B4-BE49-F238E27FC236}">
                <a16:creationId xmlns:a16="http://schemas.microsoft.com/office/drawing/2014/main" id="{3E931963-A92D-4012-B321-0D9254EDA721}"/>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17</a:t>
            </a:r>
          </a:p>
        </p:txBody>
      </p:sp>
      <p:sp>
        <p:nvSpPr>
          <p:cNvPr id="19" name="v16-s14-g1-shadow">
            <a:extLst xmlns:a="http://schemas.openxmlformats.org/drawingml/2006/main">
              <a:ext uri="{FF2B5EF4-FFF2-40B4-BE49-F238E27FC236}">
                <a16:creationId xmlns:a16="http://schemas.microsoft.com/office/drawing/2014/main" id="{79973385-BE28-4BBA-A657-3D70DBDCE953}"/>
              </a:ext>
            </a:extLst>
          </p:cNvPr>
          <p:cNvSpPr>
            <a:spLocks xmlns:a="http://schemas.openxmlformats.org/drawingml/2006/main" noGrp="1"/>
          </p:cNvSpPr>
          <p:nvPr/>
        </p:nvSpPr>
        <p:spPr>
          <a:xfrm xmlns:a="http://schemas.openxmlformats.org/drawingml/2006/main">
            <a:off x="542925" y="20859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4-g1">
            <a:extLst xmlns:a="http://schemas.openxmlformats.org/drawingml/2006/main">
              <a:ext uri="{FF2B5EF4-FFF2-40B4-BE49-F238E27FC236}">
                <a16:creationId xmlns:a16="http://schemas.microsoft.com/office/drawing/2014/main" id="{01D217E5-4DFC-4EBA-B191-6A94D8D6D42C}"/>
              </a:ext>
            </a:extLst>
          </p:cNvPr>
          <p:cNvSpPr>
            <a:spLocks xmlns:a="http://schemas.openxmlformats.org/drawingml/2006/main" noGrp="1"/>
          </p:cNvSpPr>
          <p:nvPr/>
        </p:nvSpPr>
        <p:spPr>
          <a:xfrm xmlns:a="http://schemas.openxmlformats.org/drawingml/2006/main">
            <a:off x="514350" y="2038350"/>
            <a:ext cx="3429000" cy="628650"/>
          </a:xfrm>
          <a:prstGeom xmlns:a="http://schemas.openxmlformats.org/drawingml/2006/main" prst="roundRect">
            <a:avLst>
              <a:gd name="adj" fmla="val 12121"/>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4-g1-top">
            <a:extLst xmlns:a="http://schemas.openxmlformats.org/drawingml/2006/main">
              <a:ext uri="{FF2B5EF4-FFF2-40B4-BE49-F238E27FC236}">
                <a16:creationId xmlns:a16="http://schemas.microsoft.com/office/drawing/2014/main" id="{C30AC9CF-4865-4E5B-A750-5816E37CF89F}"/>
              </a:ext>
            </a:extLst>
          </p:cNvPr>
          <p:cNvSpPr>
            <a:spLocks xmlns:a="http://schemas.openxmlformats.org/drawingml/2006/main" noGrp="1"/>
          </p:cNvSpPr>
          <p:nvPr/>
        </p:nvSpPr>
        <p:spPr>
          <a:xfrm xmlns:a="http://schemas.openxmlformats.org/drawingml/2006/main">
            <a:off x="514350" y="2038350"/>
            <a:ext cx="3429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4-g2-shadow">
            <a:extLst xmlns:a="http://schemas.openxmlformats.org/drawingml/2006/main">
              <a:ext uri="{FF2B5EF4-FFF2-40B4-BE49-F238E27FC236}">
                <a16:creationId xmlns:a16="http://schemas.microsoft.com/office/drawing/2014/main" id="{C6018E97-3670-4E3E-860F-A7C14ACFAB3F}"/>
              </a:ext>
            </a:extLst>
          </p:cNvPr>
          <p:cNvSpPr>
            <a:spLocks xmlns:a="http://schemas.openxmlformats.org/drawingml/2006/main" noGrp="1"/>
          </p:cNvSpPr>
          <p:nvPr/>
        </p:nvSpPr>
        <p:spPr>
          <a:xfrm xmlns:a="http://schemas.openxmlformats.org/drawingml/2006/main">
            <a:off x="542925" y="28098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3" name="v16-s14-g2">
            <a:extLst xmlns:a="http://schemas.openxmlformats.org/drawingml/2006/main">
              <a:ext uri="{FF2B5EF4-FFF2-40B4-BE49-F238E27FC236}">
                <a16:creationId xmlns:a16="http://schemas.microsoft.com/office/drawing/2014/main" id="{891B7B51-07A5-424D-8115-F66CB19EB71C}"/>
              </a:ext>
            </a:extLst>
          </p:cNvPr>
          <p:cNvSpPr>
            <a:spLocks xmlns:a="http://schemas.openxmlformats.org/drawingml/2006/main" noGrp="1"/>
          </p:cNvSpPr>
          <p:nvPr/>
        </p:nvSpPr>
        <p:spPr>
          <a:xfrm xmlns:a="http://schemas.openxmlformats.org/drawingml/2006/main">
            <a:off x="514350" y="2762250"/>
            <a:ext cx="3429000" cy="628650"/>
          </a:xfrm>
          <a:prstGeom xmlns:a="http://schemas.openxmlformats.org/drawingml/2006/main" prst="roundRect">
            <a:avLst>
              <a:gd name="adj" fmla="val 12121"/>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4" name="v16-s14-g2-top">
            <a:extLst xmlns:a="http://schemas.openxmlformats.org/drawingml/2006/main">
              <a:ext uri="{FF2B5EF4-FFF2-40B4-BE49-F238E27FC236}">
                <a16:creationId xmlns:a16="http://schemas.microsoft.com/office/drawing/2014/main" id="{11F54377-DFE8-4F74-B932-4DD3B2BFC44D}"/>
              </a:ext>
            </a:extLst>
          </p:cNvPr>
          <p:cNvSpPr>
            <a:spLocks xmlns:a="http://schemas.openxmlformats.org/drawingml/2006/main" noGrp="1"/>
          </p:cNvSpPr>
          <p:nvPr/>
        </p:nvSpPr>
        <p:spPr>
          <a:xfrm xmlns:a="http://schemas.openxmlformats.org/drawingml/2006/main">
            <a:off x="514350" y="2762250"/>
            <a:ext cx="3429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5" name="v16-s14-g3-shadow">
            <a:extLst xmlns:a="http://schemas.openxmlformats.org/drawingml/2006/main">
              <a:ext uri="{FF2B5EF4-FFF2-40B4-BE49-F238E27FC236}">
                <a16:creationId xmlns:a16="http://schemas.microsoft.com/office/drawing/2014/main" id="{BC679A02-2188-465F-B1C1-E09B1650D6CE}"/>
              </a:ext>
            </a:extLst>
          </p:cNvPr>
          <p:cNvSpPr>
            <a:spLocks xmlns:a="http://schemas.openxmlformats.org/drawingml/2006/main" noGrp="1"/>
          </p:cNvSpPr>
          <p:nvPr/>
        </p:nvSpPr>
        <p:spPr>
          <a:xfrm xmlns:a="http://schemas.openxmlformats.org/drawingml/2006/main">
            <a:off x="542925" y="35337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14-g3">
            <a:extLst xmlns:a="http://schemas.openxmlformats.org/drawingml/2006/main">
              <a:ext uri="{FF2B5EF4-FFF2-40B4-BE49-F238E27FC236}">
                <a16:creationId xmlns:a16="http://schemas.microsoft.com/office/drawing/2014/main" id="{8273718C-71A8-4AAA-A9E9-E6D7CE30267A}"/>
              </a:ext>
            </a:extLst>
          </p:cNvPr>
          <p:cNvSpPr>
            <a:spLocks xmlns:a="http://schemas.openxmlformats.org/drawingml/2006/main" noGrp="1"/>
          </p:cNvSpPr>
          <p:nvPr/>
        </p:nvSpPr>
        <p:spPr>
          <a:xfrm xmlns:a="http://schemas.openxmlformats.org/drawingml/2006/main">
            <a:off x="514350" y="3486150"/>
            <a:ext cx="3429000" cy="628650"/>
          </a:xfrm>
          <a:prstGeom xmlns:a="http://schemas.openxmlformats.org/drawingml/2006/main" prst="roundRect">
            <a:avLst>
              <a:gd name="adj" fmla="val 12121"/>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27" name="v16-s14-g3-top">
            <a:extLst xmlns:a="http://schemas.openxmlformats.org/drawingml/2006/main">
              <a:ext uri="{FF2B5EF4-FFF2-40B4-BE49-F238E27FC236}">
                <a16:creationId xmlns:a16="http://schemas.microsoft.com/office/drawing/2014/main" id="{72C33819-1BA2-4E76-BD9C-D3C950E34B75}"/>
              </a:ext>
            </a:extLst>
          </p:cNvPr>
          <p:cNvSpPr>
            <a:spLocks xmlns:a="http://schemas.openxmlformats.org/drawingml/2006/main" noGrp="1"/>
          </p:cNvSpPr>
          <p:nvPr/>
        </p:nvSpPr>
        <p:spPr>
          <a:xfrm xmlns:a="http://schemas.openxmlformats.org/drawingml/2006/main">
            <a:off x="514350" y="3486150"/>
            <a:ext cx="34290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28" name="v16-s14-g4-shadow">
            <a:extLst xmlns:a="http://schemas.openxmlformats.org/drawingml/2006/main">
              <a:ext uri="{FF2B5EF4-FFF2-40B4-BE49-F238E27FC236}">
                <a16:creationId xmlns:a16="http://schemas.microsoft.com/office/drawing/2014/main" id="{A6522956-4282-43D2-8430-FDCCE0D0ADDD}"/>
              </a:ext>
            </a:extLst>
          </p:cNvPr>
          <p:cNvSpPr>
            <a:spLocks xmlns:a="http://schemas.openxmlformats.org/drawingml/2006/main" noGrp="1"/>
          </p:cNvSpPr>
          <p:nvPr/>
        </p:nvSpPr>
        <p:spPr>
          <a:xfrm xmlns:a="http://schemas.openxmlformats.org/drawingml/2006/main">
            <a:off x="542925" y="42576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9" name="v16-s14-g4">
            <a:extLst xmlns:a="http://schemas.openxmlformats.org/drawingml/2006/main">
              <a:ext uri="{FF2B5EF4-FFF2-40B4-BE49-F238E27FC236}">
                <a16:creationId xmlns:a16="http://schemas.microsoft.com/office/drawing/2014/main" id="{20D40D33-A635-487F-95A3-476FD98F7EF0}"/>
              </a:ext>
            </a:extLst>
          </p:cNvPr>
          <p:cNvSpPr>
            <a:spLocks xmlns:a="http://schemas.openxmlformats.org/drawingml/2006/main" noGrp="1"/>
          </p:cNvSpPr>
          <p:nvPr/>
        </p:nvSpPr>
        <p:spPr>
          <a:xfrm xmlns:a="http://schemas.openxmlformats.org/drawingml/2006/main">
            <a:off x="514350" y="4210050"/>
            <a:ext cx="3429000" cy="628650"/>
          </a:xfrm>
          <a:prstGeom xmlns:a="http://schemas.openxmlformats.org/drawingml/2006/main" prst="roundRect">
            <a:avLst>
              <a:gd name="adj" fmla="val 12121"/>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0" name="v16-s14-g4-top">
            <a:extLst xmlns:a="http://schemas.openxmlformats.org/drawingml/2006/main">
              <a:ext uri="{FF2B5EF4-FFF2-40B4-BE49-F238E27FC236}">
                <a16:creationId xmlns:a16="http://schemas.microsoft.com/office/drawing/2014/main" id="{5C5D6518-636C-4A4E-8096-874315B5624C}"/>
              </a:ext>
            </a:extLst>
          </p:cNvPr>
          <p:cNvSpPr>
            <a:spLocks xmlns:a="http://schemas.openxmlformats.org/drawingml/2006/main" noGrp="1"/>
          </p:cNvSpPr>
          <p:nvPr/>
        </p:nvSpPr>
        <p:spPr>
          <a:xfrm xmlns:a="http://schemas.openxmlformats.org/drawingml/2006/main">
            <a:off x="514350" y="4210050"/>
            <a:ext cx="34290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31" name="v16-s14-g5-shadow">
            <a:extLst xmlns:a="http://schemas.openxmlformats.org/drawingml/2006/main">
              <a:ext uri="{FF2B5EF4-FFF2-40B4-BE49-F238E27FC236}">
                <a16:creationId xmlns:a16="http://schemas.microsoft.com/office/drawing/2014/main" id="{9A17976C-463F-4BA8-9665-13686848EAB2}"/>
              </a:ext>
            </a:extLst>
          </p:cNvPr>
          <p:cNvSpPr>
            <a:spLocks xmlns:a="http://schemas.openxmlformats.org/drawingml/2006/main" noGrp="1"/>
          </p:cNvSpPr>
          <p:nvPr/>
        </p:nvSpPr>
        <p:spPr>
          <a:xfrm xmlns:a="http://schemas.openxmlformats.org/drawingml/2006/main">
            <a:off x="542925" y="49815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14-g5">
            <a:extLst xmlns:a="http://schemas.openxmlformats.org/drawingml/2006/main">
              <a:ext uri="{FF2B5EF4-FFF2-40B4-BE49-F238E27FC236}">
                <a16:creationId xmlns:a16="http://schemas.microsoft.com/office/drawing/2014/main" id="{855F6A38-36AB-45B6-8E7A-2B6EA7724096}"/>
              </a:ext>
            </a:extLst>
          </p:cNvPr>
          <p:cNvSpPr>
            <a:spLocks xmlns:a="http://schemas.openxmlformats.org/drawingml/2006/main" noGrp="1"/>
          </p:cNvSpPr>
          <p:nvPr/>
        </p:nvSpPr>
        <p:spPr>
          <a:xfrm xmlns:a="http://schemas.openxmlformats.org/drawingml/2006/main">
            <a:off x="514350" y="4933950"/>
            <a:ext cx="3429000" cy="628650"/>
          </a:xfrm>
          <a:prstGeom xmlns:a="http://schemas.openxmlformats.org/drawingml/2006/main" prst="roundRect">
            <a:avLst>
              <a:gd name="adj" fmla="val 12121"/>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3" name="v16-s14-g5-top">
            <a:extLst xmlns:a="http://schemas.openxmlformats.org/drawingml/2006/main">
              <a:ext uri="{FF2B5EF4-FFF2-40B4-BE49-F238E27FC236}">
                <a16:creationId xmlns:a16="http://schemas.microsoft.com/office/drawing/2014/main" id="{2B759BD0-89B6-4AB6-817D-8F067994FDF8}"/>
              </a:ext>
            </a:extLst>
          </p:cNvPr>
          <p:cNvSpPr>
            <a:spLocks xmlns:a="http://schemas.openxmlformats.org/drawingml/2006/main" noGrp="1"/>
          </p:cNvSpPr>
          <p:nvPr/>
        </p:nvSpPr>
        <p:spPr>
          <a:xfrm xmlns:a="http://schemas.openxmlformats.org/drawingml/2006/main">
            <a:off x="514350" y="4933950"/>
            <a:ext cx="34290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34" name="v16-s14-and">
            <a:extLst xmlns:a="http://schemas.openxmlformats.org/drawingml/2006/main">
              <a:ext uri="{FF2B5EF4-FFF2-40B4-BE49-F238E27FC236}">
                <a16:creationId xmlns:a16="http://schemas.microsoft.com/office/drawing/2014/main" id="{C41E0C99-6396-44F0-A55E-0C0F47871486}"/>
              </a:ext>
            </a:extLst>
          </p:cNvPr>
          <p:cNvSpPr>
            <a:spLocks xmlns:a="http://schemas.openxmlformats.org/drawingml/2006/main" noGrp="1"/>
          </p:cNvSpPr>
          <p:nvPr/>
        </p:nvSpPr>
        <p:spPr>
          <a:xfrm xmlns:a="http://schemas.openxmlformats.org/drawingml/2006/main">
            <a:off x="5295900" y="3238500"/>
            <a:ext cx="1352550" cy="1352550"/>
          </a:xfrm>
          <a:prstGeom xmlns:a="http://schemas.openxmlformats.org/drawingml/2006/main" prst="diamond">
            <a:avLst/>
          </a:prstGeom>
          <a:solidFill xmlns:a="http://schemas.openxmlformats.org/drawingml/2006/main">
            <a:srgbClr val="061B29"/>
          </a:solidFill>
          <a:ln xmlns:a="http://schemas.openxmlformats.org/drawingml/2006/main" w="15240">
            <a:solidFill>
              <a:srgbClr val="71ECE3"/>
            </a:solidFill>
            <a:prstDash val="solid"/>
          </a:ln>
        </p:spPr>
        <p:style>
          <a:lnRef xmlns:a="http://schemas.openxmlformats.org/drawingml/2006/main" idx="0"/>
          <a:fillRef xmlns:a="http://schemas.openxmlformats.org/drawingml/2006/main" idx="0"/>
          <a:effectRef xmlns:a="http://schemas.openxmlformats.org/drawingml/2006/main" idx="11"/>
          <a:fontRef xmlns:a="http://schemas.openxmlformats.org/drawingml/2006/main" idx="major"/>
        </p:style>
        <p:txBody xmlns:a="http://schemas.openxmlformats.org/drawingml/2006/main">
          <a:bodyPr/>
          <a:p/>
        </p:txBody>
      </p:sp>
      <p:sp>
        <p:nvSpPr>
          <p:cNvPr id="35" name="v16-s14-pass-shadow">
            <a:extLst xmlns:a="http://schemas.openxmlformats.org/drawingml/2006/main">
              <a:ext uri="{FF2B5EF4-FFF2-40B4-BE49-F238E27FC236}">
                <a16:creationId xmlns:a16="http://schemas.microsoft.com/office/drawing/2014/main" id="{3C1235BE-1F20-4585-9079-254FAF906794}"/>
              </a:ext>
            </a:extLst>
          </p:cNvPr>
          <p:cNvSpPr>
            <a:spLocks xmlns:a="http://schemas.openxmlformats.org/drawingml/2006/main" noGrp="1"/>
          </p:cNvSpPr>
          <p:nvPr/>
        </p:nvSpPr>
        <p:spPr>
          <a:xfrm xmlns:a="http://schemas.openxmlformats.org/drawingml/2006/main">
            <a:off x="8201025" y="2505075"/>
            <a:ext cx="3162300" cy="1143000"/>
          </a:xfrm>
          <a:prstGeom xmlns:a="http://schemas.openxmlformats.org/drawingml/2006/main" prst="roundRect">
            <a:avLst>
              <a:gd name="adj" fmla="val 6667"/>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6" name="v16-s14-pass">
            <a:extLst xmlns:a="http://schemas.openxmlformats.org/drawingml/2006/main">
              <a:ext uri="{FF2B5EF4-FFF2-40B4-BE49-F238E27FC236}">
                <a16:creationId xmlns:a16="http://schemas.microsoft.com/office/drawing/2014/main" id="{B91A7A1F-13E6-45BB-BBD0-DA90F6C60B45}"/>
              </a:ext>
            </a:extLst>
          </p:cNvPr>
          <p:cNvSpPr>
            <a:spLocks xmlns:a="http://schemas.openxmlformats.org/drawingml/2006/main" noGrp="1"/>
          </p:cNvSpPr>
          <p:nvPr/>
        </p:nvSpPr>
        <p:spPr>
          <a:xfrm xmlns:a="http://schemas.openxmlformats.org/drawingml/2006/main">
            <a:off x="8172450" y="2457450"/>
            <a:ext cx="3162300" cy="1143000"/>
          </a:xfrm>
          <a:prstGeom xmlns:a="http://schemas.openxmlformats.org/drawingml/2006/main" prst="roundRect">
            <a:avLst>
              <a:gd name="adj" fmla="val 6667"/>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7" name="v16-s14-pass-top">
            <a:extLst xmlns:a="http://schemas.openxmlformats.org/drawingml/2006/main">
              <a:ext uri="{FF2B5EF4-FFF2-40B4-BE49-F238E27FC236}">
                <a16:creationId xmlns:a16="http://schemas.microsoft.com/office/drawing/2014/main" id="{1805E7E8-F014-4C89-A612-B675B352E15D}"/>
              </a:ext>
            </a:extLst>
          </p:cNvPr>
          <p:cNvSpPr>
            <a:spLocks xmlns:a="http://schemas.openxmlformats.org/drawingml/2006/main" noGrp="1"/>
          </p:cNvSpPr>
          <p:nvPr/>
        </p:nvSpPr>
        <p:spPr>
          <a:xfrm xmlns:a="http://schemas.openxmlformats.org/drawingml/2006/main">
            <a:off x="8172450" y="2457450"/>
            <a:ext cx="31623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38" name="v16-s14-fail-shadow">
            <a:extLst xmlns:a="http://schemas.openxmlformats.org/drawingml/2006/main">
              <a:ext uri="{FF2B5EF4-FFF2-40B4-BE49-F238E27FC236}">
                <a16:creationId xmlns:a16="http://schemas.microsoft.com/office/drawing/2014/main" id="{C7B12BE1-700C-4033-85D7-CA5571FAE4DC}"/>
              </a:ext>
            </a:extLst>
          </p:cNvPr>
          <p:cNvSpPr>
            <a:spLocks xmlns:a="http://schemas.openxmlformats.org/drawingml/2006/main" noGrp="1"/>
          </p:cNvSpPr>
          <p:nvPr/>
        </p:nvSpPr>
        <p:spPr>
          <a:xfrm xmlns:a="http://schemas.openxmlformats.org/drawingml/2006/main">
            <a:off x="8201025" y="4219575"/>
            <a:ext cx="3162300" cy="1143000"/>
          </a:xfrm>
          <a:prstGeom xmlns:a="http://schemas.openxmlformats.org/drawingml/2006/main" prst="roundRect">
            <a:avLst>
              <a:gd name="adj" fmla="val 6667"/>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9" name="v16-s14-fail">
            <a:extLst xmlns:a="http://schemas.openxmlformats.org/drawingml/2006/main">
              <a:ext uri="{FF2B5EF4-FFF2-40B4-BE49-F238E27FC236}">
                <a16:creationId xmlns:a16="http://schemas.microsoft.com/office/drawing/2014/main" id="{9A10F0EE-CC5D-44ED-9CDA-85EEAC2C9351}"/>
              </a:ext>
            </a:extLst>
          </p:cNvPr>
          <p:cNvSpPr>
            <a:spLocks xmlns:a="http://schemas.openxmlformats.org/drawingml/2006/main" noGrp="1"/>
          </p:cNvSpPr>
          <p:nvPr/>
        </p:nvSpPr>
        <p:spPr>
          <a:xfrm xmlns:a="http://schemas.openxmlformats.org/drawingml/2006/main">
            <a:off x="8172450" y="4171950"/>
            <a:ext cx="3162300" cy="1143000"/>
          </a:xfrm>
          <a:prstGeom xmlns:a="http://schemas.openxmlformats.org/drawingml/2006/main" prst="roundRect">
            <a:avLst>
              <a:gd name="adj" fmla="val 6667"/>
            </a:avLst>
          </a:prstGeom>
          <a:solidFill xmlns:a="http://schemas.openxmlformats.org/drawingml/2006/main">
            <a:srgbClr val="F8ECEA"/>
          </a:solidFill>
          <a:ln xmlns:a="http://schemas.openxmlformats.org/drawingml/2006/main" w="10478">
            <a:solidFill>
              <a:srgbClr val="C9D6DA"/>
            </a:solidFill>
            <a:prstDash val="solid"/>
          </a:ln>
        </p:spPr>
        <p:txBody xmlns:a="http://schemas.openxmlformats.org/drawingml/2006/main">
          <a:bodyPr/>
          <a:p/>
        </p:txBody>
      </p:sp>
      <p:sp>
        <p:nvSpPr>
          <p:cNvPr id="40" name="v16-s14-fail-top">
            <a:extLst xmlns:a="http://schemas.openxmlformats.org/drawingml/2006/main">
              <a:ext uri="{FF2B5EF4-FFF2-40B4-BE49-F238E27FC236}">
                <a16:creationId xmlns:a16="http://schemas.microsoft.com/office/drawing/2014/main" id="{CCC2CE12-35F9-4FDD-B898-E197B0EBAB8C}"/>
              </a:ext>
            </a:extLst>
          </p:cNvPr>
          <p:cNvSpPr>
            <a:spLocks xmlns:a="http://schemas.openxmlformats.org/drawingml/2006/main" noGrp="1"/>
          </p:cNvSpPr>
          <p:nvPr/>
        </p:nvSpPr>
        <p:spPr>
          <a:xfrm xmlns:a="http://schemas.openxmlformats.org/drawingml/2006/main">
            <a:off x="8172450" y="4171950"/>
            <a:ext cx="3162300" cy="57150"/>
          </a:xfrm>
          <a:prstGeom xmlns:a="http://schemas.openxmlformats.org/drawingml/2006/main" prst="roundRect">
            <a:avLst>
              <a:gd name="adj" fmla="val 50000"/>
            </a:avLst>
          </a:prstGeom>
          <a:solidFill xmlns:a="http://schemas.openxmlformats.org/drawingml/2006/main">
            <a:srgbClr val="BC5A50"/>
          </a:solidFill>
          <a:ln xmlns:a="http://schemas.openxmlformats.org/drawingml/2006/main" w="0">
            <a:noFill/>
            <a:prstDash val="solid"/>
          </a:ln>
        </p:spPr>
        <p:txBody xmlns:a="http://schemas.openxmlformats.org/drawingml/2006/main">
          <a:bodyPr/>
          <a:p/>
        </p:txBody>
      </p:sp>
      <p:cxnSp>
        <p:nvCxnSpPr>
          <p:cNvPr id="112" name=""/>
          <p:cNvCxnSpPr>
            <a:stCxn xmlns:a="http://schemas.openxmlformats.org/drawingml/2006/main" id="20" idx="3"/>
            <a:endCxn xmlns:a="http://schemas.openxmlformats.org/drawingml/2006/main" id="34" idx="1"/>
          </p:cNvCxnSpPr>
          <p:nvPr/>
        </p:nvCxnSpPr>
        <p:spPr>
          <a:xfrm xmlns:a="http://schemas.openxmlformats.org/drawingml/2006/main">
            <a:off x="3943350" y="2352675"/>
            <a:ext cx="1352550" cy="1562100"/>
          </a:xfrm>
          <a:prstGeom xmlns:a="http://schemas.openxmlformats.org/drawingml/2006/main" prst="bentConnector3">
            <a:avLst>
              <a:gd name="adj1" fmla="val 50000"/>
            </a:avLst>
          </a:prstGeom>
          <a:ln xmlns:a="http://schemas.openxmlformats.org/drawingml/2006/main" w="15240" cap="rnd">
            <a:solidFill>
              <a:srgbClr val="087A7A"/>
            </a:solidFill>
            <a:prstDash val="solid"/>
            <a:round/>
            <a:tailEnd type="arrow" w="sm" len="sm"/>
          </a:ln>
        </p:spPr>
      </p:cxnSp>
      <p:cxnSp>
        <p:nvCxnSpPr>
          <p:cNvPr id="113" name=""/>
          <p:cNvCxnSpPr>
            <a:stCxn xmlns:a="http://schemas.openxmlformats.org/drawingml/2006/main" id="23" idx="3"/>
            <a:endCxn xmlns:a="http://schemas.openxmlformats.org/drawingml/2006/main" id="34" idx="1"/>
          </p:cNvCxnSpPr>
          <p:nvPr/>
        </p:nvCxnSpPr>
        <p:spPr>
          <a:xfrm xmlns:a="http://schemas.openxmlformats.org/drawingml/2006/main">
            <a:off x="3943350" y="3076575"/>
            <a:ext cx="1352550" cy="838200"/>
          </a:xfrm>
          <a:prstGeom xmlns:a="http://schemas.openxmlformats.org/drawingml/2006/main" prst="bentConnector3">
            <a:avLst>
              <a:gd name="adj1" fmla="val 50000"/>
            </a:avLst>
          </a:prstGeom>
          <a:ln xmlns:a="http://schemas.openxmlformats.org/drawingml/2006/main" w="15240" cap="rnd">
            <a:solidFill>
              <a:srgbClr val="087A7A"/>
            </a:solidFill>
            <a:prstDash val="solid"/>
            <a:round/>
            <a:tailEnd type="arrow" w="sm" len="sm"/>
          </a:ln>
        </p:spPr>
      </p:cxnSp>
      <p:cxnSp>
        <p:nvCxnSpPr>
          <p:cNvPr id="114" name=""/>
          <p:cNvCxnSpPr>
            <a:stCxn xmlns:a="http://schemas.openxmlformats.org/drawingml/2006/main" id="26" idx="3"/>
            <a:endCxn xmlns:a="http://schemas.openxmlformats.org/drawingml/2006/main" id="34" idx="1"/>
          </p:cNvCxnSpPr>
          <p:nvPr/>
        </p:nvCxnSpPr>
        <p:spPr>
          <a:xfrm xmlns:a="http://schemas.openxmlformats.org/drawingml/2006/main">
            <a:off x="3943350" y="3800475"/>
            <a:ext cx="1352550" cy="114300"/>
          </a:xfrm>
          <a:prstGeom xmlns:a="http://schemas.openxmlformats.org/drawingml/2006/main" prst="bentConnector3">
            <a:avLst>
              <a:gd name="adj1" fmla="val 50000"/>
            </a:avLst>
          </a:prstGeom>
          <a:ln xmlns:a="http://schemas.openxmlformats.org/drawingml/2006/main" w="15240" cap="rnd">
            <a:solidFill>
              <a:srgbClr val="C78A4B"/>
            </a:solidFill>
            <a:prstDash val="dash"/>
            <a:round/>
            <a:tailEnd type="arrow" w="sm" len="sm"/>
          </a:ln>
        </p:spPr>
      </p:cxnSp>
      <p:cxnSp>
        <p:nvCxnSpPr>
          <p:cNvPr id="115" name=""/>
          <p:cNvCxnSpPr>
            <a:stCxn xmlns:a="http://schemas.openxmlformats.org/drawingml/2006/main" id="29" idx="3"/>
            <a:endCxn xmlns:a="http://schemas.openxmlformats.org/drawingml/2006/main" id="34" idx="1"/>
          </p:cNvCxnSpPr>
          <p:nvPr/>
        </p:nvCxnSpPr>
        <p:spPr>
          <a:xfrm xmlns:a="http://schemas.openxmlformats.org/drawingml/2006/main" flipV="1">
            <a:off x="3943350" y="3914775"/>
            <a:ext cx="1352550" cy="609600"/>
          </a:xfrm>
          <a:prstGeom xmlns:a="http://schemas.openxmlformats.org/drawingml/2006/main" prst="bentConnector3">
            <a:avLst>
              <a:gd name="adj1" fmla="val 50000"/>
            </a:avLst>
          </a:prstGeom>
          <a:ln xmlns:a="http://schemas.openxmlformats.org/drawingml/2006/main" w="15240" cap="rnd">
            <a:solidFill>
              <a:srgbClr val="2B9D7A"/>
            </a:solidFill>
            <a:prstDash val="dash"/>
            <a:round/>
            <a:tailEnd type="arrow" w="sm" len="sm"/>
          </a:ln>
        </p:spPr>
      </p:cxnSp>
      <p:cxnSp>
        <p:nvCxnSpPr>
          <p:cNvPr id="116" name=""/>
          <p:cNvCxnSpPr>
            <a:stCxn xmlns:a="http://schemas.openxmlformats.org/drawingml/2006/main" id="32" idx="3"/>
            <a:endCxn xmlns:a="http://schemas.openxmlformats.org/drawingml/2006/main" id="34" idx="1"/>
          </p:cNvCxnSpPr>
          <p:nvPr/>
        </p:nvCxnSpPr>
        <p:spPr>
          <a:xfrm xmlns:a="http://schemas.openxmlformats.org/drawingml/2006/main" flipV="1">
            <a:off x="3943350" y="3914775"/>
            <a:ext cx="1352550" cy="1333500"/>
          </a:xfrm>
          <a:prstGeom xmlns:a="http://schemas.openxmlformats.org/drawingml/2006/main" prst="bentConnector3">
            <a:avLst>
              <a:gd name="adj1" fmla="val 50000"/>
            </a:avLst>
          </a:prstGeom>
          <a:ln xmlns:a="http://schemas.openxmlformats.org/drawingml/2006/main" w="15240" cap="rnd">
            <a:solidFill>
              <a:srgbClr val="2B9D7A"/>
            </a:solidFill>
            <a:prstDash val="dash"/>
            <a:round/>
            <a:tailEnd type="arrow" w="sm" len="sm"/>
          </a:ln>
        </p:spPr>
      </p:cxnSp>
      <p:cxnSp>
        <p:nvCxnSpPr>
          <p:cNvPr id="117" name=""/>
          <p:cNvCxnSpPr>
            <a:stCxn xmlns:a="http://schemas.openxmlformats.org/drawingml/2006/main" id="34" idx="3"/>
            <a:endCxn xmlns:a="http://schemas.openxmlformats.org/drawingml/2006/main" id="36" idx="1"/>
          </p:cNvCxnSpPr>
          <p:nvPr/>
        </p:nvCxnSpPr>
        <p:spPr>
          <a:xfrm xmlns:a="http://schemas.openxmlformats.org/drawingml/2006/main" flipV="1">
            <a:off x="6648450" y="3028950"/>
            <a:ext cx="1524000" cy="885825"/>
          </a:xfrm>
          <a:prstGeom xmlns:a="http://schemas.openxmlformats.org/drawingml/2006/main" prst="bentConnector3">
            <a:avLst>
              <a:gd name="adj1" fmla="val 50000"/>
            </a:avLst>
          </a:prstGeom>
          <a:ln xmlns:a="http://schemas.openxmlformats.org/drawingml/2006/main" w="20955" cap="rnd">
            <a:solidFill>
              <a:srgbClr val="2B9D7A"/>
            </a:solidFill>
            <a:prstDash val="solid"/>
            <a:round/>
            <a:tailEnd type="arrow" w="sm" len="sm"/>
          </a:ln>
        </p:spPr>
      </p:cxnSp>
      <p:cxnSp>
        <p:nvCxnSpPr>
          <p:cNvPr id="118" name=""/>
          <p:cNvCxnSpPr>
            <a:stCxn xmlns:a="http://schemas.openxmlformats.org/drawingml/2006/main" id="34" idx="3"/>
            <a:endCxn xmlns:a="http://schemas.openxmlformats.org/drawingml/2006/main" id="39" idx="1"/>
          </p:cNvCxnSpPr>
          <p:nvPr/>
        </p:nvCxnSpPr>
        <p:spPr>
          <a:xfrm xmlns:a="http://schemas.openxmlformats.org/drawingml/2006/main">
            <a:off x="6648450" y="3914775"/>
            <a:ext cx="1524000" cy="828675"/>
          </a:xfrm>
          <a:prstGeom xmlns:a="http://schemas.openxmlformats.org/drawingml/2006/main" prst="bentConnector3">
            <a:avLst>
              <a:gd name="adj1" fmla="val 50000"/>
            </a:avLst>
          </a:prstGeom>
          <a:ln xmlns:a="http://schemas.openxmlformats.org/drawingml/2006/main" w="20955" cap="rnd">
            <a:solidFill>
              <a:srgbClr val="BC5A50"/>
            </a:solidFill>
            <a:prstDash val="solid"/>
            <a:round/>
            <a:tailEnd type="arrow" w="sm" len="sm"/>
          </a:ln>
        </p:spPr>
      </p:cxnSp>
      <p:sp>
        <p:nvSpPr>
          <p:cNvPr id="48" name="v16-s14-g1-label">
            <a:extLst xmlns:a="http://schemas.openxmlformats.org/drawingml/2006/main">
              <a:ext uri="{FF2B5EF4-FFF2-40B4-BE49-F238E27FC236}">
                <a16:creationId xmlns:a16="http://schemas.microsoft.com/office/drawing/2014/main" id="{1C775599-675B-4382-8989-151954304475}"/>
              </a:ext>
            </a:extLst>
          </p:cNvPr>
          <p:cNvSpPr>
            <a:spLocks xmlns:a="http://schemas.openxmlformats.org/drawingml/2006/main" noGrp="1"/>
          </p:cNvSpPr>
          <p:nvPr/>
        </p:nvSpPr>
        <p:spPr>
          <a:xfrm xmlns:a="http://schemas.openxmlformats.org/drawingml/2006/main">
            <a:off x="666750" y="21621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087A7A"/>
                </a:solidFill>
                <a:latin typeface="Consolas"/>
                <a:ea typeface="Consolas"/>
                <a:cs typeface="Consolas"/>
              </a:defRPr>
            </a:pPr>
            <a:r>
              <a:rPr sz="880" b="1">
                <a:solidFill>
                  <a:srgbClr val="087A7A"/>
                </a:solidFill>
                <a:latin typeface="Consolas"/>
                <a:ea typeface="Consolas"/>
                <a:cs typeface="Consolas"/>
              </a:rPr>
              <a:t>GATE 1</a:t>
            </a:r>
          </a:p>
        </p:txBody>
      </p:sp>
      <p:sp>
        <p:nvSpPr>
          <p:cNvPr id="49" name="v16-s14-g1-title">
            <a:extLst xmlns:a="http://schemas.openxmlformats.org/drawingml/2006/main">
              <a:ext uri="{FF2B5EF4-FFF2-40B4-BE49-F238E27FC236}">
                <a16:creationId xmlns:a16="http://schemas.microsoft.com/office/drawing/2014/main" id="{03994333-4C9D-4E85-9639-753F2D136993}"/>
              </a:ext>
            </a:extLst>
          </p:cNvPr>
          <p:cNvSpPr>
            <a:spLocks xmlns:a="http://schemas.openxmlformats.org/drawingml/2006/main" noGrp="1"/>
          </p:cNvSpPr>
          <p:nvPr/>
        </p:nvSpPr>
        <p:spPr>
          <a:xfrm xmlns:a="http://schemas.openxmlformats.org/drawingml/2006/main">
            <a:off x="1390650" y="21336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STATE FIT</a:t>
            </a:r>
          </a:p>
        </p:txBody>
      </p:sp>
      <p:sp>
        <p:nvSpPr>
          <p:cNvPr id="50" name="v16-s14-g1-body">
            <a:extLst xmlns:a="http://schemas.openxmlformats.org/drawingml/2006/main">
              <a:ext uri="{FF2B5EF4-FFF2-40B4-BE49-F238E27FC236}">
                <a16:creationId xmlns:a16="http://schemas.microsoft.com/office/drawing/2014/main" id="{4DFBDE0C-2A50-4C51-ABA0-E0FD0523BD2E}"/>
              </a:ext>
            </a:extLst>
          </p:cNvPr>
          <p:cNvSpPr>
            <a:spLocks xmlns:a="http://schemas.openxmlformats.org/drawingml/2006/main" noGrp="1"/>
          </p:cNvSpPr>
          <p:nvPr/>
        </p:nvSpPr>
        <p:spPr>
          <a:xfrm xmlns:a="http://schemas.openxmlformats.org/drawingml/2006/main">
            <a:off x="666750" y="24098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one-way · bounded · reconstructed · other</a:t>
            </a:r>
          </a:p>
        </p:txBody>
      </p:sp>
      <p:sp>
        <p:nvSpPr>
          <p:cNvPr id="51" name="v16-s14-g2-label">
            <a:extLst xmlns:a="http://schemas.openxmlformats.org/drawingml/2006/main">
              <a:ext uri="{FF2B5EF4-FFF2-40B4-BE49-F238E27FC236}">
                <a16:creationId xmlns:a16="http://schemas.microsoft.com/office/drawing/2014/main" id="{5FCC7638-80D6-482D-8C84-C4B7A0540D9C}"/>
              </a:ext>
            </a:extLst>
          </p:cNvPr>
          <p:cNvSpPr>
            <a:spLocks xmlns:a="http://schemas.openxmlformats.org/drawingml/2006/main" noGrp="1"/>
          </p:cNvSpPr>
          <p:nvPr/>
        </p:nvSpPr>
        <p:spPr>
          <a:xfrm xmlns:a="http://schemas.openxmlformats.org/drawingml/2006/main">
            <a:off x="666750" y="28860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087A7A"/>
                </a:solidFill>
                <a:latin typeface="Consolas"/>
                <a:ea typeface="Consolas"/>
                <a:cs typeface="Consolas"/>
              </a:defRPr>
            </a:pPr>
            <a:r>
              <a:rPr sz="880" b="1">
                <a:solidFill>
                  <a:srgbClr val="087A7A"/>
                </a:solidFill>
                <a:latin typeface="Consolas"/>
                <a:ea typeface="Consolas"/>
                <a:cs typeface="Consolas"/>
              </a:rPr>
              <a:t>GATE 2</a:t>
            </a:r>
          </a:p>
        </p:txBody>
      </p:sp>
      <p:sp>
        <p:nvSpPr>
          <p:cNvPr id="52" name="v16-s14-g2-title">
            <a:extLst xmlns:a="http://schemas.openxmlformats.org/drawingml/2006/main">
              <a:ext uri="{FF2B5EF4-FFF2-40B4-BE49-F238E27FC236}">
                <a16:creationId xmlns:a16="http://schemas.microsoft.com/office/drawing/2014/main" id="{B19C5AD1-78B1-4886-A8E2-C7910DAA07C7}"/>
              </a:ext>
            </a:extLst>
          </p:cNvPr>
          <p:cNvSpPr>
            <a:spLocks xmlns:a="http://schemas.openxmlformats.org/drawingml/2006/main" noGrp="1"/>
          </p:cNvSpPr>
          <p:nvPr/>
        </p:nvSpPr>
        <p:spPr>
          <a:xfrm xmlns:a="http://schemas.openxmlformats.org/drawingml/2006/main">
            <a:off x="1390650" y="28575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WORKLOAD CONTRACT</a:t>
            </a:r>
          </a:p>
        </p:txBody>
      </p:sp>
      <p:sp>
        <p:nvSpPr>
          <p:cNvPr id="53" name="v16-s14-g2-body">
            <a:extLst xmlns:a="http://schemas.openxmlformats.org/drawingml/2006/main">
              <a:ext uri="{FF2B5EF4-FFF2-40B4-BE49-F238E27FC236}">
                <a16:creationId xmlns:a16="http://schemas.microsoft.com/office/drawing/2014/main" id="{CE79E419-4055-4037-B800-DA3CF75029E4}"/>
              </a:ext>
            </a:extLst>
          </p:cNvPr>
          <p:cNvSpPr>
            <a:spLocks xmlns:a="http://schemas.openxmlformats.org/drawingml/2006/main" noGrp="1"/>
          </p:cNvSpPr>
          <p:nvPr/>
        </p:nvSpPr>
        <p:spPr>
          <a:xfrm xmlns:a="http://schemas.openxmlformats.org/drawingml/2006/main">
            <a:off x="666750" y="31337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cadence · lifetime · retention · recovery</a:t>
            </a:r>
          </a:p>
        </p:txBody>
      </p:sp>
      <p:sp>
        <p:nvSpPr>
          <p:cNvPr id="54" name="v16-s14-g3-label">
            <a:extLst xmlns:a="http://schemas.openxmlformats.org/drawingml/2006/main">
              <a:ext uri="{FF2B5EF4-FFF2-40B4-BE49-F238E27FC236}">
                <a16:creationId xmlns:a16="http://schemas.microsoft.com/office/drawing/2014/main" id="{485EFD53-F46C-4E46-853C-2B722F52190D}"/>
              </a:ext>
            </a:extLst>
          </p:cNvPr>
          <p:cNvSpPr>
            <a:spLocks xmlns:a="http://schemas.openxmlformats.org/drawingml/2006/main" noGrp="1"/>
          </p:cNvSpPr>
          <p:nvPr/>
        </p:nvSpPr>
        <p:spPr>
          <a:xfrm xmlns:a="http://schemas.openxmlformats.org/drawingml/2006/main">
            <a:off x="666750" y="36099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8A521E"/>
                </a:solidFill>
                <a:latin typeface="Consolas"/>
                <a:ea typeface="Consolas"/>
                <a:cs typeface="Consolas"/>
              </a:defRPr>
            </a:pPr>
            <a:r>
              <a:rPr sz="880" b="1">
                <a:solidFill>
                  <a:srgbClr val="8A521E"/>
                </a:solidFill>
                <a:latin typeface="Consolas"/>
                <a:ea typeface="Consolas"/>
                <a:cs typeface="Consolas"/>
              </a:rPr>
              <a:t>GATE 3</a:t>
            </a:r>
          </a:p>
        </p:txBody>
      </p:sp>
      <p:sp>
        <p:nvSpPr>
          <p:cNvPr id="55" name="v16-s14-g3-title">
            <a:extLst xmlns:a="http://schemas.openxmlformats.org/drawingml/2006/main">
              <a:ext uri="{FF2B5EF4-FFF2-40B4-BE49-F238E27FC236}">
                <a16:creationId xmlns:a16="http://schemas.microsoft.com/office/drawing/2014/main" id="{1EF319A3-A966-4229-B1A2-D2E684D961E6}"/>
              </a:ext>
            </a:extLst>
          </p:cNvPr>
          <p:cNvSpPr>
            <a:spLocks xmlns:a="http://schemas.openxmlformats.org/drawingml/2006/main" noGrp="1"/>
          </p:cNvSpPr>
          <p:nvPr/>
        </p:nvSpPr>
        <p:spPr>
          <a:xfrm xmlns:a="http://schemas.openxmlformats.org/drawingml/2006/main">
            <a:off x="1390650" y="35814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EQUIVALENT PPA</a:t>
            </a:r>
          </a:p>
        </p:txBody>
      </p:sp>
      <p:sp>
        <p:nvSpPr>
          <p:cNvPr id="56" name="v16-s14-g3-body">
            <a:extLst xmlns:a="http://schemas.openxmlformats.org/drawingml/2006/main">
              <a:ext uri="{FF2B5EF4-FFF2-40B4-BE49-F238E27FC236}">
                <a16:creationId xmlns:a16="http://schemas.microsoft.com/office/drawing/2014/main" id="{030F936B-3619-4262-AA1D-90A9C7D3BFA9}"/>
              </a:ext>
            </a:extLst>
          </p:cNvPr>
          <p:cNvSpPr>
            <a:spLocks xmlns:a="http://schemas.openxmlformats.org/drawingml/2006/main" noGrp="1"/>
          </p:cNvSpPr>
          <p:nvPr/>
        </p:nvSpPr>
        <p:spPr>
          <a:xfrm xmlns:a="http://schemas.openxmlformats.org/drawingml/2006/main">
            <a:off x="666750" y="38576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same node · bits · boundary</a:t>
            </a:r>
          </a:p>
        </p:txBody>
      </p:sp>
      <p:sp>
        <p:nvSpPr>
          <p:cNvPr id="57" name="v16-s14-g4-label">
            <a:extLst xmlns:a="http://schemas.openxmlformats.org/drawingml/2006/main">
              <a:ext uri="{FF2B5EF4-FFF2-40B4-BE49-F238E27FC236}">
                <a16:creationId xmlns:a16="http://schemas.microsoft.com/office/drawing/2014/main" id="{3BE8C286-4F17-4A8C-9A3B-CF2473B47EF0}"/>
              </a:ext>
            </a:extLst>
          </p:cNvPr>
          <p:cNvSpPr>
            <a:spLocks xmlns:a="http://schemas.openxmlformats.org/drawingml/2006/main" noGrp="1"/>
          </p:cNvSpPr>
          <p:nvPr/>
        </p:nvSpPr>
        <p:spPr>
          <a:xfrm xmlns:a="http://schemas.openxmlformats.org/drawingml/2006/main">
            <a:off x="666750" y="43338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176B5C"/>
                </a:solidFill>
                <a:latin typeface="Consolas"/>
                <a:ea typeface="Consolas"/>
                <a:cs typeface="Consolas"/>
              </a:defRPr>
            </a:pPr>
            <a:r>
              <a:rPr sz="880" b="1">
                <a:solidFill>
                  <a:srgbClr val="176B5C"/>
                </a:solidFill>
                <a:latin typeface="Consolas"/>
                <a:ea typeface="Consolas"/>
                <a:cs typeface="Consolas"/>
              </a:rPr>
              <a:t>GATE 4</a:t>
            </a:r>
          </a:p>
        </p:txBody>
      </p:sp>
      <p:sp>
        <p:nvSpPr>
          <p:cNvPr id="58" name="v16-s14-g4-title">
            <a:extLst xmlns:a="http://schemas.openxmlformats.org/drawingml/2006/main">
              <a:ext uri="{FF2B5EF4-FFF2-40B4-BE49-F238E27FC236}">
                <a16:creationId xmlns:a16="http://schemas.microsoft.com/office/drawing/2014/main" id="{08DB2FA1-962D-455B-B671-F30F734817C8}"/>
              </a:ext>
            </a:extLst>
          </p:cNvPr>
          <p:cNvSpPr>
            <a:spLocks xmlns:a="http://schemas.openxmlformats.org/drawingml/2006/main" noGrp="1"/>
          </p:cNvSpPr>
          <p:nvPr/>
        </p:nvSpPr>
        <p:spPr>
          <a:xfrm xmlns:a="http://schemas.openxmlformats.org/drawingml/2006/main">
            <a:off x="1390650" y="43053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NAMED TARGET + OWNER</a:t>
            </a:r>
          </a:p>
        </p:txBody>
      </p:sp>
      <p:sp>
        <p:nvSpPr>
          <p:cNvPr id="59" name="v16-s14-g4-body">
            <a:extLst xmlns:a="http://schemas.openxmlformats.org/drawingml/2006/main">
              <a:ext uri="{FF2B5EF4-FFF2-40B4-BE49-F238E27FC236}">
                <a16:creationId xmlns:a16="http://schemas.microsoft.com/office/drawing/2014/main" id="{C0F5DA17-17B7-430D-990B-EBF25033049A}"/>
              </a:ext>
            </a:extLst>
          </p:cNvPr>
          <p:cNvSpPr>
            <a:spLocks xmlns:a="http://schemas.openxmlformats.org/drawingml/2006/main" noGrp="1"/>
          </p:cNvSpPr>
          <p:nvPr/>
        </p:nvSpPr>
        <p:spPr>
          <a:xfrm xmlns:a="http://schemas.openxmlformats.org/drawingml/2006/main">
            <a:off x="666750" y="45815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program · state owner · potential unit</a:t>
            </a:r>
          </a:p>
        </p:txBody>
      </p:sp>
      <p:sp>
        <p:nvSpPr>
          <p:cNvPr id="60" name="v16-s14-g5-label">
            <a:extLst xmlns:a="http://schemas.openxmlformats.org/drawingml/2006/main">
              <a:ext uri="{FF2B5EF4-FFF2-40B4-BE49-F238E27FC236}">
                <a16:creationId xmlns:a16="http://schemas.microsoft.com/office/drawing/2014/main" id="{C6ADDB03-1483-4938-BD92-7FB370E3A8ED}"/>
              </a:ext>
            </a:extLst>
          </p:cNvPr>
          <p:cNvSpPr>
            <a:spLocks xmlns:a="http://schemas.openxmlformats.org/drawingml/2006/main" noGrp="1"/>
          </p:cNvSpPr>
          <p:nvPr/>
        </p:nvSpPr>
        <p:spPr>
          <a:xfrm xmlns:a="http://schemas.openxmlformats.org/drawingml/2006/main">
            <a:off x="666750" y="50577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176B5C"/>
                </a:solidFill>
                <a:latin typeface="Consolas"/>
                <a:ea typeface="Consolas"/>
                <a:cs typeface="Consolas"/>
              </a:defRPr>
            </a:pPr>
            <a:r>
              <a:rPr sz="880" b="1">
                <a:solidFill>
                  <a:srgbClr val="176B5C"/>
                </a:solidFill>
                <a:latin typeface="Consolas"/>
                <a:ea typeface="Consolas"/>
                <a:cs typeface="Consolas"/>
              </a:rPr>
              <a:t>GATE 5</a:t>
            </a:r>
          </a:p>
        </p:txBody>
      </p:sp>
      <p:sp>
        <p:nvSpPr>
          <p:cNvPr id="61" name="v16-s14-g5-title">
            <a:extLst xmlns:a="http://schemas.openxmlformats.org/drawingml/2006/main">
              <a:ext uri="{FF2B5EF4-FFF2-40B4-BE49-F238E27FC236}">
                <a16:creationId xmlns:a16="http://schemas.microsoft.com/office/drawing/2014/main" id="{F54AB49C-130C-46BD-945E-0052703A11BF}"/>
              </a:ext>
            </a:extLst>
          </p:cNvPr>
          <p:cNvSpPr>
            <a:spLocks xmlns:a="http://schemas.openxmlformats.org/drawingml/2006/main" noGrp="1"/>
          </p:cNvSpPr>
          <p:nvPr/>
        </p:nvSpPr>
        <p:spPr>
          <a:xfrm xmlns:a="http://schemas.openxmlformats.org/drawingml/2006/main">
            <a:off x="1390650" y="50292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SYNOPSYS PROOF</a:t>
            </a:r>
          </a:p>
        </p:txBody>
      </p:sp>
      <p:sp>
        <p:nvSpPr>
          <p:cNvPr id="62" name="v16-s14-g5-body">
            <a:extLst xmlns:a="http://schemas.openxmlformats.org/drawingml/2006/main">
              <a:ext uri="{FF2B5EF4-FFF2-40B4-BE49-F238E27FC236}">
                <a16:creationId xmlns:a16="http://schemas.microsoft.com/office/drawing/2014/main" id="{CFDF8E2A-6BD4-4394-80E9-92B0A332ADAB}"/>
              </a:ext>
            </a:extLst>
          </p:cNvPr>
          <p:cNvSpPr>
            <a:spLocks xmlns:a="http://schemas.openxmlformats.org/drawingml/2006/main" noGrp="1"/>
          </p:cNvSpPr>
          <p:nvPr/>
        </p:nvSpPr>
        <p:spPr>
          <a:xfrm xmlns:a="http://schemas.openxmlformats.org/drawingml/2006/main">
            <a:off x="666750" y="53054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offer · process · interface · proof</a:t>
            </a:r>
          </a:p>
        </p:txBody>
      </p:sp>
      <p:sp>
        <p:nvSpPr>
          <p:cNvPr id="63" name="v16-s14-and-text">
            <a:extLst xmlns:a="http://schemas.openxmlformats.org/drawingml/2006/main">
              <a:ext uri="{FF2B5EF4-FFF2-40B4-BE49-F238E27FC236}">
                <a16:creationId xmlns:a16="http://schemas.microsoft.com/office/drawing/2014/main" id="{7996F28B-B49F-4879-8A91-B87D0679CD7D}"/>
              </a:ext>
            </a:extLst>
          </p:cNvPr>
          <p:cNvSpPr>
            <a:spLocks xmlns:a="http://schemas.openxmlformats.org/drawingml/2006/main" noGrp="1"/>
          </p:cNvSpPr>
          <p:nvPr/>
        </p:nvSpPr>
        <p:spPr>
          <a:xfrm xmlns:a="http://schemas.openxmlformats.org/drawingml/2006/main">
            <a:off x="5505450" y="3514725"/>
            <a:ext cx="933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ALL</a:t>
            </a:r>
          </a:p>
          <a:p xmlns:a="http://schemas.openxmlformats.org/drawingml/2006/main">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FIVE</a:t>
            </a:r>
          </a:p>
          <a:p xmlns:a="http://schemas.openxmlformats.org/drawingml/2006/main">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CLOSED?</a:t>
            </a:r>
          </a:p>
        </p:txBody>
      </p:sp>
      <p:sp>
        <p:nvSpPr>
          <p:cNvPr id="64" name="v16-s14-pass-eyebrow">
            <a:extLst xmlns:a="http://schemas.openxmlformats.org/drawingml/2006/main">
              <a:ext uri="{FF2B5EF4-FFF2-40B4-BE49-F238E27FC236}">
                <a16:creationId xmlns:a16="http://schemas.microsoft.com/office/drawing/2014/main" id="{8E34D05F-5AD4-4FFA-B7C2-81D4530FBC96}"/>
              </a:ext>
            </a:extLst>
          </p:cNvPr>
          <p:cNvSpPr>
            <a:spLocks xmlns:a="http://schemas.openxmlformats.org/drawingml/2006/main" noGrp="1"/>
          </p:cNvSpPr>
          <p:nvPr/>
        </p:nvSpPr>
        <p:spPr>
          <a:xfrm xmlns:a="http://schemas.openxmlformats.org/drawingml/2006/main">
            <a:off x="8334375" y="2600325"/>
            <a:ext cx="2838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PASS</a:t>
            </a:r>
          </a:p>
        </p:txBody>
      </p:sp>
      <p:sp>
        <p:nvSpPr>
          <p:cNvPr id="65" name="v16-s14-pass-title">
            <a:extLst xmlns:a="http://schemas.openxmlformats.org/drawingml/2006/main">
              <a:ext uri="{FF2B5EF4-FFF2-40B4-BE49-F238E27FC236}">
                <a16:creationId xmlns:a16="http://schemas.microsoft.com/office/drawing/2014/main" id="{D30A2964-80B4-4846-8457-F34B004BB378}"/>
              </a:ext>
            </a:extLst>
          </p:cNvPr>
          <p:cNvSpPr>
            <a:spLocks xmlns:a="http://schemas.openxmlformats.org/drawingml/2006/main" noGrp="1"/>
          </p:cNvSpPr>
          <p:nvPr/>
        </p:nvSpPr>
        <p:spPr>
          <a:xfrm xmlns:a="http://schemas.openxmlformats.org/drawingml/2006/main">
            <a:off x="8334375" y="2819400"/>
            <a:ext cx="28384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QUALIFICATION REVIEW</a:t>
            </a:r>
          </a:p>
        </p:txBody>
      </p:sp>
      <p:sp>
        <p:nvSpPr>
          <p:cNvPr id="66" name="v16-s14-pass-body">
            <a:extLst xmlns:a="http://schemas.openxmlformats.org/drawingml/2006/main">
              <a:ext uri="{FF2B5EF4-FFF2-40B4-BE49-F238E27FC236}">
                <a16:creationId xmlns:a16="http://schemas.microsoft.com/office/drawing/2014/main" id="{4B8BD553-F18D-48F5-AB20-8E323FE8284F}"/>
              </a:ext>
            </a:extLst>
          </p:cNvPr>
          <p:cNvSpPr>
            <a:spLocks xmlns:a="http://schemas.openxmlformats.org/drawingml/2006/main" noGrp="1"/>
          </p:cNvSpPr>
          <p:nvPr/>
        </p:nvSpPr>
        <p:spPr>
          <a:xfrm xmlns:a="http://schemas.openxmlformats.org/drawingml/2006/main">
            <a:off x="8334375" y="3124200"/>
            <a:ext cx="2838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Target-bound product-fit conclusion</a:t>
            </a:r>
          </a:p>
        </p:txBody>
      </p:sp>
      <p:sp>
        <p:nvSpPr>
          <p:cNvPr id="67" name="v16-s14-fail-eyebrow">
            <a:extLst xmlns:a="http://schemas.openxmlformats.org/drawingml/2006/main">
              <a:ext uri="{FF2B5EF4-FFF2-40B4-BE49-F238E27FC236}">
                <a16:creationId xmlns:a16="http://schemas.microsoft.com/office/drawing/2014/main" id="{B4B9A289-B163-430B-B23F-984436E39F2B}"/>
              </a:ext>
            </a:extLst>
          </p:cNvPr>
          <p:cNvSpPr>
            <a:spLocks xmlns:a="http://schemas.openxmlformats.org/drawingml/2006/main" noGrp="1"/>
          </p:cNvSpPr>
          <p:nvPr/>
        </p:nvSpPr>
        <p:spPr>
          <a:xfrm xmlns:a="http://schemas.openxmlformats.org/drawingml/2006/main">
            <a:off x="8334375" y="4314825"/>
            <a:ext cx="2838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BC5A50"/>
                </a:solidFill>
                <a:latin typeface="Consolas"/>
                <a:ea typeface="Consolas"/>
                <a:cs typeface="Consolas"/>
              </a:defRPr>
            </a:pPr>
            <a:r>
              <a:rPr sz="940" b="1">
                <a:solidFill>
                  <a:srgbClr val="BC5A50"/>
                </a:solidFill>
                <a:latin typeface="Consolas"/>
                <a:ea typeface="Consolas"/>
                <a:cs typeface="Consolas"/>
              </a:rPr>
              <a:t>ANY GATE OPEN</a:t>
            </a:r>
          </a:p>
        </p:txBody>
      </p:sp>
      <p:sp>
        <p:nvSpPr>
          <p:cNvPr id="68" name="v16-s14-fail-title">
            <a:extLst xmlns:a="http://schemas.openxmlformats.org/drawingml/2006/main">
              <a:ext uri="{FF2B5EF4-FFF2-40B4-BE49-F238E27FC236}">
                <a16:creationId xmlns:a16="http://schemas.microsoft.com/office/drawing/2014/main" id="{2E4B6AE6-1DF3-44D6-A067-8D65D163AA40}"/>
              </a:ext>
            </a:extLst>
          </p:cNvPr>
          <p:cNvSpPr>
            <a:spLocks xmlns:a="http://schemas.openxmlformats.org/drawingml/2006/main" noGrp="1"/>
          </p:cNvSpPr>
          <p:nvPr/>
        </p:nvSpPr>
        <p:spPr>
          <a:xfrm xmlns:a="http://schemas.openxmlformats.org/drawingml/2006/main">
            <a:off x="8334375" y="4533900"/>
            <a:ext cx="28384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HOLD / NARROW CLAIM</a:t>
            </a:r>
          </a:p>
        </p:txBody>
      </p:sp>
      <p:sp>
        <p:nvSpPr>
          <p:cNvPr id="69" name="v16-s14-fail-body">
            <a:extLst xmlns:a="http://schemas.openxmlformats.org/drawingml/2006/main">
              <a:ext uri="{FF2B5EF4-FFF2-40B4-BE49-F238E27FC236}">
                <a16:creationId xmlns:a16="http://schemas.microsoft.com/office/drawing/2014/main" id="{E800EF31-2D91-4293-906E-1C28CA1C8F3E}"/>
              </a:ext>
            </a:extLst>
          </p:cNvPr>
          <p:cNvSpPr>
            <a:spLocks xmlns:a="http://schemas.openxmlformats.org/drawingml/2006/main" noGrp="1"/>
          </p:cNvSpPr>
          <p:nvPr/>
        </p:nvSpPr>
        <p:spPr>
          <a:xfrm xmlns:a="http://schemas.openxmlformats.org/drawingml/2006/main">
            <a:off x="8334375" y="4838700"/>
            <a:ext cx="2838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Close the gap or return to discovery</a:t>
            </a:r>
          </a:p>
        </p:txBody>
      </p:sp>
      <p:sp>
        <p:nvSpPr>
          <p:cNvPr id="70" name="v16-s14-commercial">
            <a:extLst xmlns:a="http://schemas.openxmlformats.org/drawingml/2006/main">
              <a:ext uri="{FF2B5EF4-FFF2-40B4-BE49-F238E27FC236}">
                <a16:creationId xmlns:a16="http://schemas.microsoft.com/office/drawing/2014/main" id="{8780068B-B8E8-417B-BD44-1D50F70DB4F5}"/>
              </a:ext>
            </a:extLst>
          </p:cNvPr>
          <p:cNvSpPr>
            <a:spLocks xmlns:a="http://schemas.openxmlformats.org/drawingml/2006/main" noGrp="1"/>
          </p:cNvSpPr>
          <p:nvPr/>
        </p:nvSpPr>
        <p:spPr>
          <a:xfrm xmlns:a="http://schemas.openxmlformats.org/drawingml/2006/main">
            <a:off x="4095750" y="5657850"/>
            <a:ext cx="7239000" cy="476250"/>
          </a:xfrm>
          <a:prstGeom xmlns:a="http://schemas.openxmlformats.org/drawingml/2006/main" prst="roundRect">
            <a:avLst>
              <a:gd name="adj" fmla="val 16000"/>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71" name="v16-s14-commercial-text">
            <a:extLst xmlns:a="http://schemas.openxmlformats.org/drawingml/2006/main">
              <a:ext uri="{FF2B5EF4-FFF2-40B4-BE49-F238E27FC236}">
                <a16:creationId xmlns:a16="http://schemas.microsoft.com/office/drawing/2014/main" id="{7B5F9C2D-4C5F-49FE-B98F-9404ABA116BD}"/>
              </a:ext>
            </a:extLst>
          </p:cNvPr>
          <p:cNvSpPr>
            <a:spLocks xmlns:a="http://schemas.openxmlformats.org/drawingml/2006/main" noGrp="1"/>
          </p:cNvSpPr>
          <p:nvPr/>
        </p:nvSpPr>
        <p:spPr>
          <a:xfrm xmlns:a="http://schemas.openxmlformats.org/drawingml/2006/main">
            <a:off x="4267200" y="5753100"/>
            <a:ext cx="6896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360" b="1">
                <a:solidFill>
                  <a:srgbClr val="FFFFFF"/>
                </a:solidFill>
                <a:latin typeface="Arial"/>
                <a:ea typeface="Arial"/>
                <a:cs typeface="Arial"/>
              </a:defRPr>
            </a:pPr>
            <a:r>
              <a:rPr sz="1360" b="1">
                <a:solidFill>
                  <a:srgbClr val="FFFFFF"/>
                </a:solidFill>
                <a:latin typeface="Arial"/>
                <a:ea typeface="Arial"/>
                <a:cs typeface="Arial"/>
              </a:rPr>
              <a:t>Design win → shipment → applicable Synopsys terms → royalty stays separate</a:t>
            </a:r>
          </a:p>
        </p:txBody>
      </p:sp>
    </p:spTree>
    <p:extLst>
      <p:ext uri="{BB962C8B-B14F-4D97-AF65-F5344CB8AC3E}">
        <p14:creationId xmlns:p14="http://schemas.microsoft.com/office/powerpoint/2010/main" val="8574730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85725" dist="28575" dir="5400000">
              <a:srgbClr val="0A2434">
                <a:alpha val="15000"/>
              </a:srgbClr>
            </a:outerShdw>
          </a:effectLst>
        </a:effectStyle>
        <a:effectStyle>
          <a:effectLst>
            <a:outerShdw blurRad="95250" dist="28575" dir="5400000">
              <a:srgbClr val="0A2434">
                <a:alpha val="1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2026-08-31T16:32:36.0170000Z</dcterms:created>
  <dcterms:modified xsi:type="dcterms:W3CDTF">2026-08-31T16:32:36.0170000Z</dcterms:modified>
</coreProperties>
</file>